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da90457493f4003" /><Relationship Type="http://schemas.openxmlformats.org/officeDocument/2006/relationships/extended-properties" Target="/docProps/app.xml" Id="Rdf72f2b78c7e4818" /><Relationship Type="http://schemas.openxmlformats.org/officeDocument/2006/relationships/officeDocument" Target="/ppt/presentation.xml" Id="R0d9acabfafd9495d" /></Relationships>
</file>

<file path=ppt/presentation.xml><?xml version="1.0" encoding="utf-8"?>
<p:presentation xmlns:p="http://schemas.openxmlformats.org/presentationml/2006/main">
  <p:sldMasterIdLst>
    <p:sldMasterId xmlns:r="http://schemas.openxmlformats.org/officeDocument/2006/relationships" id="2147483648" r:id="R5fdc6972436b413a"/>
  </p:sldMasterIdLst>
  <p:notesMasterIdLst>
    <p:notesMasterId xmlns:r="http://schemas.openxmlformats.org/officeDocument/2006/relationships" r:id="R7d143a14784d4d35"/>
  </p:notesMasterIdLst>
  <p:sldIdLst>
    <p:sldId xmlns:r="http://schemas.openxmlformats.org/officeDocument/2006/relationships" id="256" r:id="R11539f1012ce411d"/>
    <p:sldId xmlns:r="http://schemas.openxmlformats.org/officeDocument/2006/relationships" id="257" r:id="R2c9c4c17e28a4521"/>
    <p:sldId xmlns:r="http://schemas.openxmlformats.org/officeDocument/2006/relationships" id="258" r:id="Rcd05a62c277c4bc3"/>
    <p:sldId xmlns:r="http://schemas.openxmlformats.org/officeDocument/2006/relationships" id="259" r:id="R1a3ec8ea9d1c4a87"/>
    <p:sldId xmlns:r="http://schemas.openxmlformats.org/officeDocument/2006/relationships" id="260" r:id="R0d83507bc00d4028"/>
    <p:sldId xmlns:r="http://schemas.openxmlformats.org/officeDocument/2006/relationships" id="261" r:id="Ra9841f2b96ce4a58"/>
    <p:sldId xmlns:r="http://schemas.openxmlformats.org/officeDocument/2006/relationships" id="262" r:id="R722eb63c599545fa"/>
    <p:sldId xmlns:r="http://schemas.openxmlformats.org/officeDocument/2006/relationships" id="263" r:id="R86be9322609a41e8"/>
    <p:sldId xmlns:r="http://schemas.openxmlformats.org/officeDocument/2006/relationships" id="264" r:id="R92e4d3fc08884beb"/>
    <p:sldId xmlns:r="http://schemas.openxmlformats.org/officeDocument/2006/relationships" id="265" r:id="Rf8974242bd584d67"/>
    <p:sldId xmlns:r="http://schemas.openxmlformats.org/officeDocument/2006/relationships" id="266" r:id="R4dbcbdafab354478"/>
    <p:sldId xmlns:r="http://schemas.openxmlformats.org/officeDocument/2006/relationships" id="267" r:id="R91bdfae1a8d84bf0"/>
    <p:sldId xmlns:r="http://schemas.openxmlformats.org/officeDocument/2006/relationships" id="268" r:id="Rf187b9cd98434362"/>
    <p:sldId xmlns:r="http://schemas.openxmlformats.org/officeDocument/2006/relationships" id="269" r:id="R464831beda234a02"/>
    <p:sldId xmlns:r="http://schemas.openxmlformats.org/officeDocument/2006/relationships" id="270" r:id="R9f126529be50436c"/>
    <p:sldId xmlns:r="http://schemas.openxmlformats.org/officeDocument/2006/relationships" id="271" r:id="Rd057cfb05ce14239"/>
    <p:sldId xmlns:r="http://schemas.openxmlformats.org/officeDocument/2006/relationships" id="272" r:id="Re8014a21863a4b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5f9a163dd374f25" /><Relationship Type="http://schemas.openxmlformats.org/officeDocument/2006/relationships/slideMaster" Target="/ppt/slideMasters/slideMaster1.xml" Id="R5fdc6972436b413a" /><Relationship Type="http://schemas.openxmlformats.org/officeDocument/2006/relationships/notesMaster" Target="/ppt/notesMasters/notesMaster1.xml" Id="R7d143a14784d4d35" /><Relationship Type="http://schemas.openxmlformats.org/officeDocument/2006/relationships/presProps" Target="/ppt/presProps.xml" Id="R3a7312f112404e1d" /><Relationship Type="http://schemas.openxmlformats.org/officeDocument/2006/relationships/tableStyles" Target="/ppt/tableStyles.xml" Id="Rbb5ca911d866498f" /><Relationship Type="http://schemas.openxmlformats.org/officeDocument/2006/relationships/slide" Target="/ppt/slides/slide1.xml" Id="R11539f1012ce411d" /><Relationship Type="http://schemas.openxmlformats.org/officeDocument/2006/relationships/slide" Target="/ppt/slides/slide2.xml" Id="R2c9c4c17e28a4521" /><Relationship Type="http://schemas.openxmlformats.org/officeDocument/2006/relationships/slide" Target="/ppt/slides/slide3.xml" Id="Rcd05a62c277c4bc3" /><Relationship Type="http://schemas.openxmlformats.org/officeDocument/2006/relationships/slide" Target="/ppt/slides/slide4.xml" Id="R1a3ec8ea9d1c4a87" /><Relationship Type="http://schemas.openxmlformats.org/officeDocument/2006/relationships/slide" Target="/ppt/slides/slide5.xml" Id="R0d83507bc00d4028" /><Relationship Type="http://schemas.openxmlformats.org/officeDocument/2006/relationships/slide" Target="/ppt/slides/slide6.xml" Id="Ra9841f2b96ce4a58" /><Relationship Type="http://schemas.openxmlformats.org/officeDocument/2006/relationships/slide" Target="/ppt/slides/slide7.xml" Id="R722eb63c599545fa" /><Relationship Type="http://schemas.openxmlformats.org/officeDocument/2006/relationships/slide" Target="/ppt/slides/slide8.xml" Id="R86be9322609a41e8" /><Relationship Type="http://schemas.openxmlformats.org/officeDocument/2006/relationships/slide" Target="/ppt/slides/slide9.xml" Id="R92e4d3fc08884beb" /><Relationship Type="http://schemas.openxmlformats.org/officeDocument/2006/relationships/slide" Target="/ppt/slides/slide10.xml" Id="Rf8974242bd584d67" /><Relationship Type="http://schemas.openxmlformats.org/officeDocument/2006/relationships/slide" Target="/ppt/slides/slide11.xml" Id="R4dbcbdafab354478" /><Relationship Type="http://schemas.openxmlformats.org/officeDocument/2006/relationships/slide" Target="/ppt/slides/slide12.xml" Id="R91bdfae1a8d84bf0" /><Relationship Type="http://schemas.openxmlformats.org/officeDocument/2006/relationships/slide" Target="/ppt/slides/slide13.xml" Id="Rf187b9cd98434362" /><Relationship Type="http://schemas.openxmlformats.org/officeDocument/2006/relationships/slide" Target="/ppt/slides/slide14.xml" Id="R464831beda234a02" /><Relationship Type="http://schemas.openxmlformats.org/officeDocument/2006/relationships/slide" Target="/ppt/slides/slide15.xml" Id="R9f126529be50436c" /><Relationship Type="http://schemas.openxmlformats.org/officeDocument/2006/relationships/slide" Target="/ppt/slides/slide16.xml" Id="Rd057cfb05ce14239" /><Relationship Type="http://schemas.openxmlformats.org/officeDocument/2006/relationships/slide" Target="/ppt/slides/slide17.xml" Id="Re8014a21863a4b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bbe7b832714b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1dcdf470a64020" /><Relationship Type="http://schemas.openxmlformats.org/officeDocument/2006/relationships/notesMaster" Target="/ppt/notesMasters/notesMaster1.xml" Id="R88465605dc6544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77bd330ae341f4" /><Relationship Type="http://schemas.openxmlformats.org/officeDocument/2006/relationships/notesMaster" Target="/ppt/notesMasters/notesMaster1.xml" Id="R6c74744b632442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ee56de60176e4cb1" /><Relationship Type="http://schemas.openxmlformats.org/officeDocument/2006/relationships/notesMaster" Target="/ppt/notesMasters/notesMaster1.xml" Id="R00800873b77f4a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834e88605848d6" /><Relationship Type="http://schemas.openxmlformats.org/officeDocument/2006/relationships/notesMaster" Target="/ppt/notesMasters/notesMaster1.xml" Id="R836ee49bfeaa4c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e4dcbc7c534cd8" /><Relationship Type="http://schemas.openxmlformats.org/officeDocument/2006/relationships/notesMaster" Target="/ppt/notesMasters/notesMaster1.xml" Id="R4510084e5be946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7d7da8785949e7" /><Relationship Type="http://schemas.openxmlformats.org/officeDocument/2006/relationships/notesMaster" Target="/ppt/notesMasters/notesMaster1.xml" Id="R84c2cda799244f6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455c8c8c7724125" /><Relationship Type="http://schemas.openxmlformats.org/officeDocument/2006/relationships/notesMaster" Target="/ppt/notesMasters/notesMaster1.xml" Id="Rb9f954bb3bc840dd"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81347106e44610" /><Relationship Type="http://schemas.openxmlformats.org/officeDocument/2006/relationships/notesMaster" Target="/ppt/notesMasters/notesMaster1.xml" Id="Rfa1cd0ca459a41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68f2295b6a409b" /><Relationship Type="http://schemas.openxmlformats.org/officeDocument/2006/relationships/notesMaster" Target="/ppt/notesMasters/notesMaster1.xml" Id="R5399e043787d44f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48a093aacf40b6" /><Relationship Type="http://schemas.openxmlformats.org/officeDocument/2006/relationships/notesMaster" Target="/ppt/notesMasters/notesMaster1.xml" Id="R444a922e781b464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9e24c906014282" /><Relationship Type="http://schemas.openxmlformats.org/officeDocument/2006/relationships/notesMaster" Target="/ppt/notesMasters/notesMaster1.xml" Id="Rf4654349176941c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218fc95a8e4b20" /><Relationship Type="http://schemas.openxmlformats.org/officeDocument/2006/relationships/notesMaster" Target="/ppt/notesMasters/notesMaster1.xml" Id="R9bfece46984c4c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7903dc0b62b4c24" /><Relationship Type="http://schemas.openxmlformats.org/officeDocument/2006/relationships/notesMaster" Target="/ppt/notesMasters/notesMaster1.xml" Id="Re539eb613cb841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5faa8c4f74b4408" /><Relationship Type="http://schemas.openxmlformats.org/officeDocument/2006/relationships/notesMaster" Target="/ppt/notesMasters/notesMaster1.xml" Id="Rd663c0f41cbc419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26806cee95843ce" /><Relationship Type="http://schemas.openxmlformats.org/officeDocument/2006/relationships/notesMaster" Target="/ppt/notesMasters/notesMaster1.xml" Id="R0b1855902e1d411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536bd92ce0f4555" /><Relationship Type="http://schemas.openxmlformats.org/officeDocument/2006/relationships/notesMaster" Target="/ppt/notesMasters/notesMaster1.xml" Id="R79f466703ca44bc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481857190104ab5" /><Relationship Type="http://schemas.openxmlformats.org/officeDocument/2006/relationships/notesMaster" Target="/ppt/notesMasters/notesMaster1.xml" Id="R802b2a6597c04d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5.0.0; valuation 25 October 2026; quote 2026-10-23; TTM ended 2026-06-30. Sources: IDX consolidated filings and Yahoo observations in the enclosed JSON/PDF source appendix. Public snapshot rv5-2f7825687e94d0e8. Forecasts and method weights are analyst assumptions.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5.0.0; valuation 25 October 2026; quote 2026-10-23; TTM ended 2026-06-30. Sources: IDX consolidated filings and Yahoo observations in the enclosed JSON/PDF source appendix. Public snapshot rv5-2f7825687e94d0e8. Forecasts and method weights are analyst assumptions.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5.0.0; valuation 25 October 2026; quote 2026-10-23; TTM ended 2026-06-30. Sources: IDX consolidated filings and Yahoo observations in the enclosed JSON/PDF source appendix. Public snapshot rv5-2f7825687e94d0e8. Forecasts and method weights are analyst assumptions.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5.0.0; valuation 25 October 2026; quote 2026-10-23; TTM ended 2026-06-30. Sources: IDX consolidated filings and Yahoo observations in the enclosed JSON/PDF source appendix. Public snapshot rv5-2f7825687e94d0e8. Forecasts and method weights are analyst assumptions.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5.0.0; valuation 25 October 2026; quote 2026-10-23; TTM ended 2026-06-30. Sources: IDX consolidated filings and Yahoo observations in the enclosed JSON/PDF source appendix. Public snapshot rv5-2f7825687e94d0e8. Forecasts and method weights are analyst assumptions.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5.0.0; valuation 25 October 2026; quote 2026-10-23; TTM ended 2026-06-30. Sources: IDX consolidated filings and Yahoo observations in the enclosed JSON/PDF source appendix. Public snapshot rv5-2f7825687e94d0e8. Forecasts and method weights are analyst assumptions.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5.0.0; valuation 25 October 2026; quote 2026-10-23; TTM ended 2026-06-30. Sources: IDX consolidated filings and Yahoo observations in the enclosed JSON/PDF source appendix. Public snapshot rv5-2f7825687e94d0e8. Forecasts and method weights are analyst assumptions. Banks are valued as common equity. Customer deposits are not deducted as corporate financing debt.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5.0.0; valuation 25 October 2026; quote 2026-10-23; TTM ended 2026-06-30. Sources: IDX consolidated filings and Yahoo observations in the enclosed JSON/PDF source appendix. Public snapshot rv5-2f7825687e94d0e8. Forecasts and method weights are analyst assumptions. Method reference: https://pages.stern.nyu.edu/~adamodar/pdfiles/country/finsvce.pdf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5.0.0; valuation 25 October 2026; quote 2026-10-23; TTM ended 2026-06-30. Sources: IDX consolidated filings and Yahoo observations in the enclosed JSON/PDF source appendix. Public snapshot rv5-2f7825687e94d0e8. Forecasts and method weights are analyst assumptions. Terminal dividend = NI5 x (1+g) x (1-g/terminal ROE). Discount at Ke for five years. Period start/end and exact formulas are in the accompanying workbook and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5.0.0; valuation 25 October 2026; quote 2026-10-23; TTM ended 2026-06-30. Sources: IDX consolidated filings and Yahoo observations in the enclosed JSON/PDF source appendix. Public snapshot rv5-2f7825687e94d0e8. Forecasts and method weights are analyst assumptions. Peer membership and exact period/quote dates are preserved in the workspace and exports. P/E requires positive parent earnings; P/B requires positive common book equity. Economic comparability still needs analyst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5.0.0; valuation 25 October 2026; quote 2026-10-23; TTM ended 2026-06-30. Sources: IDX consolidated filings and Yahoo observations in the enclosed JSON/PDF source appendix. Public snapshot rv5-2f7825687e94d0e8. Forecasts and method weights are analyst assumptions.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5.0.0; valuation 25 October 2026; quote 2026-10-23; TTM ended 2026-06-30. Sources: IDX consolidated filings and Yahoo observations in the enclosed JSON/PDF source appendix. Public snapshot rv5-2f7825687e94d0e8. Forecasts and method weights are analyst assumptions. All affected valuations recalculate. Method weights and financing claims remain fixed. No statistical confidence interval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5.0.0; valuation 25 October 2026; quote 2026-10-23; TTM ended 2026-06-30. Sources: IDX consolidated filings and Yahoo observations in the enclosed JSON/PDF source appendix. Public snapshot rv5-2f7825687e94d0e8. Forecasts and method weights are analyst assumptions. The sensitivity center equals weighted base fair value. Simulation sigmas and correlation are shared analyst settings, not empirically calibrated price probabilities. Histograms, rejection rates and driver definitions appear in the application/PDF.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5.0.0; valuation 25 October 2026; quote 2026-10-23; TTM ended 2026-06-30. Sources: IDX consolidated filings and Yahoo observations in the enclosed JSON/PDF source appendix. Public snapshot rv5-2f7825687e94d0e8. Forecasts and method weights are analyst assumptions. BUY at upside &gt;= 15%; SELL at upside &lt;= -15%; HOLD between. Inadequate essential evidence produces WAIT. This is a model result conditional on analyst assumptions, not an independently completed investment research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5.0.0; valuation 25 October 2026; quote 2026-10-23; TTM ended 2026-06-30. Sources: IDX consolidated filings and Yahoo observations in the enclosed JSON/PDF source appendix. Public snapshot rv5-2f7825687e94d0e8. Forecasts and method weights are analyst assumptions. Coverage: {"engine":"5.0.0","decisionPolicy":"Valuation / conditional valuation / technical signal / WAIT; no forced HOLD","asOf":"2026-10-25","total":962,"annualPrimary":906,"interimPrimary":894,"anyPrimary":924,"ttm":873,"sourceFailures":4,"basis":{"INDICATIVE":375,"UNRATED":126,"FUNDAMENTAL":308,"TECHNICAL":153},"ratings":{"BUY":282,"SELL":400,"WAIT":126,"HOLD":154},"decisionKinds":{"VALUATION":684,"DATA":124,"TECHNICAL":154},"methods":{"relative":556,"unavailable":124,"core":91,"technical":154,"residual":37},"blockedReasons":{"CURRENT_QUOTE":123,"METHOD_UNAVAILABLE":124,"SOURCE_SCALE":1,"DISTRESS_BUY":1,"SOURCE_CONFLICT":1},"updatedAt":"2026-10-25T10:37:35.315Z","evidenceUpdatedAt":"2026-10-25T10:00:43.608Z"}. The 38-primary-gap retry recovered no new usable filings. An outcome for all issuers does not mean complete financial statements for all issuers.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5.0.0; valuation 25 October 2026; quote 2026-10-23; TTM ended 2026-06-30. Sources: IDX consolidated filings and Yahoo observations in the enclosed JSON/PDF source appendix. Public snapshot rv5-2f7825687e94d0e8. Forecasts and method weights are analyst assumptions. Exact source locators, publication/retrieval dates, original amounts and FX records are in the case PDF Appendix C and saved JSON. Review original statements before making investment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RALVEN engine 5.0.0; valuation 25 October 2026; quote 2026-10-23; TTM ended 2026-06-30. Sources: IDX consolidated filings and Yahoo observations in the enclosed JSON/PDF source appendix. Public snapshot rv5-2f7825687e94d0e8. Forecasts and method weights are analyst assumptions.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8ad4a04da441c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1ebdc90845549a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52477e1ae6c4b0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fd793f88e54412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e8c9879238482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9b453ca1d514bd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8DD904-EB61-4571-8617-72E989225B3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6217B2B-5443-4819-BFCE-4256E2FD4A1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C50D5C7-B77F-46DF-BEF8-03C21367D32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F48EDC-35AF-4A9F-8FFB-78E819E602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97A457A-398C-44A3-B6D9-841E728CC98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19AE8B-1599-4F42-82F4-74F32B0CB4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953FE8-D669-4C1C-A211-24574B00A47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54CFE3B-8BF0-4F95-B5E5-416E779BE8F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DDAA0E-FD71-432D-A0A6-FEE132759C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5FB235A-B2F4-46FB-AC65-6B9858B9456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14d48cd2c84e3a" /><Relationship Type="http://schemas.openxmlformats.org/officeDocument/2006/relationships/slideLayout" Target="/ppt/slideLayouts/slideLayout1.xml" Id="R101e10f5834f4cb8" /><Relationship Type="http://schemas.openxmlformats.org/officeDocument/2006/relationships/slideLayout" Target="/ppt/slideLayouts/slideLayout2.xml" Id="R73d2bbda13e84730" /><Relationship Type="http://schemas.openxmlformats.org/officeDocument/2006/relationships/slideLayout" Target="/ppt/slideLayouts/slideLayout3.xml" Id="R8c48552268a64e89" /><Relationship Type="http://schemas.openxmlformats.org/officeDocument/2006/relationships/slideLayout" Target="/ppt/slideLayouts/slideLayout4.xml" Id="R8837fd094fd34b42" /><Relationship Type="http://schemas.openxmlformats.org/officeDocument/2006/relationships/slideLayout" Target="/ppt/slideLayouts/slideLayout5.xml" Id="Rddeb1a708ee94a6c" /><Relationship Type="http://schemas.openxmlformats.org/officeDocument/2006/relationships/slideLayout" Target="/ppt/slideLayouts/slideLayout6.xml" Id="R17674a407e1b47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01e10f5834f4cb8"/>
    <p:sldLayoutId xmlns:r="http://schemas.openxmlformats.org/officeDocument/2006/relationships" id="2147483650" r:id="R73d2bbda13e84730"/>
    <p:sldLayoutId xmlns:r="http://schemas.openxmlformats.org/officeDocument/2006/relationships" id="2147483651" r:id="R8c48552268a64e89"/>
    <p:sldLayoutId xmlns:r="http://schemas.openxmlformats.org/officeDocument/2006/relationships" id="2147483652" r:id="R8837fd094fd34b42"/>
    <p:sldLayoutId xmlns:r="http://schemas.openxmlformats.org/officeDocument/2006/relationships" id="2147483653" r:id="Rddeb1a708ee94a6c"/>
    <p:sldLayoutId xmlns:r="http://schemas.openxmlformats.org/officeDocument/2006/relationships" id="2147483654" r:id="R17674a407e1b47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d7b0824839c4e99" /><Relationship Type="http://schemas.openxmlformats.org/officeDocument/2006/relationships/image" Target="/ppt/media/image.png" Id="Re06debb67db44eff" /><Relationship Type="http://schemas.openxmlformats.org/officeDocument/2006/relationships/notesSlide" Target="/ppt/notesSlides/notesSlide1.xml" Id="R74206a9d009049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787fb46d30b47c6" /><Relationship Type="http://schemas.openxmlformats.org/officeDocument/2006/relationships/notesSlide" Target="/ppt/notesSlides/notesSlide2.xml" Id="Rb3471723caf447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909c7f71f3247b9" /><Relationship Type="http://schemas.openxmlformats.org/officeDocument/2006/relationships/notesSlide" Target="/ppt/notesSlides/notesSlide3.xml" Id="R03dbf10512ce49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c2eb5579bcd4270" /><Relationship Type="http://schemas.openxmlformats.org/officeDocument/2006/relationships/chart" Target="/ppt/slides/charts/chart1.xml" Id="R01f8d201017a48e8" /><Relationship Type="http://schemas.openxmlformats.org/officeDocument/2006/relationships/notesSlide" Target="/ppt/notesSlides/notesSlide4.xml" Id="R1dae45e2c61548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08d8ef431794fe2" /><Relationship Type="http://schemas.openxmlformats.org/officeDocument/2006/relationships/notesSlide" Target="/ppt/notesSlides/notesSlide5.xml" Id="Rddca1042a7e640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b4416144bdb4a08" /><Relationship Type="http://schemas.openxmlformats.org/officeDocument/2006/relationships/notesSlide" Target="/ppt/notesSlides/notesSlide6.xml" Id="Rf952561cfaed42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eb45633cb4548c2" /><Relationship Type="http://schemas.openxmlformats.org/officeDocument/2006/relationships/notesSlide" Target="/ppt/notesSlides/notesSlide7.xml" Id="R0a66d4e1346243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3fc1f286de74e54" /><Relationship Type="http://schemas.openxmlformats.org/officeDocument/2006/relationships/notesSlide" Target="/ppt/notesSlides/notesSlide8.xml" Id="Refa61928614a43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032963d8a574228" /><Relationship Type="http://schemas.openxmlformats.org/officeDocument/2006/relationships/notesSlide" Target="/ppt/notesSlides/notesSlide9.xml" Id="Rdc16f85d886748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1a5e6bf830e4862" /><Relationship Type="http://schemas.openxmlformats.org/officeDocument/2006/relationships/notesSlide" Target="/ppt/notesSlides/notesSlide10.xml" Id="R288fde1cc38c4f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f7c47e292e1488f" /><Relationship Type="http://schemas.openxmlformats.org/officeDocument/2006/relationships/notesSlide" Target="/ppt/notesSlides/notesSlide11.xml" Id="R9392f5c81ef54fb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bad3acb433841d5" /><Relationship Type="http://schemas.openxmlformats.org/officeDocument/2006/relationships/chart" Target="/ppt/slides/charts/chart2.xml" Id="R5826abac5f2046fa" /><Relationship Type="http://schemas.openxmlformats.org/officeDocument/2006/relationships/notesSlide" Target="/ppt/notesSlides/notesSlide12.xml" Id="Rf9c0b7efc07a49d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5ab6200b6874b42" /><Relationship Type="http://schemas.openxmlformats.org/officeDocument/2006/relationships/notesSlide" Target="/ppt/notesSlides/notesSlide13.xml" Id="R39cd4caa13ad43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2f9888cbd5e4f50" /><Relationship Type="http://schemas.openxmlformats.org/officeDocument/2006/relationships/notesSlide" Target="/ppt/notesSlides/notesSlide14.xml" Id="Raac10f5075264c4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65b0897e9614f51" /><Relationship Type="http://schemas.openxmlformats.org/officeDocument/2006/relationships/notesSlide" Target="/ppt/notesSlides/notesSlide15.xml" Id="R6d1cf9204d1e45e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8e837a496fa4fa1" /><Relationship Type="http://schemas.openxmlformats.org/officeDocument/2006/relationships/notesSlide" Target="/ppt/notesSlides/notesSlide16.xml" Id="Rf59d21dab95d444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130ff5c5176491b" /><Relationship Type="http://schemas.openxmlformats.org/officeDocument/2006/relationships/notesSlide" Target="/ppt/notesSlides/notesSlide17.xml" Id="R552d9f71db2f483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Parent net income / IDR bn</c:v>
          </c:tx>
          <c:spPr>
            <a:solidFill xmlns:a="http://schemas.openxmlformats.org/drawingml/2006/main">
              <a:srgbClr val="258362"/>
            </a:solidFill>
          </c:spPr>
          <c:invertIfNegative val="0"/>
          <c:cat>
            <c:numRef>
              <c:f>'Chart Data'!$A$2:$A$6</c:f>
              <c:numCache>
                <c:formatCode>General</c:formatCode>
                <c:ptCount val="5"/>
                <c:pt idx="0">
                  <c:v>2022</c:v>
                </c:pt>
                <c:pt idx="1">
                  <c:v>2023</c:v>
                </c:pt>
                <c:pt idx="2">
                  <c:v>2024</c:v>
                </c:pt>
                <c:pt idx="3">
                  <c:v>2025</c:v>
                </c:pt>
                <c:pt idx="4">
                  <c:v>2026</c:v>
                </c:pt>
              </c:numCache>
            </c:numRef>
          </c:cat>
          <c:val>
            <c:numRef>
              <c:f>'Chart Data'!$B$2:$B$6</c:f>
              <c:numCache>
                <c:formatCode>General</c:formatCode>
                <c:ptCount val="5"/>
                <c:pt idx="0">
                  <c:v>40735.72</c:v>
                </c:pt>
                <c:pt idx="1">
                  <c:v>48639.12</c:v>
                </c:pt>
                <c:pt idx="2">
                  <c:v>54836.31</c:v>
                </c:pt>
                <c:pt idx="3">
                  <c:v>57537.29</c:v>
                </c:pt>
                <c:pt idx="4">
                  <c:v>58055.32</c:v>
                </c:pt>
              </c:numCache>
            </c:numRef>
          </c:val>
        </c:ser>
        <c:ser>
          <c:idx val="1"/>
          <c:order val="1"/>
          <c:tx>
            <c:v>Parent book equity / IDR bn</c:v>
          </c:tx>
          <c:spPr>
            <a:solidFill xmlns:a="http://schemas.openxmlformats.org/drawingml/2006/main">
              <a:srgbClr val="306CB2"/>
            </a:solidFill>
          </c:spPr>
          <c:invertIfNegative val="0"/>
          <c:cat>
            <c:numRef>
              <c:f>'Chart Data'!$C$2:$C$6</c:f>
              <c:numCache>
                <c:formatCode>General</c:formatCode>
                <c:ptCount val="5"/>
                <c:pt idx="0">
                  <c:v>2022</c:v>
                </c:pt>
                <c:pt idx="1">
                  <c:v>2023</c:v>
                </c:pt>
                <c:pt idx="2">
                  <c:v>2024</c:v>
                </c:pt>
                <c:pt idx="3">
                  <c:v>2025</c:v>
                </c:pt>
                <c:pt idx="4">
                  <c:v>2026</c:v>
                </c:pt>
              </c:numCache>
            </c:numRef>
          </c:cat>
          <c:val>
            <c:numRef>
              <c:f>'Chart Data'!$D$2:$D$6</c:f>
              <c:numCache>
                <c:formatCode>General</c:formatCode>
                <c:ptCount val="5"/>
                <c:pt idx="0">
                  <c:v>221018.61</c:v>
                </c:pt>
                <c:pt idx="1">
                  <c:v>242356.26</c:v>
                </c:pt>
                <c:pt idx="2">
                  <c:v>262640.62</c:v>
                </c:pt>
                <c:pt idx="3">
                  <c:v>281466.48</c:v>
                </c:pt>
                <c:pt idx="4">
                  <c:v>270437.54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2E9EB"/>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Weighted value / IDR per share</c:v>
          </c:tx>
          <c:spPr>
            <a:solidFill xmlns:a="http://schemas.openxmlformats.org/drawingml/2006/main">
              <a:srgbClr val="258362"/>
            </a:solidFill>
          </c:spPr>
          <c:invertIfNegative val="0"/>
          <c:cat>
            <c:strRef>
              <c:f>'Chart Data'!$A$2:$A$4</c:f>
              <c:strCache>
                <c:ptCount val="3"/>
                <c:pt idx="0">
                  <c:v>Bear</c:v>
                </c:pt>
                <c:pt idx="1">
                  <c:v>Base</c:v>
                </c:pt>
                <c:pt idx="2">
                  <c:v>Bull</c:v>
                </c:pt>
              </c:strCache>
            </c:strRef>
          </c:cat>
          <c:val>
            <c:numRef>
              <c:f>'Chart Data'!$B$2:$B$4</c:f>
              <c:numCache>
                <c:formatCode>General</c:formatCode>
                <c:ptCount val="3"/>
                <c:pt idx="0">
                  <c:v>2879.19</c:v>
                </c:pt>
                <c:pt idx="1">
                  <c:v>3631.23</c:v>
                </c:pt>
                <c:pt idx="2">
                  <c:v>4553.8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2E9EB"/>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D6ED119-87AC-4963-BAD3-365A9D4D2AB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RALVEN</a:t>
            </a:r>
          </a:p>
        </p:txBody>
      </p:sp>
      <p:sp>
        <p:nvSpPr>
          <p:cNvPr id="2" name="">
            <a:extLst xmlns:a="http://schemas.openxmlformats.org/drawingml/2006/main">
              <a:ext uri="{FF2B5EF4-FFF2-40B4-BE49-F238E27FC236}">
                <a16:creationId xmlns:a16="http://schemas.microsoft.com/office/drawing/2014/main" id="{4AD2FE5F-F73F-4283-B397-98553CBFEF38}"/>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BBCA / 25 Oct 2026</a:t>
            </a:r>
          </a:p>
        </p:txBody>
      </p:sp>
      <p:sp>
        <p:nvSpPr>
          <p:cNvPr id="3" name="">
            <a:extLst xmlns:a="http://schemas.openxmlformats.org/drawingml/2006/main">
              <a:ext uri="{FF2B5EF4-FFF2-40B4-BE49-F238E27FC236}">
                <a16:creationId xmlns:a16="http://schemas.microsoft.com/office/drawing/2014/main" id="{B8E161AE-7E56-418D-99C9-6DE8933AD930}"/>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a:t>
            </a:r>
          </a:p>
        </p:txBody>
      </p:sp>
      <p:sp>
        <p:nvSpPr>
          <p:cNvPr id="4" name="">
            <a:extLst xmlns:a="http://schemas.openxmlformats.org/drawingml/2006/main">
              <a:ext uri="{FF2B5EF4-FFF2-40B4-BE49-F238E27FC236}">
                <a16:creationId xmlns:a16="http://schemas.microsoft.com/office/drawing/2014/main" id="{9A1A38BC-EA83-43E9-AD7C-C3D59DE965BC}"/>
              </a:ext>
            </a:extLst>
          </p:cNvPr>
          <p:cNvSpPr>
            <a:spLocks xmlns:a="http://schemas.openxmlformats.org/drawingml/2006/main" noGrp="1"/>
          </p:cNvSpPr>
          <p:nvPr/>
        </p:nvSpPr>
        <p:spPr>
          <a:xfrm xmlns:a="http://schemas.openxmlformats.org/drawingml/2006/main">
            <a:off x="609600" y="2171700"/>
            <a:ext cx="857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1C303B"/>
                </a:solidFill>
                <a:latin typeface="Arial"/>
                <a:ea typeface="Arial"/>
                <a:cs typeface="Arial"/>
              </a:defRPr>
            </a:defPPr>
            <a:lvl1pPr>
              <a:defRPr sz="4050" b="1">
                <a:solidFill>
                  <a:srgbClr val="1C303B"/>
                </a:solidFill>
                <a:latin typeface="Arial"/>
                <a:ea typeface="Arial"/>
                <a:cs typeface="Arial"/>
              </a:defRPr>
            </a:lvl1pPr>
            <a:lvl2pPr>
              <a:defRPr sz="4050" b="1">
                <a:solidFill>
                  <a:srgbClr val="1C303B"/>
                </a:solidFill>
                <a:latin typeface="Arial"/>
                <a:ea typeface="Arial"/>
                <a:cs typeface="Arial"/>
              </a:defRPr>
            </a:lvl2pPr>
            <a:lvl3pPr>
              <a:defRPr sz="4050" b="1">
                <a:solidFill>
                  <a:srgbClr val="1C303B"/>
                </a:solidFill>
                <a:latin typeface="Arial"/>
                <a:ea typeface="Arial"/>
                <a:cs typeface="Arial"/>
              </a:defRPr>
            </a:lvl3pPr>
            <a:lvl4pPr>
              <a:defRPr sz="4050" b="1">
                <a:solidFill>
                  <a:srgbClr val="1C303B"/>
                </a:solidFill>
                <a:latin typeface="Arial"/>
                <a:ea typeface="Arial"/>
                <a:cs typeface="Arial"/>
              </a:defRPr>
            </a:lvl4pPr>
            <a:lvl5pPr>
              <a:defRPr sz="4050" b="1">
                <a:solidFill>
                  <a:srgbClr val="1C303B"/>
                </a:solidFill>
                <a:latin typeface="Arial"/>
                <a:ea typeface="Arial"/>
                <a:cs typeface="Arial"/>
              </a:defRPr>
            </a:lvl5pPr>
            <a:lvl6pPr>
              <a:defRPr sz="4050" b="1">
                <a:solidFill>
                  <a:srgbClr val="1C303B"/>
                </a:solidFill>
                <a:latin typeface="Arial"/>
                <a:ea typeface="Arial"/>
                <a:cs typeface="Arial"/>
              </a:defRPr>
            </a:lvl6pPr>
            <a:lvl7pPr>
              <a:defRPr sz="4050" b="1">
                <a:solidFill>
                  <a:srgbClr val="1C303B"/>
                </a:solidFill>
                <a:latin typeface="Arial"/>
                <a:ea typeface="Arial"/>
                <a:cs typeface="Arial"/>
              </a:defRPr>
            </a:lvl7pPr>
            <a:lvl8pPr>
              <a:defRPr sz="4050" b="1">
                <a:solidFill>
                  <a:srgbClr val="1C303B"/>
                </a:solidFill>
                <a:latin typeface="Arial"/>
                <a:ea typeface="Arial"/>
                <a:cs typeface="Arial"/>
              </a:defRPr>
            </a:lvl8pPr>
            <a:lvl9pPr>
              <a:defRPr sz="4050" b="1">
                <a:solidFill>
                  <a:srgbClr val="1C303B"/>
                </a:solidFill>
                <a:latin typeface="Arial"/>
                <a:ea typeface="Arial"/>
                <a:cs typeface="Arial"/>
              </a:defRPr>
            </a:lvl9pPr>
          </a:lstStyle>
          <a:p xmlns:a="http://schemas.openxmlformats.org/drawingml/2006/main">
            <a:pPr>
              <a:defRPr sz="4050" b="1">
                <a:solidFill>
                  <a:srgbClr val="1C303B"/>
                </a:solidFill>
                <a:latin typeface="Arial"/>
                <a:ea typeface="Arial"/>
                <a:cs typeface="Arial"/>
              </a:defRPr>
            </a:pPr>
            <a:r>
              <a:rPr sz="4050" b="1">
                <a:solidFill>
                  <a:srgbClr val="1C303B"/>
                </a:solidFill>
                <a:latin typeface="Arial"/>
                <a:ea typeface="Arial"/>
                <a:cs typeface="Arial"/>
              </a:rPr>
              <a:t>Indonesian equity valuation</a:t>
            </a:r>
          </a:p>
        </p:txBody>
      </p:sp>
      <p:sp>
        <p:nvSpPr>
          <p:cNvPr id="5" name="">
            <a:extLst xmlns:a="http://schemas.openxmlformats.org/drawingml/2006/main">
              <a:ext uri="{FF2B5EF4-FFF2-40B4-BE49-F238E27FC236}">
                <a16:creationId xmlns:a16="http://schemas.microsoft.com/office/drawing/2014/main" id="{3C6FA328-FF23-4BBF-8745-6DF83202B649}"/>
              </a:ext>
            </a:extLst>
          </p:cNvPr>
          <p:cNvSpPr>
            <a:spLocks xmlns:a="http://schemas.openxmlformats.org/drawingml/2006/main" noGrp="1"/>
          </p:cNvSpPr>
          <p:nvPr/>
        </p:nvSpPr>
        <p:spPr>
          <a:xfrm xmlns:a="http://schemas.openxmlformats.org/drawingml/2006/main">
            <a:off x="609600" y="3381375"/>
            <a:ext cx="838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26977"/>
                </a:solidFill>
                <a:latin typeface="Arial"/>
                <a:ea typeface="Arial"/>
                <a:cs typeface="Arial"/>
              </a:defRPr>
            </a:defPPr>
            <a:lvl1pPr>
              <a:defRPr sz="2175" b="0">
                <a:solidFill>
                  <a:srgbClr val="526977"/>
                </a:solidFill>
                <a:latin typeface="Arial"/>
                <a:ea typeface="Arial"/>
                <a:cs typeface="Arial"/>
              </a:defRPr>
            </a:lvl1pPr>
            <a:lvl2pPr>
              <a:defRPr sz="2175" b="0">
                <a:solidFill>
                  <a:srgbClr val="526977"/>
                </a:solidFill>
                <a:latin typeface="Arial"/>
                <a:ea typeface="Arial"/>
                <a:cs typeface="Arial"/>
              </a:defRPr>
            </a:lvl2pPr>
            <a:lvl3pPr>
              <a:defRPr sz="2175" b="0">
                <a:solidFill>
                  <a:srgbClr val="526977"/>
                </a:solidFill>
                <a:latin typeface="Arial"/>
                <a:ea typeface="Arial"/>
                <a:cs typeface="Arial"/>
              </a:defRPr>
            </a:lvl3pPr>
            <a:lvl4pPr>
              <a:defRPr sz="2175" b="0">
                <a:solidFill>
                  <a:srgbClr val="526977"/>
                </a:solidFill>
                <a:latin typeface="Arial"/>
                <a:ea typeface="Arial"/>
                <a:cs typeface="Arial"/>
              </a:defRPr>
            </a:lvl4pPr>
            <a:lvl5pPr>
              <a:defRPr sz="2175" b="0">
                <a:solidFill>
                  <a:srgbClr val="526977"/>
                </a:solidFill>
                <a:latin typeface="Arial"/>
                <a:ea typeface="Arial"/>
                <a:cs typeface="Arial"/>
              </a:defRPr>
            </a:lvl5pPr>
            <a:lvl6pPr>
              <a:defRPr sz="2175" b="0">
                <a:solidFill>
                  <a:srgbClr val="526977"/>
                </a:solidFill>
                <a:latin typeface="Arial"/>
                <a:ea typeface="Arial"/>
                <a:cs typeface="Arial"/>
              </a:defRPr>
            </a:lvl6pPr>
            <a:lvl7pPr>
              <a:defRPr sz="2175" b="0">
                <a:solidFill>
                  <a:srgbClr val="526977"/>
                </a:solidFill>
                <a:latin typeface="Arial"/>
                <a:ea typeface="Arial"/>
                <a:cs typeface="Arial"/>
              </a:defRPr>
            </a:lvl7pPr>
            <a:lvl8pPr>
              <a:defRPr sz="2175" b="0">
                <a:solidFill>
                  <a:srgbClr val="526977"/>
                </a:solidFill>
                <a:latin typeface="Arial"/>
                <a:ea typeface="Arial"/>
                <a:cs typeface="Arial"/>
              </a:defRPr>
            </a:lvl8pPr>
            <a:lvl9pPr>
              <a:defRPr sz="2175" b="0">
                <a:solidFill>
                  <a:srgbClr val="526977"/>
                </a:solidFill>
                <a:latin typeface="Arial"/>
                <a:ea typeface="Arial"/>
                <a:cs typeface="Arial"/>
              </a:defRPr>
            </a:lvl9pPr>
          </a:lstStyle>
          <a:p xmlns:a="http://schemas.openxmlformats.org/drawingml/2006/main">
            <a:pPr>
              <a:defRPr sz="2175" b="0">
                <a:solidFill>
                  <a:srgbClr val="526977"/>
                </a:solidFill>
                <a:latin typeface="Arial"/>
                <a:ea typeface="Arial"/>
                <a:cs typeface="Arial"/>
              </a:defRPr>
            </a:pPr>
            <a:r>
              <a:rPr sz="2175" b="0">
                <a:solidFill>
                  <a:srgbClr val="526977"/>
                </a:solidFill>
                <a:latin typeface="Arial"/>
                <a:ea typeface="Arial"/>
                <a:cs typeface="Arial"/>
              </a:rPr>
              <a:t>Digital Business Valuation / Midterm project</a:t>
            </a:r>
          </a:p>
          <a:p xmlns:a="http://schemas.openxmlformats.org/drawingml/2006/main">
            <a:pPr>
              <a:defRPr sz="2175" b="0">
                <a:solidFill>
                  <a:srgbClr val="526977"/>
                </a:solidFill>
                <a:latin typeface="Arial"/>
                <a:ea typeface="Arial"/>
                <a:cs typeface="Arial"/>
              </a:defRPr>
            </a:pPr>
            <a:r>
              <a:rPr sz="2175" b="0">
                <a:solidFill>
                  <a:srgbClr val="526977"/>
                </a:solidFill>
                <a:latin typeface="Arial"/>
                <a:ea typeface="Arial"/>
                <a:cs typeface="Arial"/>
              </a:rPr>
              <a:t>BBCA model case and platform methodology</a:t>
            </a:r>
          </a:p>
        </p:txBody>
      </p:sp>
      <p:sp>
        <p:nvSpPr>
          <p:cNvPr id="6" name="">
            <a:extLst xmlns:a="http://schemas.openxmlformats.org/drawingml/2006/main">
              <a:ext uri="{FF2B5EF4-FFF2-40B4-BE49-F238E27FC236}">
                <a16:creationId xmlns:a16="http://schemas.microsoft.com/office/drawing/2014/main" id="{D41480B8-5382-4783-9904-2ACCB9A656E1}"/>
              </a:ext>
            </a:extLst>
          </p:cNvPr>
          <p:cNvSpPr>
            <a:spLocks xmlns:a="http://schemas.openxmlformats.org/drawingml/2006/main" noGrp="1"/>
          </p:cNvSpPr>
          <p:nvPr/>
        </p:nvSpPr>
        <p:spPr>
          <a:xfrm xmlns:a="http://schemas.openxmlformats.org/drawingml/2006/main">
            <a:off x="609600" y="4991100"/>
            <a:ext cx="809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977"/>
                </a:solidFill>
                <a:latin typeface="Arial"/>
                <a:ea typeface="Arial"/>
                <a:cs typeface="Arial"/>
              </a:defRPr>
            </a:defPPr>
            <a:lvl1pPr>
              <a:defRPr sz="1800" b="0">
                <a:solidFill>
                  <a:srgbClr val="526977"/>
                </a:solidFill>
                <a:latin typeface="Arial"/>
                <a:ea typeface="Arial"/>
                <a:cs typeface="Arial"/>
              </a:defRPr>
            </a:lvl1pPr>
            <a:lvl2pPr>
              <a:defRPr sz="1800" b="0">
                <a:solidFill>
                  <a:srgbClr val="526977"/>
                </a:solidFill>
                <a:latin typeface="Arial"/>
                <a:ea typeface="Arial"/>
                <a:cs typeface="Arial"/>
              </a:defRPr>
            </a:lvl2pPr>
            <a:lvl3pPr>
              <a:defRPr sz="1800" b="0">
                <a:solidFill>
                  <a:srgbClr val="526977"/>
                </a:solidFill>
                <a:latin typeface="Arial"/>
                <a:ea typeface="Arial"/>
                <a:cs typeface="Arial"/>
              </a:defRPr>
            </a:lvl3pPr>
            <a:lvl4pPr>
              <a:defRPr sz="1800" b="0">
                <a:solidFill>
                  <a:srgbClr val="526977"/>
                </a:solidFill>
                <a:latin typeface="Arial"/>
                <a:ea typeface="Arial"/>
                <a:cs typeface="Arial"/>
              </a:defRPr>
            </a:lvl4pPr>
            <a:lvl5pPr>
              <a:defRPr sz="1800" b="0">
                <a:solidFill>
                  <a:srgbClr val="526977"/>
                </a:solidFill>
                <a:latin typeface="Arial"/>
                <a:ea typeface="Arial"/>
                <a:cs typeface="Arial"/>
              </a:defRPr>
            </a:lvl5pPr>
            <a:lvl6pPr>
              <a:defRPr sz="1800" b="0">
                <a:solidFill>
                  <a:srgbClr val="526977"/>
                </a:solidFill>
                <a:latin typeface="Arial"/>
                <a:ea typeface="Arial"/>
                <a:cs typeface="Arial"/>
              </a:defRPr>
            </a:lvl6pPr>
            <a:lvl7pPr>
              <a:defRPr sz="1800" b="0">
                <a:solidFill>
                  <a:srgbClr val="526977"/>
                </a:solidFill>
                <a:latin typeface="Arial"/>
                <a:ea typeface="Arial"/>
                <a:cs typeface="Arial"/>
              </a:defRPr>
            </a:lvl7pPr>
            <a:lvl8pPr>
              <a:defRPr sz="1800" b="0">
                <a:solidFill>
                  <a:srgbClr val="526977"/>
                </a:solidFill>
                <a:latin typeface="Arial"/>
                <a:ea typeface="Arial"/>
                <a:cs typeface="Arial"/>
              </a:defRPr>
            </a:lvl8pPr>
            <a:lvl9pPr>
              <a:defRPr sz="1800" b="0">
                <a:solidFill>
                  <a:srgbClr val="526977"/>
                </a:solidFill>
                <a:latin typeface="Arial"/>
                <a:ea typeface="Arial"/>
                <a:cs typeface="Arial"/>
              </a:defRPr>
            </a:lvl9pPr>
          </a:lstStyle>
          <a:p xmlns:a="http://schemas.openxmlformats.org/drawingml/2006/main">
            <a:pPr>
              <a:defRPr sz="1800" b="0">
                <a:solidFill>
                  <a:srgbClr val="526977"/>
                </a:solidFill>
                <a:latin typeface="Arial"/>
                <a:ea typeface="Arial"/>
                <a:cs typeface="Arial"/>
              </a:defRPr>
            </a:pPr>
            <a:r>
              <a:rPr sz="1800" b="0">
                <a:solidFill>
                  <a:srgbClr val="526977"/>
                </a:solidFill>
                <a:latin typeface="Arial"/>
                <a:ea typeface="Arial"/>
                <a:cs typeface="Arial"/>
              </a:rPr>
              <a:t>Yusuf Zakaria</a:t>
            </a:r>
          </a:p>
          <a:p xmlns:a="http://schemas.openxmlformats.org/drawingml/2006/main">
            <a:pPr>
              <a:defRPr sz="1800" b="0">
                <a:solidFill>
                  <a:srgbClr val="526977"/>
                </a:solidFill>
                <a:latin typeface="Arial"/>
                <a:ea typeface="Arial"/>
                <a:cs typeface="Arial"/>
              </a:defRPr>
            </a:pPr>
            <a:r>
              <a:rPr sz="1800" b="0">
                <a:solidFill>
                  <a:srgbClr val="526977"/>
                </a:solidFill>
                <a:latin typeface="Arial"/>
                <a:ea typeface="Arial"/>
                <a:cs typeface="Arial"/>
              </a:rPr>
              <a:t>25 October 2026</a:t>
            </a:r>
          </a:p>
        </p:txBody>
      </p:sp>
      <p:pic>
        <p:nvPicPr>
          <p:cNvPr id="7" name="">
            <a:extLst xmlns:a="http://schemas.openxmlformats.org/drawingml/2006/main">
              <a:ext uri="{FF2B5EF4-FFF2-40B4-BE49-F238E27FC236}">
                <a16:creationId xmlns:a16="http://schemas.microsoft.com/office/drawing/2014/main" id="{939F896C-25BC-4E08-975B-A9C25F570C53}"/>
              </a:ext>
            </a:extLst>
          </p:cNvPr>
          <p:cNvPicPr>
            <a:picLocks xmlns:a="http://schemas.openxmlformats.org/drawingml/2006/main" noChangeAspect="1"/>
          </p:cNvPicPr>
          <p:nvPr/>
        </p:nvPicPr>
        <p:blipFill>
          <a:blip xmlns:r="http://schemas.openxmlformats.org/officeDocument/2006/relationships" xmlns:a="http://schemas.openxmlformats.org/drawingml/2006/main" r:embed="Re06debb67db44eff"/>
          <a:stretch xmlns:a="http://schemas.openxmlformats.org/drawingml/2006/main"/>
        </p:blipFill>
        <p:spPr>
          <a:xfrm xmlns:a="http://schemas.openxmlformats.org/drawingml/2006/main">
            <a:off x="9334500" y="2095500"/>
            <a:ext cx="2095500" cy="2095500"/>
          </a:xfrm>
          <a:prstGeom xmlns:a="http://schemas.openxmlformats.org/drawingml/2006/main" prst="rect">
            <a:avLst/>
          </a:prstGeom>
        </p:spPr>
      </p:pic>
    </p:spTree>
    <p:extLst>
      <p:ext uri="{BB962C8B-B14F-4D97-AF65-F5344CB8AC3E}">
        <p14:creationId xmlns:p14="http://schemas.microsoft.com/office/powerpoint/2010/main" val="1072127770"/>
      </p:ext>
    </p:extLst>
  </p:cSld>
</p:sld>
</file>

<file path=ppt/slides/slide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936E2A-C874-472B-9564-89FDD87754B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Company and valuation purpose</a:t>
            </a:r>
          </a:p>
        </p:txBody>
      </p:sp>
      <p:sp>
        <p:nvSpPr>
          <p:cNvPr id="2" name="">
            <a:extLst xmlns:a="http://schemas.openxmlformats.org/drawingml/2006/main">
              <a:ext uri="{FF2B5EF4-FFF2-40B4-BE49-F238E27FC236}">
                <a16:creationId xmlns:a16="http://schemas.microsoft.com/office/drawing/2014/main" id="{516EEA96-2C3D-458B-995C-AF4AE4FC21C2}"/>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BBCA / 25 Oct 2026</a:t>
            </a:r>
          </a:p>
        </p:txBody>
      </p:sp>
      <p:sp>
        <p:nvSpPr>
          <p:cNvPr id="3" name="">
            <a:extLst xmlns:a="http://schemas.openxmlformats.org/drawingml/2006/main">
              <a:ext uri="{FF2B5EF4-FFF2-40B4-BE49-F238E27FC236}">
                <a16:creationId xmlns:a16="http://schemas.microsoft.com/office/drawing/2014/main" id="{9FB6ADE3-23D0-406E-84E2-81E7B084A9D8}"/>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2</a:t>
            </a:r>
          </a:p>
        </p:txBody>
      </p:sp>
      <p:sp>
        <p:nvSpPr>
          <p:cNvPr id="4" name="">
            <a:extLst xmlns:a="http://schemas.openxmlformats.org/drawingml/2006/main">
              <a:ext uri="{FF2B5EF4-FFF2-40B4-BE49-F238E27FC236}">
                <a16:creationId xmlns:a16="http://schemas.microsoft.com/office/drawing/2014/main" id="{DC089CCB-8A48-4DC6-A7CC-3099110FECD3}"/>
              </a:ext>
            </a:extLst>
          </p:cNvPr>
          <p:cNvSpPr>
            <a:spLocks xmlns:a="http://schemas.openxmlformats.org/drawingml/2006/main" noGrp="1"/>
          </p:cNvSpPr>
          <p:nvPr/>
        </p:nvSpPr>
        <p:spPr>
          <a:xfrm xmlns:a="http://schemas.openxmlformats.org/drawingml/2006/main">
            <a:off x="609600" y="2000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C303B"/>
                </a:solidFill>
                <a:latin typeface="Arial"/>
                <a:ea typeface="Arial"/>
                <a:cs typeface="Arial"/>
              </a:defRPr>
            </a:defPPr>
            <a:lvl1pPr>
              <a:defRPr sz="2175" b="1">
                <a:solidFill>
                  <a:srgbClr val="1C303B"/>
                </a:solidFill>
                <a:latin typeface="Arial"/>
                <a:ea typeface="Arial"/>
                <a:cs typeface="Arial"/>
              </a:defRPr>
            </a:lvl1pPr>
            <a:lvl2pPr>
              <a:defRPr sz="2175" b="1">
                <a:solidFill>
                  <a:srgbClr val="1C303B"/>
                </a:solidFill>
                <a:latin typeface="Arial"/>
                <a:ea typeface="Arial"/>
                <a:cs typeface="Arial"/>
              </a:defRPr>
            </a:lvl2pPr>
            <a:lvl3pPr>
              <a:defRPr sz="2175" b="1">
                <a:solidFill>
                  <a:srgbClr val="1C303B"/>
                </a:solidFill>
                <a:latin typeface="Arial"/>
                <a:ea typeface="Arial"/>
                <a:cs typeface="Arial"/>
              </a:defRPr>
            </a:lvl3pPr>
            <a:lvl4pPr>
              <a:defRPr sz="2175" b="1">
                <a:solidFill>
                  <a:srgbClr val="1C303B"/>
                </a:solidFill>
                <a:latin typeface="Arial"/>
                <a:ea typeface="Arial"/>
                <a:cs typeface="Arial"/>
              </a:defRPr>
            </a:lvl4pPr>
            <a:lvl5pPr>
              <a:defRPr sz="2175" b="1">
                <a:solidFill>
                  <a:srgbClr val="1C303B"/>
                </a:solidFill>
                <a:latin typeface="Arial"/>
                <a:ea typeface="Arial"/>
                <a:cs typeface="Arial"/>
              </a:defRPr>
            </a:lvl5pPr>
            <a:lvl6pPr>
              <a:defRPr sz="2175" b="1">
                <a:solidFill>
                  <a:srgbClr val="1C303B"/>
                </a:solidFill>
                <a:latin typeface="Arial"/>
                <a:ea typeface="Arial"/>
                <a:cs typeface="Arial"/>
              </a:defRPr>
            </a:lvl6pPr>
            <a:lvl7pPr>
              <a:defRPr sz="2175" b="1">
                <a:solidFill>
                  <a:srgbClr val="1C303B"/>
                </a:solidFill>
                <a:latin typeface="Arial"/>
                <a:ea typeface="Arial"/>
                <a:cs typeface="Arial"/>
              </a:defRPr>
            </a:lvl7pPr>
            <a:lvl8pPr>
              <a:defRPr sz="2175" b="1">
                <a:solidFill>
                  <a:srgbClr val="1C303B"/>
                </a:solidFill>
                <a:latin typeface="Arial"/>
                <a:ea typeface="Arial"/>
                <a:cs typeface="Arial"/>
              </a:defRPr>
            </a:lvl8pPr>
            <a:lvl9pPr>
              <a:defRPr sz="2175" b="1">
                <a:solidFill>
                  <a:srgbClr val="1C303B"/>
                </a:solidFill>
                <a:latin typeface="Arial"/>
                <a:ea typeface="Arial"/>
                <a:cs typeface="Arial"/>
              </a:defRPr>
            </a:lvl9pPr>
          </a:lstStyle>
          <a:p xmlns:a="http://schemas.openxmlformats.org/drawingml/2006/main">
            <a:pPr>
              <a:defRPr sz="2175" b="1">
                <a:solidFill>
                  <a:srgbClr val="1C303B"/>
                </a:solidFill>
                <a:latin typeface="Arial"/>
                <a:ea typeface="Arial"/>
                <a:cs typeface="Arial"/>
              </a:defRPr>
            </a:pPr>
            <a:r>
              <a:rPr sz="2175" b="1">
                <a:solidFill>
                  <a:srgbClr val="1C303B"/>
                </a:solidFill>
                <a:latin typeface="Arial"/>
                <a:ea typeface="Arial"/>
                <a:cs typeface="Arial"/>
              </a:rPr>
              <a:t>PT Bank Central Asia Tbk. / BBCA</a:t>
            </a:r>
          </a:p>
        </p:txBody>
      </p:sp>
      <p:sp>
        <p:nvSpPr>
          <p:cNvPr id="5" name="">
            <a:extLst xmlns:a="http://schemas.openxmlformats.org/drawingml/2006/main">
              <a:ext uri="{FF2B5EF4-FFF2-40B4-BE49-F238E27FC236}">
                <a16:creationId xmlns:a16="http://schemas.microsoft.com/office/drawing/2014/main" id="{C4EA3EB7-0ABD-4965-97DE-2A7C449FC9C7}"/>
              </a:ext>
            </a:extLst>
          </p:cNvPr>
          <p:cNvSpPr>
            <a:spLocks xmlns:a="http://schemas.openxmlformats.org/drawingml/2006/main" noGrp="1"/>
          </p:cNvSpPr>
          <p:nvPr/>
        </p:nvSpPr>
        <p:spPr>
          <a:xfrm xmlns:a="http://schemas.openxmlformats.org/drawingml/2006/main">
            <a:off x="609600" y="252412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IDX banking issuer. This case compares the observed equity price with a dividend-discount value and eligible bank peer multiples.</a:t>
            </a:r>
          </a:p>
        </p:txBody>
      </p:sp>
      <p:sp>
        <p:nvSpPr>
          <p:cNvPr id="6" name="">
            <a:extLst xmlns:a="http://schemas.openxmlformats.org/drawingml/2006/main">
              <a:ext uri="{FF2B5EF4-FFF2-40B4-BE49-F238E27FC236}">
                <a16:creationId xmlns:a16="http://schemas.microsoft.com/office/drawing/2014/main" id="{EFD4B553-27E5-4A3C-BA95-C623806BA9C1}"/>
              </a:ext>
            </a:extLst>
          </p:cNvPr>
          <p:cNvSpPr>
            <a:spLocks xmlns:a="http://schemas.openxmlformats.org/drawingml/2006/main" noGrp="1"/>
          </p:cNvSpPr>
          <p:nvPr/>
        </p:nvSpPr>
        <p:spPr>
          <a:xfrm xmlns:a="http://schemas.openxmlformats.org/drawingml/2006/main">
            <a:off x="609600" y="3857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C303B"/>
                </a:solidFill>
                <a:latin typeface="Arial"/>
                <a:ea typeface="Arial"/>
                <a:cs typeface="Arial"/>
              </a:defRPr>
            </a:defPPr>
            <a:lvl1pPr>
              <a:defRPr sz="2175" b="1">
                <a:solidFill>
                  <a:srgbClr val="1C303B"/>
                </a:solidFill>
                <a:latin typeface="Arial"/>
                <a:ea typeface="Arial"/>
                <a:cs typeface="Arial"/>
              </a:defRPr>
            </a:lvl1pPr>
            <a:lvl2pPr>
              <a:defRPr sz="2175" b="1">
                <a:solidFill>
                  <a:srgbClr val="1C303B"/>
                </a:solidFill>
                <a:latin typeface="Arial"/>
                <a:ea typeface="Arial"/>
                <a:cs typeface="Arial"/>
              </a:defRPr>
            </a:lvl2pPr>
            <a:lvl3pPr>
              <a:defRPr sz="2175" b="1">
                <a:solidFill>
                  <a:srgbClr val="1C303B"/>
                </a:solidFill>
                <a:latin typeface="Arial"/>
                <a:ea typeface="Arial"/>
                <a:cs typeface="Arial"/>
              </a:defRPr>
            </a:lvl3pPr>
            <a:lvl4pPr>
              <a:defRPr sz="2175" b="1">
                <a:solidFill>
                  <a:srgbClr val="1C303B"/>
                </a:solidFill>
                <a:latin typeface="Arial"/>
                <a:ea typeface="Arial"/>
                <a:cs typeface="Arial"/>
              </a:defRPr>
            </a:lvl4pPr>
            <a:lvl5pPr>
              <a:defRPr sz="2175" b="1">
                <a:solidFill>
                  <a:srgbClr val="1C303B"/>
                </a:solidFill>
                <a:latin typeface="Arial"/>
                <a:ea typeface="Arial"/>
                <a:cs typeface="Arial"/>
              </a:defRPr>
            </a:lvl5pPr>
            <a:lvl6pPr>
              <a:defRPr sz="2175" b="1">
                <a:solidFill>
                  <a:srgbClr val="1C303B"/>
                </a:solidFill>
                <a:latin typeface="Arial"/>
                <a:ea typeface="Arial"/>
                <a:cs typeface="Arial"/>
              </a:defRPr>
            </a:lvl6pPr>
            <a:lvl7pPr>
              <a:defRPr sz="2175" b="1">
                <a:solidFill>
                  <a:srgbClr val="1C303B"/>
                </a:solidFill>
                <a:latin typeface="Arial"/>
                <a:ea typeface="Arial"/>
                <a:cs typeface="Arial"/>
              </a:defRPr>
            </a:lvl7pPr>
            <a:lvl8pPr>
              <a:defRPr sz="2175" b="1">
                <a:solidFill>
                  <a:srgbClr val="1C303B"/>
                </a:solidFill>
                <a:latin typeface="Arial"/>
                <a:ea typeface="Arial"/>
                <a:cs typeface="Arial"/>
              </a:defRPr>
            </a:lvl8pPr>
            <a:lvl9pPr>
              <a:defRPr sz="2175" b="1">
                <a:solidFill>
                  <a:srgbClr val="1C303B"/>
                </a:solidFill>
                <a:latin typeface="Arial"/>
                <a:ea typeface="Arial"/>
                <a:cs typeface="Arial"/>
              </a:defRPr>
            </a:lvl9pPr>
          </a:lstStyle>
          <a:p xmlns:a="http://schemas.openxmlformats.org/drawingml/2006/main">
            <a:pPr>
              <a:defRPr sz="2175" b="1">
                <a:solidFill>
                  <a:srgbClr val="1C303B"/>
                </a:solidFill>
                <a:latin typeface="Arial"/>
                <a:ea typeface="Arial"/>
                <a:cs typeface="Arial"/>
              </a:defRPr>
            </a:pPr>
            <a:r>
              <a:rPr sz="2175" b="1">
                <a:solidFill>
                  <a:srgbClr val="1C303B"/>
                </a:solidFill>
                <a:latin typeface="Arial"/>
                <a:ea typeface="Arial"/>
                <a:cs typeface="Arial"/>
              </a:rPr>
              <a:t>Decision and scope</a:t>
            </a:r>
          </a:p>
        </p:txBody>
      </p:sp>
      <p:sp>
        <p:nvSpPr>
          <p:cNvPr id="7" name="">
            <a:extLst xmlns:a="http://schemas.openxmlformats.org/drawingml/2006/main">
              <a:ext uri="{FF2B5EF4-FFF2-40B4-BE49-F238E27FC236}">
                <a16:creationId xmlns:a16="http://schemas.microsoft.com/office/drawing/2014/main" id="{6DCA4829-13BD-47E6-8F25-13FCB5B505B9}"/>
              </a:ext>
            </a:extLst>
          </p:cNvPr>
          <p:cNvSpPr>
            <a:spLocks xmlns:a="http://schemas.openxmlformats.org/drawingml/2006/main" noGrp="1"/>
          </p:cNvSpPr>
          <p:nvPr/>
        </p:nvSpPr>
        <p:spPr>
          <a:xfrm xmlns:a="http://schemas.openxmlformats.org/drawingml/2006/main">
            <a:off x="609600" y="43815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A reproducible academic model indication using a dated financial basis. Source support does not validate future earnings, regulatory capital or peer economics.</a:t>
            </a:r>
          </a:p>
        </p:txBody>
      </p:sp>
    </p:spTree>
    <p:extLst>
      <p:ext uri="{BB962C8B-B14F-4D97-AF65-F5344CB8AC3E}">
        <p14:creationId xmlns:p14="http://schemas.microsoft.com/office/powerpoint/2010/main" val="1013949273"/>
      </p:ext>
    </p:extLst>
  </p:cSld>
</p:sld>
</file>

<file path=ppt/slides/slide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C78EAE-86B5-405C-9669-20FAD0455A9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Evidence and valuation dates</a:t>
            </a:r>
          </a:p>
        </p:txBody>
      </p:sp>
      <p:sp>
        <p:nvSpPr>
          <p:cNvPr id="2" name="">
            <a:extLst xmlns:a="http://schemas.openxmlformats.org/drawingml/2006/main">
              <a:ext uri="{FF2B5EF4-FFF2-40B4-BE49-F238E27FC236}">
                <a16:creationId xmlns:a16="http://schemas.microsoft.com/office/drawing/2014/main" id="{A1D68D25-17D0-4E39-83EB-8CFC4AC3EDED}"/>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BBCA / 25 Oct 2026</a:t>
            </a:r>
          </a:p>
        </p:txBody>
      </p:sp>
      <p:sp>
        <p:nvSpPr>
          <p:cNvPr id="3" name="">
            <a:extLst xmlns:a="http://schemas.openxmlformats.org/drawingml/2006/main">
              <a:ext uri="{FF2B5EF4-FFF2-40B4-BE49-F238E27FC236}">
                <a16:creationId xmlns:a16="http://schemas.microsoft.com/office/drawing/2014/main" id="{02EADE1F-28A8-49EF-9584-2E0F3BCCCB9A}"/>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3</a:t>
            </a:r>
          </a:p>
        </p:txBody>
      </p:sp>
      <p:graphicFrame>
        <p:nvGraphicFramePr>
          <p:cNvPr id="4" name="">
            <a:extLst xmlns:a="http://schemas.openxmlformats.org/drawingml/2006/main">
              <a:ext uri="{FF2B5EF4-FFF2-40B4-BE49-F238E27FC236}">
                <a16:creationId xmlns:a16="http://schemas.microsoft.com/office/drawing/2014/main" id="{F7736DE3-9756-41DD-9A99-BE03F3F1F881}"/>
              </a:ext>
            </a:extLst>
          </p:cNvPr>
          <p:cNvGraphicFramePr/>
          <p:nvPr/>
        </p:nvGraphicFramePr>
        <p:xfrm>
          <a:off xmlns:a="http://schemas.openxmlformats.org/drawingml/2006/main" x="609600" y="1952625"/>
          <a:ext xmlns:a="http://schemas.openxmlformats.org/drawingml/2006/main" cx="10972800" cy="3714750"/>
        </p:xfrm>
        <a:graphic xmlns:a="http://schemas.openxmlformats.org/drawingml/2006/main">
          <a:graphicData uri="http://schemas.openxmlformats.org/drawingml/2006/table">
            <a:tbl>
              <a:tblPr/>
              <a:tblGrid>
                <a:gridCol w="5486400"/>
                <a:gridCol w="5486400"/>
              </a:tblGrid>
              <a:tr h="530679">
                <a:tc>
                  <a:txBody>
                    <a:bodyPr/>
                    <a:lstStyle/>
                    <a:p>
                      <a:r>
                        <a:rPr sz="1650" b="1">
                          <a:solidFill>
                            <a:srgbClr val="FFFFFF"/>
                          </a:solidFill>
                          <a:latin typeface="Arial"/>
                          <a:ea typeface="Arial"/>
                          <a:cs typeface="Arial"/>
                        </a:rPr>
                        <a:t>Item</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650" b="1">
                          <a:solidFill>
                            <a:srgbClr val="FFFFFF"/>
                          </a:solidFill>
                          <a:latin typeface="Arial"/>
                          <a:ea typeface="Arial"/>
                          <a:cs typeface="Arial"/>
                        </a:rPr>
                        <a:t>Basis</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530679">
                <a:tc>
                  <a:txBody>
                    <a:bodyPr/>
                    <a:lstStyle/>
                    <a:p>
                      <a:r>
                        <a:rPr sz="1650" b="0">
                          <a:solidFill>
                            <a:srgbClr val="1C303B"/>
                          </a:solidFill>
                          <a:latin typeface="Arial"/>
                          <a:ea typeface="Arial"/>
                          <a:cs typeface="Arial"/>
                        </a:rPr>
                        <a:t>Valuation date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25 October 2026</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650" b="0">
                          <a:solidFill>
                            <a:srgbClr val="1C303B"/>
                          </a:solidFill>
                          <a:latin typeface="Arial"/>
                          <a:ea typeface="Arial"/>
                          <a:cs typeface="Arial"/>
                        </a:rPr>
                        <a:t>Observed quote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2026-10-23 / Rp 5,025</a:t>
                      </a:r>
                    </a:p>
                  </a:txBody>
                  <a:tcPr marL="91440" marR="91440" marT="45720" marB="45720">
                    <a:lnR w="9525">
                      <a:solidFill>
                        <a:srgbClr val="DEE7E9"/>
                      </a:solidFill>
                      <a:prstDash val="solid"/>
                    </a:lnR>
                    <a:lnB w="9525">
                      <a:solidFill>
                        <a:srgbClr val="DEE7E9"/>
                      </a:solidFill>
                      <a:prstDash val="solid"/>
                    </a:lnB>
                    <a:solidFill>
                      <a:srgbClr val="FCFDFC"/>
                    </a:solidFill>
                  </a:tcPr>
                </a:tc>
              </a:tr>
              <a:tr h="530679">
                <a:tc>
                  <a:txBody>
                    <a:bodyPr/>
                    <a:lstStyle/>
                    <a:p>
                      <a:r>
                        <a:rPr sz="1650" b="0">
                          <a:solidFill>
                            <a:srgbClr val="1C303B"/>
                          </a:solidFill>
                          <a:latin typeface="Arial"/>
                          <a:ea typeface="Arial"/>
                          <a:cs typeface="Arial"/>
                        </a:rPr>
                        <a:t>Selected financial basis</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TTM / 2026-06-30</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650" b="0">
                          <a:solidFill>
                            <a:srgbClr val="1C303B"/>
                          </a:solidFill>
                          <a:latin typeface="Arial"/>
                          <a:ea typeface="Arial"/>
                          <a:cs typeface="Arial"/>
                        </a:rPr>
                        <a:t>Primary evidence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IDX consolidated XBRL / issuer filings</a:t>
                      </a:r>
                    </a:p>
                  </a:txBody>
                  <a:tcPr marL="91440" marR="91440" marT="45720" marB="45720">
                    <a:lnR w="9525">
                      <a:solidFill>
                        <a:srgbClr val="DEE7E9"/>
                      </a:solidFill>
                      <a:prstDash val="solid"/>
                    </a:lnR>
                    <a:lnB w="9525">
                      <a:solidFill>
                        <a:srgbClr val="DEE7E9"/>
                      </a:solidFill>
                      <a:prstDash val="solid"/>
                    </a:lnB>
                    <a:solidFill>
                      <a:srgbClr val="FCFDFC"/>
                    </a:solidFill>
                  </a:tcPr>
                </a:tc>
              </a:tr>
              <a:tr h="530679">
                <a:tc>
                  <a:txBody>
                    <a:bodyPr/>
                    <a:lstStyle/>
                    <a:p>
                      <a:r>
                        <a:rPr sz="1650" b="0">
                          <a:solidFill>
                            <a:srgbClr val="1C303B"/>
                          </a:solidFill>
                          <a:latin typeface="Arial"/>
                          <a:ea typeface="Arial"/>
                          <a:cs typeface="Arial"/>
                        </a:rPr>
                        <a:t>Secondary market/fundamental input</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Yahoo Finance observations; definitions reconciled</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650" b="0">
                          <a:solidFill>
                            <a:srgbClr val="1C303B"/>
                          </a:solidFill>
                          <a:latin typeface="Arial"/>
                          <a:ea typeface="Arial"/>
                          <a:cs typeface="Arial"/>
                        </a:rPr>
                        <a:t>Source snapshot</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rv5-2f7825687e94d0e8</a:t>
                      </a:r>
                    </a:p>
                  </a:txBody>
                  <a:tcPr marL="91440" marR="91440" marT="45720" marB="45720">
                    <a:lnR w="9525">
                      <a:solidFill>
                        <a:srgbClr val="DEE7E9"/>
                      </a:solidFill>
                      <a:prstDash val="solid"/>
                    </a:lnR>
                    <a:lnB w="9525">
                      <a:solidFill>
                        <a:srgbClr val="DEE7E9"/>
                      </a:solidFill>
                      <a:prstDash val="solid"/>
                    </a:lnB>
                    <a:solidFill>
                      <a:srgbClr val="FCFDFC"/>
                    </a:solidFill>
                  </a:tcPr>
                </a:tc>
              </a:tr>
            </a:tbl>
          </a:graphicData>
        </a:graphic>
      </p:graphicFrame>
    </p:spTree>
    <p:extLst>
      <p:ext uri="{BB962C8B-B14F-4D97-AF65-F5344CB8AC3E}">
        <p14:creationId xmlns:p14="http://schemas.microsoft.com/office/powerpoint/2010/main" val="464180272"/>
      </p:ext>
    </p:extLst>
  </p:cSld>
</p:sld>
</file>

<file path=ppt/slides/slide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19CE1B-4F6E-4A7D-B61A-C13AE170DFBF}"/>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Reported historical performance</a:t>
            </a:r>
          </a:p>
        </p:txBody>
      </p:sp>
      <p:sp>
        <p:nvSpPr>
          <p:cNvPr id="2" name="">
            <a:extLst xmlns:a="http://schemas.openxmlformats.org/drawingml/2006/main">
              <a:ext uri="{FF2B5EF4-FFF2-40B4-BE49-F238E27FC236}">
                <a16:creationId xmlns:a16="http://schemas.microsoft.com/office/drawing/2014/main" id="{5B10FBA7-1C15-4100-BE8E-DB50C63A3989}"/>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BBCA / 25 Oct 2026</a:t>
            </a:r>
          </a:p>
        </p:txBody>
      </p:sp>
      <p:sp>
        <p:nvSpPr>
          <p:cNvPr id="3" name="">
            <a:extLst xmlns:a="http://schemas.openxmlformats.org/drawingml/2006/main">
              <a:ext uri="{FF2B5EF4-FFF2-40B4-BE49-F238E27FC236}">
                <a16:creationId xmlns:a16="http://schemas.microsoft.com/office/drawing/2014/main" id="{AD3AD64D-F376-4B16-B4E3-F81697E6D6D8}"/>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4</a:t>
            </a:r>
          </a:p>
        </p:txBody>
      </p:sp>
      <p:graphicFrame>
        <p:nvGraphicFramePr>
          <p:cNvPr id="4" name="Chart">
            <a:extLst xmlns:a="http://schemas.openxmlformats.org/drawingml/2006/main">
              <a:ext uri="{FF2B5EF4-FFF2-40B4-BE49-F238E27FC236}">
                <a16:creationId xmlns:a16="http://schemas.microsoft.com/office/drawing/2014/main" id="{3639D7BE-4E40-4CEE-978B-607A9A927BA1}"/>
              </a:ext>
            </a:extLst>
          </p:cNvPr>
          <p:cNvGraphicFramePr/>
          <p:nvPr/>
        </p:nvGraphicFramePr>
        <p:xfrm>
          <a:off xmlns:a="http://schemas.openxmlformats.org/drawingml/2006/main" x="609600" y="1952625"/>
          <a:ext xmlns:a="http://schemas.openxmlformats.org/drawingml/2006/main" cx="10972800" cy="3476625"/>
        </p:xfrm>
        <a:graphic xmlns:a="http://schemas.openxmlformats.org/drawingml/2006/main">
          <a:graphicData uri="http://schemas.openxmlformats.org/drawingml/2006/chart">
            <c:chart xmlns:r="http://schemas.openxmlformats.org/officeDocument/2006/relationships" xmlns:c="http://schemas.openxmlformats.org/drawingml/2006/chart" r:id="R01f8d201017a48e8"/>
          </a:graphicData>
        </a:graphic>
      </p:graphicFrame>
      <p:sp>
        <p:nvSpPr>
          <p:cNvPr id="5" name="">
            <a:extLst xmlns:a="http://schemas.openxmlformats.org/drawingml/2006/main">
              <a:ext uri="{FF2B5EF4-FFF2-40B4-BE49-F238E27FC236}">
                <a16:creationId xmlns:a16="http://schemas.microsoft.com/office/drawing/2014/main" id="{C20B8817-275C-45AD-BDEB-5994F76D9E40}"/>
              </a:ext>
            </a:extLst>
          </p:cNvPr>
          <p:cNvSpPr>
            <a:spLocks xmlns:a="http://schemas.openxmlformats.org/drawingml/2006/main" noGrp="1"/>
          </p:cNvSpPr>
          <p:nvPr/>
        </p:nvSpPr>
        <p:spPr>
          <a:xfrm xmlns:a="http://schemas.openxmlformats.org/drawingml/2006/main">
            <a:off x="609600" y="56864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977"/>
                </a:solidFill>
                <a:latin typeface="Arial"/>
                <a:ea typeface="Arial"/>
                <a:cs typeface="Arial"/>
              </a:defRPr>
            </a:defPPr>
            <a:lvl1pPr>
              <a:defRPr sz="1725" b="0">
                <a:solidFill>
                  <a:srgbClr val="526977"/>
                </a:solidFill>
                <a:latin typeface="Arial"/>
                <a:ea typeface="Arial"/>
                <a:cs typeface="Arial"/>
              </a:defRPr>
            </a:lvl1pPr>
            <a:lvl2pPr>
              <a:defRPr sz="1725" b="0">
                <a:solidFill>
                  <a:srgbClr val="526977"/>
                </a:solidFill>
                <a:latin typeface="Arial"/>
                <a:ea typeface="Arial"/>
                <a:cs typeface="Arial"/>
              </a:defRPr>
            </a:lvl2pPr>
            <a:lvl3pPr>
              <a:defRPr sz="1725" b="0">
                <a:solidFill>
                  <a:srgbClr val="526977"/>
                </a:solidFill>
                <a:latin typeface="Arial"/>
                <a:ea typeface="Arial"/>
                <a:cs typeface="Arial"/>
              </a:defRPr>
            </a:lvl3pPr>
            <a:lvl4pPr>
              <a:defRPr sz="1725" b="0">
                <a:solidFill>
                  <a:srgbClr val="526977"/>
                </a:solidFill>
                <a:latin typeface="Arial"/>
                <a:ea typeface="Arial"/>
                <a:cs typeface="Arial"/>
              </a:defRPr>
            </a:lvl4pPr>
            <a:lvl5pPr>
              <a:defRPr sz="1725" b="0">
                <a:solidFill>
                  <a:srgbClr val="526977"/>
                </a:solidFill>
                <a:latin typeface="Arial"/>
                <a:ea typeface="Arial"/>
                <a:cs typeface="Arial"/>
              </a:defRPr>
            </a:lvl5pPr>
            <a:lvl6pPr>
              <a:defRPr sz="1725" b="0">
                <a:solidFill>
                  <a:srgbClr val="526977"/>
                </a:solidFill>
                <a:latin typeface="Arial"/>
                <a:ea typeface="Arial"/>
                <a:cs typeface="Arial"/>
              </a:defRPr>
            </a:lvl6pPr>
            <a:lvl7pPr>
              <a:defRPr sz="1725" b="0">
                <a:solidFill>
                  <a:srgbClr val="526977"/>
                </a:solidFill>
                <a:latin typeface="Arial"/>
                <a:ea typeface="Arial"/>
                <a:cs typeface="Arial"/>
              </a:defRPr>
            </a:lvl7pPr>
            <a:lvl8pPr>
              <a:defRPr sz="1725" b="0">
                <a:solidFill>
                  <a:srgbClr val="526977"/>
                </a:solidFill>
                <a:latin typeface="Arial"/>
                <a:ea typeface="Arial"/>
                <a:cs typeface="Arial"/>
              </a:defRPr>
            </a:lvl8pPr>
            <a:lvl9pPr>
              <a:defRPr sz="1725" b="0">
                <a:solidFill>
                  <a:srgbClr val="526977"/>
                </a:solidFill>
                <a:latin typeface="Arial"/>
                <a:ea typeface="Arial"/>
                <a:cs typeface="Arial"/>
              </a:defRPr>
            </a:lvl9pPr>
          </a:lstStyle>
          <a:p xmlns:a="http://schemas.openxmlformats.org/drawingml/2006/main">
            <a:pPr>
              <a:defRPr sz="1725" b="0">
                <a:solidFill>
                  <a:srgbClr val="526977"/>
                </a:solidFill>
                <a:latin typeface="Arial"/>
                <a:ea typeface="Arial"/>
                <a:cs typeface="Arial"/>
              </a:defRPr>
            </a:pPr>
            <a:r>
              <a:rPr sz="1725" b="0">
                <a:solidFill>
                  <a:srgbClr val="526977"/>
                </a:solidFill>
                <a:latin typeface="Arial"/>
                <a:ea typeface="Arial"/>
                <a:cs typeface="Arial"/>
              </a:rPr>
              <a:t>Reported annual figures. The selected current TTM basis is separate from the annual history.</a:t>
            </a:r>
          </a:p>
        </p:txBody>
      </p:sp>
    </p:spTree>
    <p:extLst>
      <p:ext uri="{BB962C8B-B14F-4D97-AF65-F5344CB8AC3E}">
        <p14:creationId xmlns:p14="http://schemas.microsoft.com/office/powerpoint/2010/main" val="1696874116"/>
      </p:ext>
    </p:extLst>
  </p:cSld>
</p:sld>
</file>

<file path=ppt/slides/slide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68EE28F-6BBB-4925-94D3-E7017BE1577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Forecast drivers and provenance</a:t>
            </a:r>
          </a:p>
        </p:txBody>
      </p:sp>
      <p:sp>
        <p:nvSpPr>
          <p:cNvPr id="2" name="">
            <a:extLst xmlns:a="http://schemas.openxmlformats.org/drawingml/2006/main">
              <a:ext uri="{FF2B5EF4-FFF2-40B4-BE49-F238E27FC236}">
                <a16:creationId xmlns:a16="http://schemas.microsoft.com/office/drawing/2014/main" id="{D2DCFFFE-4CD3-4A83-B2EC-48473E724420}"/>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BBCA / 25 Oct 2026</a:t>
            </a:r>
          </a:p>
        </p:txBody>
      </p:sp>
      <p:sp>
        <p:nvSpPr>
          <p:cNvPr id="3" name="">
            <a:extLst xmlns:a="http://schemas.openxmlformats.org/drawingml/2006/main">
              <a:ext uri="{FF2B5EF4-FFF2-40B4-BE49-F238E27FC236}">
                <a16:creationId xmlns:a16="http://schemas.microsoft.com/office/drawing/2014/main" id="{9556BA1E-903A-4C7F-9A5F-5876AD071529}"/>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5</a:t>
            </a:r>
          </a:p>
        </p:txBody>
      </p:sp>
      <p:graphicFrame>
        <p:nvGraphicFramePr>
          <p:cNvPr id="4" name="">
            <a:extLst xmlns:a="http://schemas.openxmlformats.org/drawingml/2006/main">
              <a:ext uri="{FF2B5EF4-FFF2-40B4-BE49-F238E27FC236}">
                <a16:creationId xmlns:a16="http://schemas.microsoft.com/office/drawing/2014/main" id="{963AF8E4-0C1F-4440-B5A5-97769730EC8E}"/>
              </a:ext>
            </a:extLst>
          </p:cNvPr>
          <p:cNvGraphicFramePr/>
          <p:nvPr/>
        </p:nvGraphicFramePr>
        <p:xfrm>
          <a:off xmlns:a="http://schemas.openxmlformats.org/drawingml/2006/main" x="609600" y="1952625"/>
          <a:ext xmlns:a="http://schemas.openxmlformats.org/drawingml/2006/main" cx="10972800" cy="3714750"/>
        </p:xfrm>
        <a:graphic xmlns:a="http://schemas.openxmlformats.org/drawingml/2006/main">
          <a:graphicData uri="http://schemas.openxmlformats.org/drawingml/2006/table">
            <a:tbl>
              <a:tblPr/>
              <a:tblGrid>
                <a:gridCol w="3657600"/>
                <a:gridCol w="3657600"/>
                <a:gridCol w="3657600"/>
              </a:tblGrid>
              <a:tr h="530679">
                <a:tc>
                  <a:txBody>
                    <a:bodyPr/>
                    <a:lstStyle/>
                    <a:p>
                      <a:r>
                        <a:rPr sz="1650" b="1">
                          <a:solidFill>
                            <a:srgbClr val="FFFFFF"/>
                          </a:solidFill>
                          <a:latin typeface="Arial"/>
                          <a:ea typeface="Arial"/>
                          <a:cs typeface="Arial"/>
                        </a:rPr>
                        <a:t>Assumption</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650" b="1">
                          <a:solidFill>
                            <a:srgbClr val="FFFFFF"/>
                          </a:solidFill>
                          <a:latin typeface="Arial"/>
                          <a:ea typeface="Arial"/>
                          <a:cs typeface="Arial"/>
                        </a:rPr>
                        <a:t>Base</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650" b="1">
                          <a:solidFill>
                            <a:srgbClr val="FFFFFF"/>
                          </a:solidFill>
                          <a:latin typeface="Arial"/>
                          <a:ea typeface="Arial"/>
                          <a:cs typeface="Arial"/>
                        </a:rPr>
                        <a:t>Interpretation</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530679">
                <a:tc>
                  <a:txBody>
                    <a:bodyPr/>
                    <a:lstStyle/>
                    <a:p>
                      <a:r>
                        <a:rPr sz="1650" b="0">
                          <a:solidFill>
                            <a:srgbClr val="1C303B"/>
                          </a:solidFill>
                          <a:latin typeface="Arial"/>
                          <a:ea typeface="Arial"/>
                          <a:cs typeface="Arial"/>
                        </a:rPr>
                        <a:t>Earnings growth</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6%</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Analyst estimate; not issuer guidance</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650" b="0">
                          <a:solidFill>
                            <a:srgbClr val="1C303B"/>
                          </a:solidFill>
                          <a:latin typeface="Arial"/>
                          <a:ea typeface="Arial"/>
                          <a:cs typeface="Arial"/>
                        </a:rPr>
                        <a:t>Payout ratio</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65%</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Review regulatory distributable capacity</a:t>
                      </a:r>
                    </a:p>
                  </a:txBody>
                  <a:tcPr marL="91440" marR="91440" marT="45720" marB="45720">
                    <a:lnR w="9525">
                      <a:solidFill>
                        <a:srgbClr val="DEE7E9"/>
                      </a:solidFill>
                      <a:prstDash val="solid"/>
                    </a:lnR>
                    <a:lnB w="9525">
                      <a:solidFill>
                        <a:srgbClr val="DEE7E9"/>
                      </a:solidFill>
                      <a:prstDash val="solid"/>
                    </a:lnB>
                    <a:solidFill>
                      <a:srgbClr val="FCFDFC"/>
                    </a:solidFill>
                  </a:tcPr>
                </a:tc>
              </a:tr>
              <a:tr h="530679">
                <a:tc>
                  <a:txBody>
                    <a:bodyPr/>
                    <a:lstStyle/>
                    <a:p>
                      <a:r>
                        <a:rPr sz="1650" b="0">
                          <a:solidFill>
                            <a:srgbClr val="1C303B"/>
                          </a:solidFill>
                          <a:latin typeface="Arial"/>
                          <a:ea typeface="Arial"/>
                          <a:cs typeface="Arial"/>
                        </a:rPr>
                        <a:t>Risk-free rate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6.5%</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IDR classroom market assumption</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650" b="0">
                          <a:solidFill>
                            <a:srgbClr val="1C303B"/>
                          </a:solidFill>
                          <a:latin typeface="Arial"/>
                          <a:ea typeface="Arial"/>
                          <a:cs typeface="Arial"/>
                        </a:rPr>
                        <a:t>Levered beta</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0.9x</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Analyst input</a:t>
                      </a:r>
                    </a:p>
                  </a:txBody>
                  <a:tcPr marL="91440" marR="91440" marT="45720" marB="45720">
                    <a:lnR w="9525">
                      <a:solidFill>
                        <a:srgbClr val="DEE7E9"/>
                      </a:solidFill>
                      <a:prstDash val="solid"/>
                    </a:lnR>
                    <a:lnB w="9525">
                      <a:solidFill>
                        <a:srgbClr val="DEE7E9"/>
                      </a:solidFill>
                      <a:prstDash val="solid"/>
                    </a:lnB>
                    <a:solidFill>
                      <a:srgbClr val="FCFDFC"/>
                    </a:solidFill>
                  </a:tcPr>
                </a:tc>
              </a:tr>
              <a:tr h="530679">
                <a:tc>
                  <a:txBody>
                    <a:bodyPr/>
                    <a:lstStyle/>
                    <a:p>
                      <a:r>
                        <a:rPr sz="1650" b="0">
                          <a:solidFill>
                            <a:srgbClr val="1C303B"/>
                          </a:solidFill>
                          <a:latin typeface="Arial"/>
                          <a:ea typeface="Arial"/>
                          <a:cs typeface="Arial"/>
                        </a:rPr>
                        <a:t>Total equity risk premium</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6.5%</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650" b="0">
                          <a:solidFill>
                            <a:srgbClr val="1C303B"/>
                          </a:solidFill>
                          <a:latin typeface="Arial"/>
                          <a:ea typeface="Arial"/>
                          <a:cs typeface="Arial"/>
                        </a:rPr>
                        <a:t>Avoid double-counting country risk</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650" b="0">
                          <a:solidFill>
                            <a:srgbClr val="1C303B"/>
                          </a:solidFill>
                          <a:latin typeface="Arial"/>
                          <a:ea typeface="Arial"/>
                          <a:cs typeface="Arial"/>
                        </a:rPr>
                        <a:t>Terminal growth / ROE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3.5% / 16%</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650" b="0">
                          <a:solidFill>
                            <a:srgbClr val="1C303B"/>
                          </a:solidFill>
                          <a:latin typeface="Arial"/>
                          <a:ea typeface="Arial"/>
                          <a:cs typeface="Arial"/>
                        </a:rPr>
                        <a:t>Sustainable terminal retention</a:t>
                      </a:r>
                    </a:p>
                  </a:txBody>
                  <a:tcPr marL="91440" marR="91440" marT="45720" marB="45720">
                    <a:lnR w="9525">
                      <a:solidFill>
                        <a:srgbClr val="DEE7E9"/>
                      </a:solidFill>
                      <a:prstDash val="solid"/>
                    </a:lnR>
                    <a:lnB w="9525">
                      <a:solidFill>
                        <a:srgbClr val="DEE7E9"/>
                      </a:solidFill>
                      <a:prstDash val="solid"/>
                    </a:lnB>
                    <a:solidFill>
                      <a:srgbClr val="FCFDFC"/>
                    </a:solidFill>
                  </a:tcPr>
                </a:tc>
              </a:tr>
            </a:tbl>
          </a:graphicData>
        </a:graphic>
      </p:graphicFrame>
    </p:spTree>
    <p:extLst>
      <p:ext uri="{BB962C8B-B14F-4D97-AF65-F5344CB8AC3E}">
        <p14:creationId xmlns:p14="http://schemas.microsoft.com/office/powerpoint/2010/main" val="1333672803"/>
      </p:ext>
    </p:extLst>
  </p:cSld>
</p:sld>
</file>

<file path=ppt/slides/slide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781F10-C67B-459E-901E-4C98D18185C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Model structure and updates</a:t>
            </a:r>
          </a:p>
        </p:txBody>
      </p:sp>
      <p:sp>
        <p:nvSpPr>
          <p:cNvPr id="2" name="">
            <a:extLst xmlns:a="http://schemas.openxmlformats.org/drawingml/2006/main">
              <a:ext uri="{FF2B5EF4-FFF2-40B4-BE49-F238E27FC236}">
                <a16:creationId xmlns:a16="http://schemas.microsoft.com/office/drawing/2014/main" id="{D9801AFC-2C31-43F9-948B-3860F77A3A3E}"/>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BBCA / 25 Oct 2026</a:t>
            </a:r>
          </a:p>
        </p:txBody>
      </p:sp>
      <p:sp>
        <p:nvSpPr>
          <p:cNvPr id="3" name="">
            <a:extLst xmlns:a="http://schemas.openxmlformats.org/drawingml/2006/main">
              <a:ext uri="{FF2B5EF4-FFF2-40B4-BE49-F238E27FC236}">
                <a16:creationId xmlns:a16="http://schemas.microsoft.com/office/drawing/2014/main" id="{2E692B6B-F109-4663-9B26-943C5414A449}"/>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6</a:t>
            </a:r>
          </a:p>
        </p:txBody>
      </p:sp>
      <p:sp>
        <p:nvSpPr>
          <p:cNvPr id="4" name="">
            <a:extLst xmlns:a="http://schemas.openxmlformats.org/drawingml/2006/main">
              <a:ext uri="{FF2B5EF4-FFF2-40B4-BE49-F238E27FC236}">
                <a16:creationId xmlns:a16="http://schemas.microsoft.com/office/drawing/2014/main" id="{7A16160D-FBEC-4140-B7A6-9ED5E8B27780}"/>
              </a:ext>
            </a:extLst>
          </p:cNvPr>
          <p:cNvSpPr>
            <a:spLocks xmlns:a="http://schemas.openxmlformats.org/drawingml/2006/main" noGrp="1"/>
          </p:cNvSpPr>
          <p:nvPr/>
        </p:nvSpPr>
        <p:spPr>
          <a:xfrm xmlns:a="http://schemas.openxmlformats.org/drawingml/2006/main">
            <a:off x="609600" y="1952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C303B"/>
                </a:solidFill>
                <a:latin typeface="Arial"/>
                <a:ea typeface="Arial"/>
                <a:cs typeface="Arial"/>
              </a:defRPr>
            </a:defPPr>
            <a:lvl1pPr>
              <a:defRPr sz="2175" b="1">
                <a:solidFill>
                  <a:srgbClr val="1C303B"/>
                </a:solidFill>
                <a:latin typeface="Arial"/>
                <a:ea typeface="Arial"/>
                <a:cs typeface="Arial"/>
              </a:defRPr>
            </a:lvl1pPr>
            <a:lvl2pPr>
              <a:defRPr sz="2175" b="1">
                <a:solidFill>
                  <a:srgbClr val="1C303B"/>
                </a:solidFill>
                <a:latin typeface="Arial"/>
                <a:ea typeface="Arial"/>
                <a:cs typeface="Arial"/>
              </a:defRPr>
            </a:lvl2pPr>
            <a:lvl3pPr>
              <a:defRPr sz="2175" b="1">
                <a:solidFill>
                  <a:srgbClr val="1C303B"/>
                </a:solidFill>
                <a:latin typeface="Arial"/>
                <a:ea typeface="Arial"/>
                <a:cs typeface="Arial"/>
              </a:defRPr>
            </a:lvl3pPr>
            <a:lvl4pPr>
              <a:defRPr sz="2175" b="1">
                <a:solidFill>
                  <a:srgbClr val="1C303B"/>
                </a:solidFill>
                <a:latin typeface="Arial"/>
                <a:ea typeface="Arial"/>
                <a:cs typeface="Arial"/>
              </a:defRPr>
            </a:lvl4pPr>
            <a:lvl5pPr>
              <a:defRPr sz="2175" b="1">
                <a:solidFill>
                  <a:srgbClr val="1C303B"/>
                </a:solidFill>
                <a:latin typeface="Arial"/>
                <a:ea typeface="Arial"/>
                <a:cs typeface="Arial"/>
              </a:defRPr>
            </a:lvl5pPr>
            <a:lvl6pPr>
              <a:defRPr sz="2175" b="1">
                <a:solidFill>
                  <a:srgbClr val="1C303B"/>
                </a:solidFill>
                <a:latin typeface="Arial"/>
                <a:ea typeface="Arial"/>
                <a:cs typeface="Arial"/>
              </a:defRPr>
            </a:lvl6pPr>
            <a:lvl7pPr>
              <a:defRPr sz="2175" b="1">
                <a:solidFill>
                  <a:srgbClr val="1C303B"/>
                </a:solidFill>
                <a:latin typeface="Arial"/>
                <a:ea typeface="Arial"/>
                <a:cs typeface="Arial"/>
              </a:defRPr>
            </a:lvl7pPr>
            <a:lvl8pPr>
              <a:defRPr sz="2175" b="1">
                <a:solidFill>
                  <a:srgbClr val="1C303B"/>
                </a:solidFill>
                <a:latin typeface="Arial"/>
                <a:ea typeface="Arial"/>
                <a:cs typeface="Arial"/>
              </a:defRPr>
            </a:lvl8pPr>
            <a:lvl9pPr>
              <a:defRPr sz="2175" b="1">
                <a:solidFill>
                  <a:srgbClr val="1C303B"/>
                </a:solidFill>
                <a:latin typeface="Arial"/>
                <a:ea typeface="Arial"/>
                <a:cs typeface="Arial"/>
              </a:defRPr>
            </a:lvl9pPr>
          </a:lstStyle>
          <a:p xmlns:a="http://schemas.openxmlformats.org/drawingml/2006/main">
            <a:pPr>
              <a:defRPr sz="2175" b="1">
                <a:solidFill>
                  <a:srgbClr val="1C303B"/>
                </a:solidFill>
                <a:latin typeface="Arial"/>
                <a:ea typeface="Arial"/>
                <a:cs typeface="Arial"/>
              </a:defRPr>
            </a:pPr>
            <a:r>
              <a:rPr sz="2175" b="1">
                <a:solidFill>
                  <a:srgbClr val="1C303B"/>
                </a:solidFill>
                <a:latin typeface="Arial"/>
                <a:ea typeface="Arial"/>
                <a:cs typeface="Arial"/>
              </a:rPr>
              <a:t>Inputs, assumptions, logic and outputs</a:t>
            </a:r>
          </a:p>
        </p:txBody>
      </p:sp>
      <p:sp>
        <p:nvSpPr>
          <p:cNvPr id="5" name="">
            <a:extLst xmlns:a="http://schemas.openxmlformats.org/drawingml/2006/main">
              <a:ext uri="{FF2B5EF4-FFF2-40B4-BE49-F238E27FC236}">
                <a16:creationId xmlns:a16="http://schemas.microsoft.com/office/drawing/2014/main" id="{8F28522D-C074-4492-95FC-48C099198B7D}"/>
              </a:ext>
            </a:extLst>
          </p:cNvPr>
          <p:cNvSpPr>
            <a:spLocks xmlns:a="http://schemas.openxmlformats.org/drawingml/2006/main" noGrp="1"/>
          </p:cNvSpPr>
          <p:nvPr/>
        </p:nvSpPr>
        <p:spPr>
          <a:xfrm xmlns:a="http://schemas.openxmlformats.org/drawingml/2006/main">
            <a:off x="609600" y="24765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Ticker snapshots or documented Excel imports feed deterministic calculations. Review Data evidence, Forecast drivers and Peers membership before interpreting a rating.</a:t>
            </a:r>
          </a:p>
        </p:txBody>
      </p:sp>
      <p:sp>
        <p:nvSpPr>
          <p:cNvPr id="6" name="">
            <a:extLst xmlns:a="http://schemas.openxmlformats.org/drawingml/2006/main">
              <a:ext uri="{FF2B5EF4-FFF2-40B4-BE49-F238E27FC236}">
                <a16:creationId xmlns:a16="http://schemas.microsoft.com/office/drawing/2014/main" id="{2CC94366-3878-4CC6-BF32-19BFF50EB7CE}"/>
              </a:ext>
            </a:extLst>
          </p:cNvPr>
          <p:cNvSpPr>
            <a:spLocks xmlns:a="http://schemas.openxmlformats.org/drawingml/2006/main" noGrp="1"/>
          </p:cNvSpPr>
          <p:nvPr/>
        </p:nvSpPr>
        <p:spPr>
          <a:xfrm xmlns:a="http://schemas.openxmlformats.org/drawingml/2006/main">
            <a:off x="609600" y="3810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C303B"/>
                </a:solidFill>
                <a:latin typeface="Arial"/>
                <a:ea typeface="Arial"/>
                <a:cs typeface="Arial"/>
              </a:defRPr>
            </a:defPPr>
            <a:lvl1pPr>
              <a:defRPr sz="2175" b="1">
                <a:solidFill>
                  <a:srgbClr val="1C303B"/>
                </a:solidFill>
                <a:latin typeface="Arial"/>
                <a:ea typeface="Arial"/>
                <a:cs typeface="Arial"/>
              </a:defRPr>
            </a:lvl1pPr>
            <a:lvl2pPr>
              <a:defRPr sz="2175" b="1">
                <a:solidFill>
                  <a:srgbClr val="1C303B"/>
                </a:solidFill>
                <a:latin typeface="Arial"/>
                <a:ea typeface="Arial"/>
                <a:cs typeface="Arial"/>
              </a:defRPr>
            </a:lvl2pPr>
            <a:lvl3pPr>
              <a:defRPr sz="2175" b="1">
                <a:solidFill>
                  <a:srgbClr val="1C303B"/>
                </a:solidFill>
                <a:latin typeface="Arial"/>
                <a:ea typeface="Arial"/>
                <a:cs typeface="Arial"/>
              </a:defRPr>
            </a:lvl3pPr>
            <a:lvl4pPr>
              <a:defRPr sz="2175" b="1">
                <a:solidFill>
                  <a:srgbClr val="1C303B"/>
                </a:solidFill>
                <a:latin typeface="Arial"/>
                <a:ea typeface="Arial"/>
                <a:cs typeface="Arial"/>
              </a:defRPr>
            </a:lvl4pPr>
            <a:lvl5pPr>
              <a:defRPr sz="2175" b="1">
                <a:solidFill>
                  <a:srgbClr val="1C303B"/>
                </a:solidFill>
                <a:latin typeface="Arial"/>
                <a:ea typeface="Arial"/>
                <a:cs typeface="Arial"/>
              </a:defRPr>
            </a:lvl5pPr>
            <a:lvl6pPr>
              <a:defRPr sz="2175" b="1">
                <a:solidFill>
                  <a:srgbClr val="1C303B"/>
                </a:solidFill>
                <a:latin typeface="Arial"/>
                <a:ea typeface="Arial"/>
                <a:cs typeface="Arial"/>
              </a:defRPr>
            </a:lvl6pPr>
            <a:lvl7pPr>
              <a:defRPr sz="2175" b="1">
                <a:solidFill>
                  <a:srgbClr val="1C303B"/>
                </a:solidFill>
                <a:latin typeface="Arial"/>
                <a:ea typeface="Arial"/>
                <a:cs typeface="Arial"/>
              </a:defRPr>
            </a:lvl7pPr>
            <a:lvl8pPr>
              <a:defRPr sz="2175" b="1">
                <a:solidFill>
                  <a:srgbClr val="1C303B"/>
                </a:solidFill>
                <a:latin typeface="Arial"/>
                <a:ea typeface="Arial"/>
                <a:cs typeface="Arial"/>
              </a:defRPr>
            </a:lvl8pPr>
            <a:lvl9pPr>
              <a:defRPr sz="2175" b="1">
                <a:solidFill>
                  <a:srgbClr val="1C303B"/>
                </a:solidFill>
                <a:latin typeface="Arial"/>
                <a:ea typeface="Arial"/>
                <a:cs typeface="Arial"/>
              </a:defRPr>
            </a:lvl9pPr>
          </a:lstStyle>
          <a:p xmlns:a="http://schemas.openxmlformats.org/drawingml/2006/main">
            <a:pPr>
              <a:defRPr sz="2175" b="1">
                <a:solidFill>
                  <a:srgbClr val="1C303B"/>
                </a:solidFill>
                <a:latin typeface="Arial"/>
                <a:ea typeface="Arial"/>
                <a:cs typeface="Arial"/>
              </a:defRPr>
            </a:pPr>
            <a:r>
              <a:rPr sz="2175" b="1">
                <a:solidFill>
                  <a:srgbClr val="1C303B"/>
                </a:solidFill>
                <a:latin typeface="Arial"/>
                <a:ea typeface="Arial"/>
                <a:cs typeface="Arial"/>
              </a:rPr>
              <a:t>Repeatable workflow</a:t>
            </a:r>
          </a:p>
        </p:txBody>
      </p:sp>
      <p:sp>
        <p:nvSpPr>
          <p:cNvPr id="7" name="">
            <a:extLst xmlns:a="http://schemas.openxmlformats.org/drawingml/2006/main">
              <a:ext uri="{FF2B5EF4-FFF2-40B4-BE49-F238E27FC236}">
                <a16:creationId xmlns:a16="http://schemas.microsoft.com/office/drawing/2014/main" id="{2371952F-1962-4A8D-8017-1F66E19115B1}"/>
              </a:ext>
            </a:extLst>
          </p:cNvPr>
          <p:cNvSpPr>
            <a:spLocks xmlns:a="http://schemas.openxmlformats.org/drawingml/2006/main" noGrp="1"/>
          </p:cNvSpPr>
          <p:nvPr/>
        </p:nvSpPr>
        <p:spPr>
          <a:xfrm xmlns:a="http://schemas.openxmlformats.org/drawingml/2006/main">
            <a:off x="609600" y="43338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Refresh sources; reconcile periods, units and definitions; edit annual paths or named scenarios; recalculate; save JSON and export the matching workbook and PDF.</a:t>
            </a:r>
          </a:p>
        </p:txBody>
      </p:sp>
    </p:spTree>
    <p:extLst>
      <p:ext uri="{BB962C8B-B14F-4D97-AF65-F5344CB8AC3E}">
        <p14:creationId xmlns:p14="http://schemas.microsoft.com/office/powerpoint/2010/main" val="781612297"/>
      </p:ext>
    </p:extLst>
  </p:cSld>
</p:sld>
</file>

<file path=ppt/slides/slide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549FEF-A503-4A80-ADD4-985CA449B74B}"/>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Observed equity market value</a:t>
            </a:r>
          </a:p>
        </p:txBody>
      </p:sp>
      <p:sp>
        <p:nvSpPr>
          <p:cNvPr id="2" name="">
            <a:extLst xmlns:a="http://schemas.openxmlformats.org/drawingml/2006/main">
              <a:ext uri="{FF2B5EF4-FFF2-40B4-BE49-F238E27FC236}">
                <a16:creationId xmlns:a16="http://schemas.microsoft.com/office/drawing/2014/main" id="{1621A392-3642-42B9-BF4A-4F3770D7C7B3}"/>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BBCA / 25 Oct 2026</a:t>
            </a:r>
          </a:p>
        </p:txBody>
      </p:sp>
      <p:sp>
        <p:nvSpPr>
          <p:cNvPr id="3" name="">
            <a:extLst xmlns:a="http://schemas.openxmlformats.org/drawingml/2006/main">
              <a:ext uri="{FF2B5EF4-FFF2-40B4-BE49-F238E27FC236}">
                <a16:creationId xmlns:a16="http://schemas.microsoft.com/office/drawing/2014/main" id="{F5E64E53-1696-4DF0-B5B5-B814DA38081F}"/>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7</a:t>
            </a:r>
          </a:p>
        </p:txBody>
      </p:sp>
      <p:sp>
        <p:nvSpPr>
          <p:cNvPr id="4" name="">
            <a:extLst xmlns:a="http://schemas.openxmlformats.org/drawingml/2006/main">
              <a:ext uri="{FF2B5EF4-FFF2-40B4-BE49-F238E27FC236}">
                <a16:creationId xmlns:a16="http://schemas.microsoft.com/office/drawing/2014/main" id="{D185DA7A-B212-4887-9F29-7E5EAA082746}"/>
              </a:ext>
            </a:extLst>
          </p:cNvPr>
          <p:cNvSpPr>
            <a:spLocks xmlns:a="http://schemas.openxmlformats.org/drawingml/2006/main" noGrp="1"/>
          </p:cNvSpPr>
          <p:nvPr/>
        </p:nvSpPr>
        <p:spPr>
          <a:xfrm xmlns:a="http://schemas.openxmlformats.org/drawingml/2006/main">
            <a:off x="609600" y="2019300"/>
            <a:ext cx="857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550" b="1">
                <a:solidFill>
                  <a:srgbClr val="1C303B"/>
                </a:solidFill>
                <a:latin typeface="Arial"/>
                <a:ea typeface="Arial"/>
                <a:cs typeface="Arial"/>
              </a:defRPr>
            </a:defPPr>
            <a:lvl1pPr>
              <a:defRPr sz="5550" b="1">
                <a:solidFill>
                  <a:srgbClr val="1C303B"/>
                </a:solidFill>
                <a:latin typeface="Arial"/>
                <a:ea typeface="Arial"/>
                <a:cs typeface="Arial"/>
              </a:defRPr>
            </a:lvl1pPr>
            <a:lvl2pPr>
              <a:defRPr sz="5550" b="1">
                <a:solidFill>
                  <a:srgbClr val="1C303B"/>
                </a:solidFill>
                <a:latin typeface="Arial"/>
                <a:ea typeface="Arial"/>
                <a:cs typeface="Arial"/>
              </a:defRPr>
            </a:lvl2pPr>
            <a:lvl3pPr>
              <a:defRPr sz="5550" b="1">
                <a:solidFill>
                  <a:srgbClr val="1C303B"/>
                </a:solidFill>
                <a:latin typeface="Arial"/>
                <a:ea typeface="Arial"/>
                <a:cs typeface="Arial"/>
              </a:defRPr>
            </a:lvl3pPr>
            <a:lvl4pPr>
              <a:defRPr sz="5550" b="1">
                <a:solidFill>
                  <a:srgbClr val="1C303B"/>
                </a:solidFill>
                <a:latin typeface="Arial"/>
                <a:ea typeface="Arial"/>
                <a:cs typeface="Arial"/>
              </a:defRPr>
            </a:lvl4pPr>
            <a:lvl5pPr>
              <a:defRPr sz="5550" b="1">
                <a:solidFill>
                  <a:srgbClr val="1C303B"/>
                </a:solidFill>
                <a:latin typeface="Arial"/>
                <a:ea typeface="Arial"/>
                <a:cs typeface="Arial"/>
              </a:defRPr>
            </a:lvl5pPr>
            <a:lvl6pPr>
              <a:defRPr sz="5550" b="1">
                <a:solidFill>
                  <a:srgbClr val="1C303B"/>
                </a:solidFill>
                <a:latin typeface="Arial"/>
                <a:ea typeface="Arial"/>
                <a:cs typeface="Arial"/>
              </a:defRPr>
            </a:lvl6pPr>
            <a:lvl7pPr>
              <a:defRPr sz="5550" b="1">
                <a:solidFill>
                  <a:srgbClr val="1C303B"/>
                </a:solidFill>
                <a:latin typeface="Arial"/>
                <a:ea typeface="Arial"/>
                <a:cs typeface="Arial"/>
              </a:defRPr>
            </a:lvl7pPr>
            <a:lvl8pPr>
              <a:defRPr sz="5550" b="1">
                <a:solidFill>
                  <a:srgbClr val="1C303B"/>
                </a:solidFill>
                <a:latin typeface="Arial"/>
                <a:ea typeface="Arial"/>
                <a:cs typeface="Arial"/>
              </a:defRPr>
            </a:lvl8pPr>
            <a:lvl9pPr>
              <a:defRPr sz="5550" b="1">
                <a:solidFill>
                  <a:srgbClr val="1C303B"/>
                </a:solidFill>
                <a:latin typeface="Arial"/>
                <a:ea typeface="Arial"/>
                <a:cs typeface="Arial"/>
              </a:defRPr>
            </a:lvl9pPr>
          </a:lstStyle>
          <a:p xmlns:a="http://schemas.openxmlformats.org/drawingml/2006/main">
            <a:pPr>
              <a:defRPr sz="5550" b="1">
                <a:solidFill>
                  <a:srgbClr val="1C303B"/>
                </a:solidFill>
                <a:latin typeface="Arial"/>
                <a:ea typeface="Arial"/>
                <a:cs typeface="Arial"/>
              </a:defRPr>
            </a:pPr>
            <a:r>
              <a:rPr sz="5550" b="1">
                <a:solidFill>
                  <a:srgbClr val="1C303B"/>
                </a:solidFill>
                <a:latin typeface="Arial"/>
                <a:ea typeface="Arial"/>
                <a:cs typeface="Arial"/>
              </a:rPr>
              <a:t>Rp 5,025</a:t>
            </a:r>
          </a:p>
        </p:txBody>
      </p:sp>
      <p:sp>
        <p:nvSpPr>
          <p:cNvPr id="5" name="">
            <a:extLst xmlns:a="http://schemas.openxmlformats.org/drawingml/2006/main">
              <a:ext uri="{FF2B5EF4-FFF2-40B4-BE49-F238E27FC236}">
                <a16:creationId xmlns:a16="http://schemas.microsoft.com/office/drawing/2014/main" id="{1613FD38-F9EB-4C55-B5A5-C7C457B1B033}"/>
              </a:ext>
            </a:extLst>
          </p:cNvPr>
          <p:cNvSpPr>
            <a:spLocks xmlns:a="http://schemas.openxmlformats.org/drawingml/2006/main" noGrp="1"/>
          </p:cNvSpPr>
          <p:nvPr/>
        </p:nvSpPr>
        <p:spPr>
          <a:xfrm xmlns:a="http://schemas.openxmlformats.org/drawingml/2006/main">
            <a:off x="628650" y="30003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977"/>
                </a:solidFill>
                <a:latin typeface="Arial"/>
                <a:ea typeface="Arial"/>
                <a:cs typeface="Arial"/>
              </a:defRPr>
            </a:defPPr>
            <a:lvl1pPr>
              <a:defRPr sz="1950" b="0">
                <a:solidFill>
                  <a:srgbClr val="526977"/>
                </a:solidFill>
                <a:latin typeface="Arial"/>
                <a:ea typeface="Arial"/>
                <a:cs typeface="Arial"/>
              </a:defRPr>
            </a:lvl1pPr>
            <a:lvl2pPr>
              <a:defRPr sz="1950" b="0">
                <a:solidFill>
                  <a:srgbClr val="526977"/>
                </a:solidFill>
                <a:latin typeface="Arial"/>
                <a:ea typeface="Arial"/>
                <a:cs typeface="Arial"/>
              </a:defRPr>
            </a:lvl2pPr>
            <a:lvl3pPr>
              <a:defRPr sz="1950" b="0">
                <a:solidFill>
                  <a:srgbClr val="526977"/>
                </a:solidFill>
                <a:latin typeface="Arial"/>
                <a:ea typeface="Arial"/>
                <a:cs typeface="Arial"/>
              </a:defRPr>
            </a:lvl3pPr>
            <a:lvl4pPr>
              <a:defRPr sz="1950" b="0">
                <a:solidFill>
                  <a:srgbClr val="526977"/>
                </a:solidFill>
                <a:latin typeface="Arial"/>
                <a:ea typeface="Arial"/>
                <a:cs typeface="Arial"/>
              </a:defRPr>
            </a:lvl4pPr>
            <a:lvl5pPr>
              <a:defRPr sz="1950" b="0">
                <a:solidFill>
                  <a:srgbClr val="526977"/>
                </a:solidFill>
                <a:latin typeface="Arial"/>
                <a:ea typeface="Arial"/>
                <a:cs typeface="Arial"/>
              </a:defRPr>
            </a:lvl5pPr>
            <a:lvl6pPr>
              <a:defRPr sz="1950" b="0">
                <a:solidFill>
                  <a:srgbClr val="526977"/>
                </a:solidFill>
                <a:latin typeface="Arial"/>
                <a:ea typeface="Arial"/>
                <a:cs typeface="Arial"/>
              </a:defRPr>
            </a:lvl6pPr>
            <a:lvl7pPr>
              <a:defRPr sz="1950" b="0">
                <a:solidFill>
                  <a:srgbClr val="526977"/>
                </a:solidFill>
                <a:latin typeface="Arial"/>
                <a:ea typeface="Arial"/>
                <a:cs typeface="Arial"/>
              </a:defRPr>
            </a:lvl7pPr>
            <a:lvl8pPr>
              <a:defRPr sz="1950" b="0">
                <a:solidFill>
                  <a:srgbClr val="526977"/>
                </a:solidFill>
                <a:latin typeface="Arial"/>
                <a:ea typeface="Arial"/>
                <a:cs typeface="Arial"/>
              </a:defRPr>
            </a:lvl8pPr>
            <a:lvl9pPr>
              <a:defRPr sz="1950" b="0">
                <a:solidFill>
                  <a:srgbClr val="526977"/>
                </a:solidFill>
                <a:latin typeface="Arial"/>
                <a:ea typeface="Arial"/>
                <a:cs typeface="Arial"/>
              </a:defRPr>
            </a:lvl9pPr>
          </a:lstStyle>
          <a:p xmlns:a="http://schemas.openxmlformats.org/drawingml/2006/main">
            <a:pPr>
              <a:defRPr sz="1950" b="0">
                <a:solidFill>
                  <a:srgbClr val="526977"/>
                </a:solidFill>
                <a:latin typeface="Arial"/>
                <a:ea typeface="Arial"/>
                <a:cs typeface="Arial"/>
              </a:defRPr>
            </a:pPr>
            <a:r>
              <a:rPr sz="1950" b="0">
                <a:solidFill>
                  <a:srgbClr val="526977"/>
                </a:solidFill>
                <a:latin typeface="Arial"/>
                <a:ea typeface="Arial"/>
                <a:cs typeface="Arial"/>
              </a:rPr>
              <a:t>Observed close per share / 2026-10-23</a:t>
            </a:r>
          </a:p>
        </p:txBody>
      </p:sp>
      <p:graphicFrame>
        <p:nvGraphicFramePr>
          <p:cNvPr id="6" name="">
            <a:extLst xmlns:a="http://schemas.openxmlformats.org/drawingml/2006/main">
              <a:ext uri="{FF2B5EF4-FFF2-40B4-BE49-F238E27FC236}">
                <a16:creationId xmlns:a16="http://schemas.microsoft.com/office/drawing/2014/main" id="{9205E16C-F601-4109-A72C-9FAE2C681429}"/>
              </a:ext>
            </a:extLst>
          </p:cNvPr>
          <p:cNvGraphicFramePr/>
          <p:nvPr/>
        </p:nvGraphicFramePr>
        <p:xfrm>
          <a:off xmlns:a="http://schemas.openxmlformats.org/drawingml/2006/main" x="609600" y="3667125"/>
          <a:ext xmlns:a="http://schemas.openxmlformats.org/drawingml/2006/main" cx="10972800" cy="2190750"/>
        </p:xfrm>
        <a:graphic xmlns:a="http://schemas.openxmlformats.org/drawingml/2006/main">
          <a:graphicData uri="http://schemas.openxmlformats.org/drawingml/2006/table">
            <a:tbl>
              <a:tblPr/>
              <a:tblGrid>
                <a:gridCol w="5486400"/>
                <a:gridCol w="5486400"/>
              </a:tblGrid>
              <a:tr h="438150">
                <a:tc>
                  <a:txBody>
                    <a:bodyPr/>
                    <a:lstStyle/>
                    <a:p>
                      <a:r>
                        <a:rPr sz="1800" b="1">
                          <a:solidFill>
                            <a:srgbClr val="FFFFFF"/>
                          </a:solidFill>
                          <a:latin typeface="Arial"/>
                          <a:ea typeface="Arial"/>
                          <a:cs typeface="Arial"/>
                        </a:rPr>
                        <a:t>Measure</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800" b="1">
                          <a:solidFill>
                            <a:srgbClr val="FFFFFF"/>
                          </a:solidFill>
                          <a:latin typeface="Arial"/>
                          <a:ea typeface="Arial"/>
                          <a:cs typeface="Arial"/>
                        </a:rPr>
                        <a:t>Value</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438150">
                <a:tc>
                  <a:txBody>
                    <a:bodyPr/>
                    <a:lstStyle/>
                    <a:p>
                      <a:r>
                        <a:rPr sz="1800" b="0">
                          <a:solidFill>
                            <a:srgbClr val="1C303B"/>
                          </a:solidFill>
                          <a:latin typeface="Arial"/>
                          <a:ea typeface="Arial"/>
                          <a:cs typeface="Arial"/>
                        </a:rPr>
                        <a:t>Shares used</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122.0423 billion</a:t>
                      </a:r>
                    </a:p>
                  </a:txBody>
                  <a:tcPr marL="91440" marR="91440" marT="45720" marB="45720">
                    <a:lnR w="9525">
                      <a:solidFill>
                        <a:srgbClr val="DEE7E9"/>
                      </a:solidFill>
                      <a:prstDash val="solid"/>
                    </a:lnR>
                    <a:lnB w="9525">
                      <a:solidFill>
                        <a:srgbClr val="DEE7E9"/>
                      </a:solidFill>
                      <a:prstDash val="solid"/>
                    </a:lnB>
                    <a:solidFill>
                      <a:srgbClr val="EFF5F4"/>
                    </a:solidFill>
                  </a:tcPr>
                </a:tc>
              </a:tr>
              <a:tr h="438150">
                <a:tc>
                  <a:txBody>
                    <a:bodyPr/>
                    <a:lstStyle/>
                    <a:p>
                      <a:r>
                        <a:rPr sz="1800" b="0">
                          <a:solidFill>
                            <a:srgbClr val="1C303B"/>
                          </a:solidFill>
                          <a:latin typeface="Arial"/>
                          <a:ea typeface="Arial"/>
                          <a:cs typeface="Arial"/>
                        </a:rPr>
                        <a:t>Equity market capitalization</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800" b="0">
                          <a:solidFill>
                            <a:srgbClr val="1C303B"/>
                          </a:solidFill>
                          <a:latin typeface="Arial"/>
                          <a:ea typeface="Arial"/>
                          <a:cs typeface="Arial"/>
                        </a:rPr>
                        <a:t>Rp 613,263 billion</a:t>
                      </a:r>
                    </a:p>
                  </a:txBody>
                  <a:tcPr marL="91440" marR="91440" marT="45720" marB="45720">
                    <a:lnR w="9525">
                      <a:solidFill>
                        <a:srgbClr val="DEE7E9"/>
                      </a:solidFill>
                      <a:prstDash val="solid"/>
                    </a:lnR>
                    <a:lnB w="9525">
                      <a:solidFill>
                        <a:srgbClr val="DEE7E9"/>
                      </a:solidFill>
                      <a:prstDash val="solid"/>
                    </a:lnB>
                    <a:solidFill>
                      <a:srgbClr val="FCFDFC"/>
                    </a:solidFill>
                  </a:tcPr>
                </a:tc>
              </a:tr>
              <a:tr h="438150">
                <a:tc>
                  <a:txBody>
                    <a:bodyPr/>
                    <a:lstStyle/>
                    <a:p>
                      <a:r>
                        <a:rPr sz="1800" b="0">
                          <a:solidFill>
                            <a:srgbClr val="1C303B"/>
                          </a:solidFill>
                          <a:latin typeface="Arial"/>
                          <a:ea typeface="Arial"/>
                          <a:cs typeface="Arial"/>
                        </a:rPr>
                        <a:t>Current parent book equity</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Rp 270,438 billion</a:t>
                      </a:r>
                    </a:p>
                  </a:txBody>
                  <a:tcPr marL="91440" marR="91440" marT="45720" marB="45720">
                    <a:lnR w="9525">
                      <a:solidFill>
                        <a:srgbClr val="DEE7E9"/>
                      </a:solidFill>
                      <a:prstDash val="solid"/>
                    </a:lnR>
                    <a:lnB w="9525">
                      <a:solidFill>
                        <a:srgbClr val="DEE7E9"/>
                      </a:solidFill>
                      <a:prstDash val="solid"/>
                    </a:lnB>
                    <a:solidFill>
                      <a:srgbClr val="EFF5F4"/>
                    </a:solidFill>
                  </a:tcPr>
                </a:tc>
              </a:tr>
              <a:tr h="438150">
                <a:tc>
                  <a:txBody>
                    <a:bodyPr/>
                    <a:lstStyle/>
                    <a:p>
                      <a:r>
                        <a:rPr sz="1800" b="0">
                          <a:solidFill>
                            <a:srgbClr val="1C303B"/>
                          </a:solidFill>
                          <a:latin typeface="Arial"/>
                          <a:ea typeface="Arial"/>
                          <a:cs typeface="Arial"/>
                        </a:rPr>
                        <a:t>Observed P/B</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800" b="0">
                          <a:solidFill>
                            <a:srgbClr val="1C303B"/>
                          </a:solidFill>
                          <a:latin typeface="Arial"/>
                          <a:ea typeface="Arial"/>
                          <a:cs typeface="Arial"/>
                        </a:rPr>
                        <a:t>2.27x</a:t>
                      </a:r>
                    </a:p>
                  </a:txBody>
                  <a:tcPr marL="91440" marR="91440" marT="45720" marB="45720">
                    <a:lnR w="9525">
                      <a:solidFill>
                        <a:srgbClr val="DEE7E9"/>
                      </a:solidFill>
                      <a:prstDash val="solid"/>
                    </a:lnR>
                    <a:lnB w="9525">
                      <a:solidFill>
                        <a:srgbClr val="DEE7E9"/>
                      </a:solidFill>
                      <a:prstDash val="solid"/>
                    </a:lnB>
                    <a:solidFill>
                      <a:srgbClr val="FCFDFC"/>
                    </a:solidFill>
                  </a:tcPr>
                </a:tc>
              </a:tr>
            </a:tbl>
          </a:graphicData>
        </a:graphic>
      </p:graphicFrame>
    </p:spTree>
    <p:extLst>
      <p:ext uri="{BB962C8B-B14F-4D97-AF65-F5344CB8AC3E}">
        <p14:creationId xmlns:p14="http://schemas.microsoft.com/office/powerpoint/2010/main" val="1802272276"/>
      </p:ext>
    </p:extLst>
  </p:cSld>
</p:sld>
</file>

<file path=ppt/slides/slide8.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7E3122-21BF-4478-8FB0-AB2960CE1F9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Discounted equity cash flow</a:t>
            </a:r>
          </a:p>
        </p:txBody>
      </p:sp>
      <p:sp>
        <p:nvSpPr>
          <p:cNvPr id="2" name="">
            <a:extLst xmlns:a="http://schemas.openxmlformats.org/drawingml/2006/main">
              <a:ext uri="{FF2B5EF4-FFF2-40B4-BE49-F238E27FC236}">
                <a16:creationId xmlns:a16="http://schemas.microsoft.com/office/drawing/2014/main" id="{6B432296-D5D6-4AA5-9E02-39AC2B2023E0}"/>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BBCA / 25 Oct 2026</a:t>
            </a:r>
          </a:p>
        </p:txBody>
      </p:sp>
      <p:sp>
        <p:nvSpPr>
          <p:cNvPr id="3" name="">
            <a:extLst xmlns:a="http://schemas.openxmlformats.org/drawingml/2006/main">
              <a:ext uri="{FF2B5EF4-FFF2-40B4-BE49-F238E27FC236}">
                <a16:creationId xmlns:a16="http://schemas.microsoft.com/office/drawing/2014/main" id="{2FB62FBD-4599-42F8-981D-F70FD9D19320}"/>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8</a:t>
            </a:r>
          </a:p>
        </p:txBody>
      </p:sp>
      <p:sp>
        <p:nvSpPr>
          <p:cNvPr id="4" name="">
            <a:extLst xmlns:a="http://schemas.openxmlformats.org/drawingml/2006/main">
              <a:ext uri="{FF2B5EF4-FFF2-40B4-BE49-F238E27FC236}">
                <a16:creationId xmlns:a16="http://schemas.microsoft.com/office/drawing/2014/main" id="{A82F014C-F411-4AED-84A3-8A36F8CD89D7}"/>
              </a:ext>
            </a:extLst>
          </p:cNvPr>
          <p:cNvSpPr>
            <a:spLocks xmlns:a="http://schemas.openxmlformats.org/drawingml/2006/main" noGrp="1"/>
          </p:cNvSpPr>
          <p:nvPr/>
        </p:nvSpPr>
        <p:spPr>
          <a:xfrm xmlns:a="http://schemas.openxmlformats.org/drawingml/2006/main">
            <a:off x="609600" y="1952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C303B"/>
                </a:solidFill>
                <a:latin typeface="Arial"/>
                <a:ea typeface="Arial"/>
                <a:cs typeface="Arial"/>
              </a:defRPr>
            </a:defPPr>
            <a:lvl1pPr>
              <a:defRPr sz="2175" b="1">
                <a:solidFill>
                  <a:srgbClr val="1C303B"/>
                </a:solidFill>
                <a:latin typeface="Arial"/>
                <a:ea typeface="Arial"/>
                <a:cs typeface="Arial"/>
              </a:defRPr>
            </a:lvl1pPr>
            <a:lvl2pPr>
              <a:defRPr sz="2175" b="1">
                <a:solidFill>
                  <a:srgbClr val="1C303B"/>
                </a:solidFill>
                <a:latin typeface="Arial"/>
                <a:ea typeface="Arial"/>
                <a:cs typeface="Arial"/>
              </a:defRPr>
            </a:lvl2pPr>
            <a:lvl3pPr>
              <a:defRPr sz="2175" b="1">
                <a:solidFill>
                  <a:srgbClr val="1C303B"/>
                </a:solidFill>
                <a:latin typeface="Arial"/>
                <a:ea typeface="Arial"/>
                <a:cs typeface="Arial"/>
              </a:defRPr>
            </a:lvl3pPr>
            <a:lvl4pPr>
              <a:defRPr sz="2175" b="1">
                <a:solidFill>
                  <a:srgbClr val="1C303B"/>
                </a:solidFill>
                <a:latin typeface="Arial"/>
                <a:ea typeface="Arial"/>
                <a:cs typeface="Arial"/>
              </a:defRPr>
            </a:lvl4pPr>
            <a:lvl5pPr>
              <a:defRPr sz="2175" b="1">
                <a:solidFill>
                  <a:srgbClr val="1C303B"/>
                </a:solidFill>
                <a:latin typeface="Arial"/>
                <a:ea typeface="Arial"/>
                <a:cs typeface="Arial"/>
              </a:defRPr>
            </a:lvl5pPr>
            <a:lvl6pPr>
              <a:defRPr sz="2175" b="1">
                <a:solidFill>
                  <a:srgbClr val="1C303B"/>
                </a:solidFill>
                <a:latin typeface="Arial"/>
                <a:ea typeface="Arial"/>
                <a:cs typeface="Arial"/>
              </a:defRPr>
            </a:lvl6pPr>
            <a:lvl7pPr>
              <a:defRPr sz="2175" b="1">
                <a:solidFill>
                  <a:srgbClr val="1C303B"/>
                </a:solidFill>
                <a:latin typeface="Arial"/>
                <a:ea typeface="Arial"/>
                <a:cs typeface="Arial"/>
              </a:defRPr>
            </a:lvl7pPr>
            <a:lvl8pPr>
              <a:defRPr sz="2175" b="1">
                <a:solidFill>
                  <a:srgbClr val="1C303B"/>
                </a:solidFill>
                <a:latin typeface="Arial"/>
                <a:ea typeface="Arial"/>
                <a:cs typeface="Arial"/>
              </a:defRPr>
            </a:lvl8pPr>
            <a:lvl9pPr>
              <a:defRPr sz="2175" b="1">
                <a:solidFill>
                  <a:srgbClr val="1C303B"/>
                </a:solidFill>
                <a:latin typeface="Arial"/>
                <a:ea typeface="Arial"/>
                <a:cs typeface="Arial"/>
              </a:defRPr>
            </a:lvl9pPr>
          </a:lstStyle>
          <a:p xmlns:a="http://schemas.openxmlformats.org/drawingml/2006/main">
            <a:pPr>
              <a:defRPr sz="2175" b="1">
                <a:solidFill>
                  <a:srgbClr val="1C303B"/>
                </a:solidFill>
                <a:latin typeface="Arial"/>
                <a:ea typeface="Arial"/>
                <a:cs typeface="Arial"/>
              </a:defRPr>
            </a:pPr>
            <a:r>
              <a:rPr sz="2175" b="1">
                <a:solidFill>
                  <a:srgbClr val="1C303B"/>
                </a:solidFill>
                <a:latin typeface="Arial"/>
                <a:ea typeface="Arial"/>
                <a:cs typeface="Arial"/>
              </a:rPr>
              <a:t>Dividend discount model</a:t>
            </a:r>
          </a:p>
        </p:txBody>
      </p:sp>
      <p:sp>
        <p:nvSpPr>
          <p:cNvPr id="5" name="">
            <a:extLst xmlns:a="http://schemas.openxmlformats.org/drawingml/2006/main">
              <a:ext uri="{FF2B5EF4-FFF2-40B4-BE49-F238E27FC236}">
                <a16:creationId xmlns:a16="http://schemas.microsoft.com/office/drawing/2014/main" id="{AD52F685-7515-4270-8D36-82AD118DEDC0}"/>
              </a:ext>
            </a:extLst>
          </p:cNvPr>
          <p:cNvSpPr>
            <a:spLocks xmlns:a="http://schemas.openxmlformats.org/drawingml/2006/main" noGrp="1"/>
          </p:cNvSpPr>
          <p:nvPr/>
        </p:nvSpPr>
        <p:spPr>
          <a:xfrm xmlns:a="http://schemas.openxmlformats.org/drawingml/2006/main">
            <a:off x="609600" y="24765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Cost of equity = risk-free rate + beta x total equity premium. Present value includes five rolling years of dividends and a sustainable terminal distribution.</a:t>
            </a:r>
          </a:p>
        </p:txBody>
      </p:sp>
      <p:sp>
        <p:nvSpPr>
          <p:cNvPr id="6" name="">
            <a:extLst xmlns:a="http://schemas.openxmlformats.org/drawingml/2006/main">
              <a:ext uri="{FF2B5EF4-FFF2-40B4-BE49-F238E27FC236}">
                <a16:creationId xmlns:a16="http://schemas.microsoft.com/office/drawing/2014/main" id="{7948B3BA-D9AD-4171-945D-7DED686B1AE8}"/>
              </a:ext>
            </a:extLst>
          </p:cNvPr>
          <p:cNvSpPr>
            <a:spLocks xmlns:a="http://schemas.openxmlformats.org/drawingml/2006/main" noGrp="1"/>
          </p:cNvSpPr>
          <p:nvPr/>
        </p:nvSpPr>
        <p:spPr>
          <a:xfrm xmlns:a="http://schemas.openxmlformats.org/drawingml/2006/main">
            <a:off x="609600" y="3810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C303B"/>
                </a:solidFill>
                <a:latin typeface="Arial"/>
                <a:ea typeface="Arial"/>
                <a:cs typeface="Arial"/>
              </a:defRPr>
            </a:defPPr>
            <a:lvl1pPr>
              <a:defRPr sz="2175" b="1">
                <a:solidFill>
                  <a:srgbClr val="1C303B"/>
                </a:solidFill>
                <a:latin typeface="Arial"/>
                <a:ea typeface="Arial"/>
                <a:cs typeface="Arial"/>
              </a:defRPr>
            </a:lvl1pPr>
            <a:lvl2pPr>
              <a:defRPr sz="2175" b="1">
                <a:solidFill>
                  <a:srgbClr val="1C303B"/>
                </a:solidFill>
                <a:latin typeface="Arial"/>
                <a:ea typeface="Arial"/>
                <a:cs typeface="Arial"/>
              </a:defRPr>
            </a:lvl2pPr>
            <a:lvl3pPr>
              <a:defRPr sz="2175" b="1">
                <a:solidFill>
                  <a:srgbClr val="1C303B"/>
                </a:solidFill>
                <a:latin typeface="Arial"/>
                <a:ea typeface="Arial"/>
                <a:cs typeface="Arial"/>
              </a:defRPr>
            </a:lvl3pPr>
            <a:lvl4pPr>
              <a:defRPr sz="2175" b="1">
                <a:solidFill>
                  <a:srgbClr val="1C303B"/>
                </a:solidFill>
                <a:latin typeface="Arial"/>
                <a:ea typeface="Arial"/>
                <a:cs typeface="Arial"/>
              </a:defRPr>
            </a:lvl4pPr>
            <a:lvl5pPr>
              <a:defRPr sz="2175" b="1">
                <a:solidFill>
                  <a:srgbClr val="1C303B"/>
                </a:solidFill>
                <a:latin typeface="Arial"/>
                <a:ea typeface="Arial"/>
                <a:cs typeface="Arial"/>
              </a:defRPr>
            </a:lvl5pPr>
            <a:lvl6pPr>
              <a:defRPr sz="2175" b="1">
                <a:solidFill>
                  <a:srgbClr val="1C303B"/>
                </a:solidFill>
                <a:latin typeface="Arial"/>
                <a:ea typeface="Arial"/>
                <a:cs typeface="Arial"/>
              </a:defRPr>
            </a:lvl6pPr>
            <a:lvl7pPr>
              <a:defRPr sz="2175" b="1">
                <a:solidFill>
                  <a:srgbClr val="1C303B"/>
                </a:solidFill>
                <a:latin typeface="Arial"/>
                <a:ea typeface="Arial"/>
                <a:cs typeface="Arial"/>
              </a:defRPr>
            </a:lvl7pPr>
            <a:lvl8pPr>
              <a:defRPr sz="2175" b="1">
                <a:solidFill>
                  <a:srgbClr val="1C303B"/>
                </a:solidFill>
                <a:latin typeface="Arial"/>
                <a:ea typeface="Arial"/>
                <a:cs typeface="Arial"/>
              </a:defRPr>
            </a:lvl8pPr>
            <a:lvl9pPr>
              <a:defRPr sz="2175" b="1">
                <a:solidFill>
                  <a:srgbClr val="1C303B"/>
                </a:solidFill>
                <a:latin typeface="Arial"/>
                <a:ea typeface="Arial"/>
                <a:cs typeface="Arial"/>
              </a:defRPr>
            </a:lvl9pPr>
          </a:lstStyle>
          <a:p xmlns:a="http://schemas.openxmlformats.org/drawingml/2006/main">
            <a:pPr>
              <a:defRPr sz="2175" b="1">
                <a:solidFill>
                  <a:srgbClr val="1C303B"/>
                </a:solidFill>
                <a:latin typeface="Arial"/>
                <a:ea typeface="Arial"/>
                <a:cs typeface="Arial"/>
              </a:defRPr>
            </a:pPr>
            <a:r>
              <a:rPr sz="2175" b="1">
                <a:solidFill>
                  <a:srgbClr val="1C303B"/>
                </a:solidFill>
                <a:latin typeface="Arial"/>
                <a:ea typeface="Arial"/>
                <a:cs typeface="Arial"/>
              </a:rPr>
              <a:t>Timing and bank-specific constraints</a:t>
            </a:r>
          </a:p>
        </p:txBody>
      </p:sp>
      <p:sp>
        <p:nvSpPr>
          <p:cNvPr id="7" name="">
            <a:extLst xmlns:a="http://schemas.openxmlformats.org/drawingml/2006/main">
              <a:ext uri="{FF2B5EF4-FFF2-40B4-BE49-F238E27FC236}">
                <a16:creationId xmlns:a16="http://schemas.microsoft.com/office/drawing/2014/main" id="{F5C830E6-D505-4301-9C3F-35EDDB5A7E31}"/>
              </a:ext>
            </a:extLst>
          </p:cNvPr>
          <p:cNvSpPr>
            <a:spLocks xmlns:a="http://schemas.openxmlformats.org/drawingml/2006/main" noGrp="1"/>
          </p:cNvSpPr>
          <p:nvPr/>
        </p:nvSpPr>
        <p:spPr>
          <a:xfrm xmlns:a="http://schemas.openxmlformats.org/drawingml/2006/main">
            <a:off x="609600" y="43338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Rolling anniversary periods begin at the valuation date. DDM uses earnings and payout, with no corporate net-debt bridge. Capital capacity requires issuer-specific common-capital/RWA assumptions.</a:t>
            </a:r>
          </a:p>
        </p:txBody>
      </p:sp>
    </p:spTree>
    <p:extLst>
      <p:ext uri="{BB962C8B-B14F-4D97-AF65-F5344CB8AC3E}">
        <p14:creationId xmlns:p14="http://schemas.microsoft.com/office/powerpoint/2010/main" val="438566335"/>
      </p:ext>
    </p:extLst>
  </p:cSld>
</p:sld>
</file>

<file path=ppt/slides/slide9.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8ADE8CC-3DCE-4884-B6FB-BA45ACADFBB0}"/>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Forecast and DDM reconciliation</a:t>
            </a:r>
          </a:p>
        </p:txBody>
      </p:sp>
      <p:sp>
        <p:nvSpPr>
          <p:cNvPr id="2" name="">
            <a:extLst xmlns:a="http://schemas.openxmlformats.org/drawingml/2006/main">
              <a:ext uri="{FF2B5EF4-FFF2-40B4-BE49-F238E27FC236}">
                <a16:creationId xmlns:a16="http://schemas.microsoft.com/office/drawing/2014/main" id="{9775CF66-219D-4446-AADF-F19C8168BDCA}"/>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BBCA / 25 Oct 2026</a:t>
            </a:r>
          </a:p>
        </p:txBody>
      </p:sp>
      <p:sp>
        <p:nvSpPr>
          <p:cNvPr id="3" name="">
            <a:extLst xmlns:a="http://schemas.openxmlformats.org/drawingml/2006/main">
              <a:ext uri="{FF2B5EF4-FFF2-40B4-BE49-F238E27FC236}">
                <a16:creationId xmlns:a16="http://schemas.microsoft.com/office/drawing/2014/main" id="{56C1AFBC-EE10-4395-91F9-389C24F836A3}"/>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9</a:t>
            </a:r>
          </a:p>
        </p:txBody>
      </p:sp>
      <p:graphicFrame>
        <p:nvGraphicFramePr>
          <p:cNvPr id="4" name="">
            <a:extLst xmlns:a="http://schemas.openxmlformats.org/drawingml/2006/main">
              <a:ext uri="{FF2B5EF4-FFF2-40B4-BE49-F238E27FC236}">
                <a16:creationId xmlns:a16="http://schemas.microsoft.com/office/drawing/2014/main" id="{81802581-51F1-4A8D-961F-8343BB7399D3}"/>
              </a:ext>
            </a:extLst>
          </p:cNvPr>
          <p:cNvGraphicFramePr/>
          <p:nvPr/>
        </p:nvGraphicFramePr>
        <p:xfrm>
          <a:off xmlns:a="http://schemas.openxmlformats.org/drawingml/2006/main" x="609600" y="1952625"/>
          <a:ext xmlns:a="http://schemas.openxmlformats.org/drawingml/2006/main" cx="10972800" cy="2476500"/>
        </p:xfrm>
        <a:graphic xmlns:a="http://schemas.openxmlformats.org/drawingml/2006/main">
          <a:graphicData uri="http://schemas.openxmlformats.org/drawingml/2006/table">
            <a:tbl>
              <a:tblPr/>
              <a:tblGrid>
                <a:gridCol w="1828800"/>
                <a:gridCol w="1828800"/>
                <a:gridCol w="1828800"/>
                <a:gridCol w="1828800"/>
                <a:gridCol w="1828800"/>
                <a:gridCol w="1828800"/>
              </a:tblGrid>
              <a:tr h="619125">
                <a:tc>
                  <a:txBody>
                    <a:bodyPr/>
                    <a:lstStyle/>
                    <a:p>
                      <a:r>
                        <a:rPr sz="1575" b="1">
                          <a:solidFill>
                            <a:srgbClr val="FFFFFF"/>
                          </a:solidFill>
                          <a:latin typeface="Arial"/>
                          <a:ea typeface="Arial"/>
                          <a:cs typeface="Arial"/>
                        </a:rPr>
                        <a:t>IDR bn</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Y1</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Y2</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Y3</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Y4</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Y5</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619125">
                <a:tc>
                  <a:txBody>
                    <a:bodyPr/>
                    <a:lstStyle/>
                    <a:p>
                      <a:r>
                        <a:rPr sz="1575" b="0">
                          <a:solidFill>
                            <a:srgbClr val="1C303B"/>
                          </a:solidFill>
                          <a:latin typeface="Arial"/>
                          <a:ea typeface="Arial"/>
                          <a:cs typeface="Arial"/>
                        </a:rPr>
                        <a:t>Net income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61,539</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65,231</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69,145</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73,294</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77,691</a:t>
                      </a:r>
                    </a:p>
                  </a:txBody>
                  <a:tcPr marL="91440" marR="91440" marT="45720" marB="45720">
                    <a:lnR w="9525">
                      <a:solidFill>
                        <a:srgbClr val="DEE7E9"/>
                      </a:solidFill>
                      <a:prstDash val="solid"/>
                    </a:lnR>
                    <a:lnB w="9525">
                      <a:solidFill>
                        <a:srgbClr val="DEE7E9"/>
                      </a:solidFill>
                      <a:prstDash val="solid"/>
                    </a:lnB>
                    <a:solidFill>
                      <a:srgbClr val="EFF5F4"/>
                    </a:solidFill>
                  </a:tcPr>
                </a:tc>
              </a:tr>
              <a:tr h="619125">
                <a:tc>
                  <a:txBody>
                    <a:bodyPr/>
                    <a:lstStyle/>
                    <a:p>
                      <a:r>
                        <a:rPr sz="1575" b="0">
                          <a:solidFill>
                            <a:srgbClr val="1C303B"/>
                          </a:solidFill>
                          <a:latin typeface="Arial"/>
                          <a:ea typeface="Arial"/>
                          <a:cs typeface="Arial"/>
                        </a:rPr>
                        <a:t>Dividends</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40,000</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42,400</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44,944</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47,641</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50,499</a:t>
                      </a:r>
                    </a:p>
                  </a:txBody>
                  <a:tcPr marL="91440" marR="91440" marT="45720" marB="45720">
                    <a:lnR w="9525">
                      <a:solidFill>
                        <a:srgbClr val="DEE7E9"/>
                      </a:solidFill>
                      <a:prstDash val="solid"/>
                    </a:lnR>
                    <a:lnB w="9525">
                      <a:solidFill>
                        <a:srgbClr val="DEE7E9"/>
                      </a:solidFill>
                      <a:prstDash val="solid"/>
                    </a:lnB>
                    <a:solidFill>
                      <a:srgbClr val="FCFDFC"/>
                    </a:solidFill>
                  </a:tcPr>
                </a:tc>
              </a:tr>
              <a:tr h="619125">
                <a:tc>
                  <a:txBody>
                    <a:bodyPr/>
                    <a:lstStyle/>
                    <a:p>
                      <a:r>
                        <a:rPr sz="1575" b="0">
                          <a:solidFill>
                            <a:srgbClr val="1C303B"/>
                          </a:solidFill>
                          <a:latin typeface="Arial"/>
                          <a:ea typeface="Arial"/>
                          <a:cs typeface="Arial"/>
                        </a:rPr>
                        <a:t>PV dividend</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35,603</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33,591</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31,692</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29,901</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28,211</a:t>
                      </a:r>
                    </a:p>
                  </a:txBody>
                  <a:tcPr marL="91440" marR="91440" marT="45720" marB="45720">
                    <a:lnR w="9525">
                      <a:solidFill>
                        <a:srgbClr val="DEE7E9"/>
                      </a:solidFill>
                      <a:prstDash val="solid"/>
                    </a:lnR>
                    <a:lnB w="9525">
                      <a:solidFill>
                        <a:srgbClr val="DEE7E9"/>
                      </a:solidFill>
                      <a:prstDash val="solid"/>
                    </a:lnB>
                    <a:solidFill>
                      <a:srgbClr val="EFF5F4"/>
                    </a:solidFill>
                  </a:tcPr>
                </a:tc>
              </a:tr>
            </a:tbl>
          </a:graphicData>
        </a:graphic>
      </p:graphicFrame>
      <p:sp>
        <p:nvSpPr>
          <p:cNvPr id="5" name="">
            <a:extLst xmlns:a="http://schemas.openxmlformats.org/drawingml/2006/main">
              <a:ext uri="{FF2B5EF4-FFF2-40B4-BE49-F238E27FC236}">
                <a16:creationId xmlns:a16="http://schemas.microsoft.com/office/drawing/2014/main" id="{D88FF902-A4DB-480F-A1E0-0D9168D85533}"/>
              </a:ext>
            </a:extLst>
          </p:cNvPr>
          <p:cNvSpPr>
            <a:spLocks xmlns:a="http://schemas.openxmlformats.org/drawingml/2006/main" noGrp="1"/>
          </p:cNvSpPr>
          <p:nvPr/>
        </p:nvSpPr>
        <p:spPr>
          <a:xfrm xmlns:a="http://schemas.openxmlformats.org/drawingml/2006/main">
            <a:off x="609600" y="48577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258362"/>
                </a:solidFill>
                <a:latin typeface="Arial"/>
                <a:ea typeface="Arial"/>
                <a:cs typeface="Arial"/>
              </a:defRPr>
            </a:defPPr>
            <a:lvl1pPr>
              <a:defRPr sz="2175" b="0">
                <a:solidFill>
                  <a:srgbClr val="258362"/>
                </a:solidFill>
                <a:latin typeface="Arial"/>
                <a:ea typeface="Arial"/>
                <a:cs typeface="Arial"/>
              </a:defRPr>
            </a:lvl1pPr>
            <a:lvl2pPr>
              <a:defRPr sz="2175" b="0">
                <a:solidFill>
                  <a:srgbClr val="258362"/>
                </a:solidFill>
                <a:latin typeface="Arial"/>
                <a:ea typeface="Arial"/>
                <a:cs typeface="Arial"/>
              </a:defRPr>
            </a:lvl2pPr>
            <a:lvl3pPr>
              <a:defRPr sz="2175" b="0">
                <a:solidFill>
                  <a:srgbClr val="258362"/>
                </a:solidFill>
                <a:latin typeface="Arial"/>
                <a:ea typeface="Arial"/>
                <a:cs typeface="Arial"/>
              </a:defRPr>
            </a:lvl3pPr>
            <a:lvl4pPr>
              <a:defRPr sz="2175" b="0">
                <a:solidFill>
                  <a:srgbClr val="258362"/>
                </a:solidFill>
                <a:latin typeface="Arial"/>
                <a:ea typeface="Arial"/>
                <a:cs typeface="Arial"/>
              </a:defRPr>
            </a:lvl4pPr>
            <a:lvl5pPr>
              <a:defRPr sz="2175" b="0">
                <a:solidFill>
                  <a:srgbClr val="258362"/>
                </a:solidFill>
                <a:latin typeface="Arial"/>
                <a:ea typeface="Arial"/>
                <a:cs typeface="Arial"/>
              </a:defRPr>
            </a:lvl5pPr>
            <a:lvl6pPr>
              <a:defRPr sz="2175" b="0">
                <a:solidFill>
                  <a:srgbClr val="258362"/>
                </a:solidFill>
                <a:latin typeface="Arial"/>
                <a:ea typeface="Arial"/>
                <a:cs typeface="Arial"/>
              </a:defRPr>
            </a:lvl6pPr>
            <a:lvl7pPr>
              <a:defRPr sz="2175" b="0">
                <a:solidFill>
                  <a:srgbClr val="258362"/>
                </a:solidFill>
                <a:latin typeface="Arial"/>
                <a:ea typeface="Arial"/>
                <a:cs typeface="Arial"/>
              </a:defRPr>
            </a:lvl7pPr>
            <a:lvl8pPr>
              <a:defRPr sz="2175" b="0">
                <a:solidFill>
                  <a:srgbClr val="258362"/>
                </a:solidFill>
                <a:latin typeface="Arial"/>
                <a:ea typeface="Arial"/>
                <a:cs typeface="Arial"/>
              </a:defRPr>
            </a:lvl8pPr>
            <a:lvl9pPr>
              <a:defRPr sz="2175" b="0">
                <a:solidFill>
                  <a:srgbClr val="258362"/>
                </a:solidFill>
                <a:latin typeface="Arial"/>
                <a:ea typeface="Arial"/>
                <a:cs typeface="Arial"/>
              </a:defRPr>
            </a:lvl9pPr>
          </a:lstStyle>
          <a:p xmlns:a="http://schemas.openxmlformats.org/drawingml/2006/main">
            <a:pPr>
              <a:defRPr sz="2175" b="0">
                <a:solidFill>
                  <a:srgbClr val="258362"/>
                </a:solidFill>
                <a:latin typeface="Arial"/>
                <a:ea typeface="Arial"/>
                <a:cs typeface="Arial"/>
              </a:defRPr>
            </a:pPr>
            <a:r>
              <a:rPr sz="2175" b="0">
                <a:solidFill>
                  <a:srgbClr val="258362"/>
                </a:solidFill>
                <a:latin typeface="Arial"/>
                <a:ea typeface="Arial"/>
                <a:cs typeface="Arial"/>
              </a:rPr>
              <a:t>Cost of equity 12.4% / Terminal growth 3.5%</a:t>
            </a:r>
          </a:p>
          <a:p xmlns:a="http://schemas.openxmlformats.org/drawingml/2006/main">
            <a:pPr>
              <a:defRPr sz="2175" b="0">
                <a:solidFill>
                  <a:srgbClr val="258362"/>
                </a:solidFill>
                <a:latin typeface="Arial"/>
                <a:ea typeface="Arial"/>
                <a:cs typeface="Arial"/>
              </a:defRPr>
            </a:pPr>
            <a:r>
              <a:rPr sz="2175" b="0">
                <a:solidFill>
                  <a:srgbClr val="258362"/>
                </a:solidFill>
                <a:latin typeface="Arial"/>
                <a:ea typeface="Arial"/>
                <a:cs typeface="Arial"/>
              </a:rPr>
              <a:t>DDM equity value 555,544 IDR bn / Rp 4,552 per share</a:t>
            </a:r>
          </a:p>
        </p:txBody>
      </p:sp>
    </p:spTree>
    <p:extLst>
      <p:ext uri="{BB962C8B-B14F-4D97-AF65-F5344CB8AC3E}">
        <p14:creationId xmlns:p14="http://schemas.microsoft.com/office/powerpoint/2010/main" val="815411843"/>
      </p:ext>
    </p:extLst>
  </p:cSld>
</p:sld>
</file>

<file path=ppt/slides/slide10.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B1AA2D2-98F9-4BB2-AD1D-68AF15486E19}"/>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Relative valuation</a:t>
            </a:r>
          </a:p>
        </p:txBody>
      </p:sp>
      <p:sp>
        <p:nvSpPr>
          <p:cNvPr id="2" name="">
            <a:extLst xmlns:a="http://schemas.openxmlformats.org/drawingml/2006/main">
              <a:ext uri="{FF2B5EF4-FFF2-40B4-BE49-F238E27FC236}">
                <a16:creationId xmlns:a16="http://schemas.microsoft.com/office/drawing/2014/main" id="{8B0B2082-E04B-4819-A512-F42E377B8E9B}"/>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BBCA / 25 Oct 2026</a:t>
            </a:r>
          </a:p>
        </p:txBody>
      </p:sp>
      <p:sp>
        <p:nvSpPr>
          <p:cNvPr id="3" name="">
            <a:extLst xmlns:a="http://schemas.openxmlformats.org/drawingml/2006/main">
              <a:ext uri="{FF2B5EF4-FFF2-40B4-BE49-F238E27FC236}">
                <a16:creationId xmlns:a16="http://schemas.microsoft.com/office/drawing/2014/main" id="{BDF6EE23-40DC-4F7A-8D58-63FA9BC66EDD}"/>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10</a:t>
            </a:r>
          </a:p>
        </p:txBody>
      </p:sp>
      <p:graphicFrame>
        <p:nvGraphicFramePr>
          <p:cNvPr id="4" name="">
            <a:extLst xmlns:a="http://schemas.openxmlformats.org/drawingml/2006/main">
              <a:ext uri="{FF2B5EF4-FFF2-40B4-BE49-F238E27FC236}">
                <a16:creationId xmlns:a16="http://schemas.microsoft.com/office/drawing/2014/main" id="{84BBEED9-8885-4502-BB85-D34A98E6E467}"/>
              </a:ext>
            </a:extLst>
          </p:cNvPr>
          <p:cNvGraphicFramePr/>
          <p:nvPr/>
        </p:nvGraphicFramePr>
        <p:xfrm>
          <a:off xmlns:a="http://schemas.openxmlformats.org/drawingml/2006/main" x="609600" y="1952625"/>
          <a:ext xmlns:a="http://schemas.openxmlformats.org/drawingml/2006/main" cx="10972800" cy="2190750"/>
        </p:xfrm>
        <a:graphic xmlns:a="http://schemas.openxmlformats.org/drawingml/2006/main">
          <a:graphicData uri="http://schemas.openxmlformats.org/drawingml/2006/table">
            <a:tbl>
              <a:tblPr/>
              <a:tblGrid>
                <a:gridCol w="2743200"/>
                <a:gridCol w="2743200"/>
                <a:gridCol w="2743200"/>
                <a:gridCol w="2743200"/>
              </a:tblGrid>
              <a:tr h="730250">
                <a:tc>
                  <a:txBody>
                    <a:bodyPr/>
                    <a:lstStyle/>
                    <a:p>
                      <a:r>
                        <a:rPr sz="1800" b="1">
                          <a:solidFill>
                            <a:srgbClr val="FFFFFF"/>
                          </a:solidFill>
                          <a:latin typeface="Arial"/>
                          <a:ea typeface="Arial"/>
                          <a:cs typeface="Arial"/>
                        </a:rPr>
                        <a:t>Multiple</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800" b="1">
                          <a:solidFill>
                            <a:srgbClr val="FFFFFF"/>
                          </a:solidFill>
                          <a:latin typeface="Arial"/>
                          <a:ea typeface="Arial"/>
                          <a:cs typeface="Arial"/>
                        </a:rPr>
                        <a:t>Eligible peer median</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800" b="1">
                          <a:solidFill>
                            <a:srgbClr val="FFFFFF"/>
                          </a:solidFill>
                          <a:latin typeface="Arial"/>
                          <a:ea typeface="Arial"/>
                          <a:cs typeface="Arial"/>
                        </a:rPr>
                        <a:t>N</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800" b="1">
                          <a:solidFill>
                            <a:srgbClr val="FFFFFF"/>
                          </a:solidFill>
                          <a:latin typeface="Arial"/>
                          <a:ea typeface="Arial"/>
                          <a:cs typeface="Arial"/>
                        </a:rPr>
                        <a:t>Implied IDR/share</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730250">
                <a:tc>
                  <a:txBody>
                    <a:bodyPr/>
                    <a:lstStyle/>
                    <a:p>
                      <a:r>
                        <a:rPr sz="1800" b="0">
                          <a:solidFill>
                            <a:srgbClr val="1C303B"/>
                          </a:solidFill>
                          <a:latin typeface="Arial"/>
                          <a:ea typeface="Arial"/>
                          <a:cs typeface="Arial"/>
                        </a:rPr>
                        <a:t>PE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6.32x</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10</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3,007</a:t>
                      </a:r>
                    </a:p>
                  </a:txBody>
                  <a:tcPr marL="91440" marR="91440" marT="45720" marB="45720">
                    <a:lnR w="9525">
                      <a:solidFill>
                        <a:srgbClr val="DEE7E9"/>
                      </a:solidFill>
                      <a:prstDash val="solid"/>
                    </a:lnR>
                    <a:lnB w="9525">
                      <a:solidFill>
                        <a:srgbClr val="DEE7E9"/>
                      </a:solidFill>
                      <a:prstDash val="solid"/>
                    </a:lnB>
                    <a:solidFill>
                      <a:srgbClr val="EFF5F4"/>
                    </a:solidFill>
                  </a:tcPr>
                </a:tc>
              </a:tr>
              <a:tr h="730250">
                <a:tc>
                  <a:txBody>
                    <a:bodyPr/>
                    <a:lstStyle/>
                    <a:p>
                      <a:r>
                        <a:rPr sz="1800" b="0">
                          <a:solidFill>
                            <a:srgbClr val="1C303B"/>
                          </a:solidFill>
                          <a:latin typeface="Arial"/>
                          <a:ea typeface="Arial"/>
                          <a:cs typeface="Arial"/>
                        </a:rPr>
                        <a:t>PB</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800" b="0">
                          <a:solidFill>
                            <a:srgbClr val="1C303B"/>
                          </a:solidFill>
                          <a:latin typeface="Arial"/>
                          <a:ea typeface="Arial"/>
                          <a:cs typeface="Arial"/>
                        </a:rPr>
                        <a:t>1.09x</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800" b="0">
                          <a:solidFill>
                            <a:srgbClr val="1C303B"/>
                          </a:solidFill>
                          <a:latin typeface="Arial"/>
                          <a:ea typeface="Arial"/>
                          <a:cs typeface="Arial"/>
                        </a:rPr>
                        <a:t>12</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800" b="0">
                          <a:solidFill>
                            <a:srgbClr val="1C303B"/>
                          </a:solidFill>
                          <a:latin typeface="Arial"/>
                          <a:ea typeface="Arial"/>
                          <a:cs typeface="Arial"/>
                        </a:rPr>
                        <a:t>2,414</a:t>
                      </a:r>
                    </a:p>
                  </a:txBody>
                  <a:tcPr marL="91440" marR="91440" marT="45720" marB="45720">
                    <a:lnR w="9525">
                      <a:solidFill>
                        <a:srgbClr val="DEE7E9"/>
                      </a:solidFill>
                      <a:prstDash val="solid"/>
                    </a:lnR>
                    <a:lnB w="9525">
                      <a:solidFill>
                        <a:srgbClr val="DEE7E9"/>
                      </a:solidFill>
                      <a:prstDash val="solid"/>
                    </a:lnB>
                    <a:solidFill>
                      <a:srgbClr val="FCFDFC"/>
                    </a:solidFill>
                  </a:tcPr>
                </a:tc>
              </a:tr>
            </a:tbl>
          </a:graphicData>
        </a:graphic>
      </p:graphicFrame>
      <p:sp>
        <p:nvSpPr>
          <p:cNvPr id="5" name="">
            <a:extLst xmlns:a="http://schemas.openxmlformats.org/drawingml/2006/main">
              <a:ext uri="{FF2B5EF4-FFF2-40B4-BE49-F238E27FC236}">
                <a16:creationId xmlns:a16="http://schemas.microsoft.com/office/drawing/2014/main" id="{94BBC605-5291-46C0-9DD9-F9276701C8F9}"/>
              </a:ext>
            </a:extLst>
          </p:cNvPr>
          <p:cNvSpPr>
            <a:spLocks xmlns:a="http://schemas.openxmlformats.org/drawingml/2006/main" noGrp="1"/>
          </p:cNvSpPr>
          <p:nvPr/>
        </p:nvSpPr>
        <p:spPr>
          <a:xfrm xmlns:a="http://schemas.openxmlformats.org/drawingml/2006/main">
            <a:off x="609600" y="4619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977"/>
                </a:solidFill>
                <a:latin typeface="Arial"/>
                <a:ea typeface="Arial"/>
                <a:cs typeface="Arial"/>
              </a:defRPr>
            </a:defPPr>
            <a:lvl1pPr>
              <a:defRPr sz="1950" b="0">
                <a:solidFill>
                  <a:srgbClr val="526977"/>
                </a:solidFill>
                <a:latin typeface="Arial"/>
                <a:ea typeface="Arial"/>
                <a:cs typeface="Arial"/>
              </a:defRPr>
            </a:lvl1pPr>
            <a:lvl2pPr>
              <a:defRPr sz="1950" b="0">
                <a:solidFill>
                  <a:srgbClr val="526977"/>
                </a:solidFill>
                <a:latin typeface="Arial"/>
                <a:ea typeface="Arial"/>
                <a:cs typeface="Arial"/>
              </a:defRPr>
            </a:lvl2pPr>
            <a:lvl3pPr>
              <a:defRPr sz="1950" b="0">
                <a:solidFill>
                  <a:srgbClr val="526977"/>
                </a:solidFill>
                <a:latin typeface="Arial"/>
                <a:ea typeface="Arial"/>
                <a:cs typeface="Arial"/>
              </a:defRPr>
            </a:lvl3pPr>
            <a:lvl4pPr>
              <a:defRPr sz="1950" b="0">
                <a:solidFill>
                  <a:srgbClr val="526977"/>
                </a:solidFill>
                <a:latin typeface="Arial"/>
                <a:ea typeface="Arial"/>
                <a:cs typeface="Arial"/>
              </a:defRPr>
            </a:lvl4pPr>
            <a:lvl5pPr>
              <a:defRPr sz="1950" b="0">
                <a:solidFill>
                  <a:srgbClr val="526977"/>
                </a:solidFill>
                <a:latin typeface="Arial"/>
                <a:ea typeface="Arial"/>
                <a:cs typeface="Arial"/>
              </a:defRPr>
            </a:lvl5pPr>
            <a:lvl6pPr>
              <a:defRPr sz="1950" b="0">
                <a:solidFill>
                  <a:srgbClr val="526977"/>
                </a:solidFill>
                <a:latin typeface="Arial"/>
                <a:ea typeface="Arial"/>
                <a:cs typeface="Arial"/>
              </a:defRPr>
            </a:lvl6pPr>
            <a:lvl7pPr>
              <a:defRPr sz="1950" b="0">
                <a:solidFill>
                  <a:srgbClr val="526977"/>
                </a:solidFill>
                <a:latin typeface="Arial"/>
                <a:ea typeface="Arial"/>
                <a:cs typeface="Arial"/>
              </a:defRPr>
            </a:lvl7pPr>
            <a:lvl8pPr>
              <a:defRPr sz="1950" b="0">
                <a:solidFill>
                  <a:srgbClr val="526977"/>
                </a:solidFill>
                <a:latin typeface="Arial"/>
                <a:ea typeface="Arial"/>
                <a:cs typeface="Arial"/>
              </a:defRPr>
            </a:lvl8pPr>
            <a:lvl9pPr>
              <a:defRPr sz="1950" b="0">
                <a:solidFill>
                  <a:srgbClr val="526977"/>
                </a:solidFill>
                <a:latin typeface="Arial"/>
                <a:ea typeface="Arial"/>
                <a:cs typeface="Arial"/>
              </a:defRPr>
            </a:lvl9pPr>
          </a:lstStyle>
          <a:p xmlns:a="http://schemas.openxmlformats.org/drawingml/2006/main">
            <a:pPr>
              <a:defRPr sz="1950" b="0">
                <a:solidFill>
                  <a:srgbClr val="526977"/>
                </a:solidFill>
                <a:latin typeface="Arial"/>
                <a:ea typeface="Arial"/>
                <a:cs typeface="Arial"/>
              </a:defRPr>
            </a:pPr>
            <a:r>
              <a:rPr sz="1950" b="0">
                <a:solidFill>
                  <a:srgbClr val="526977"/>
                </a:solidFill>
                <a:latin typeface="Arial"/>
                <a:ea typeface="Arial"/>
                <a:cs typeface="Arial"/>
              </a:rPr>
              <a:t>Same industry/sector; prioritize subindustry and size. At least three valid observations per used multiple. Source conflicts, stale quotes and invalid denominators remain excluded.</a:t>
            </a:r>
          </a:p>
        </p:txBody>
      </p:sp>
    </p:spTree>
    <p:extLst>
      <p:ext uri="{BB962C8B-B14F-4D97-AF65-F5344CB8AC3E}">
        <p14:creationId xmlns:p14="http://schemas.microsoft.com/office/powerpoint/2010/main" val="1222539972"/>
      </p:ext>
    </p:extLst>
  </p:cSld>
</p:sld>
</file>

<file path=ppt/slides/slide1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9F24FB-B799-45CE-A1E8-003E01E0F52E}"/>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Method selection and weighting</a:t>
            </a:r>
          </a:p>
        </p:txBody>
      </p:sp>
      <p:sp>
        <p:nvSpPr>
          <p:cNvPr id="2" name="">
            <a:extLst xmlns:a="http://schemas.openxmlformats.org/drawingml/2006/main">
              <a:ext uri="{FF2B5EF4-FFF2-40B4-BE49-F238E27FC236}">
                <a16:creationId xmlns:a16="http://schemas.microsoft.com/office/drawing/2014/main" id="{4B5012A5-1634-45D6-9130-46463023B8A9}"/>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BBCA / 25 Oct 2026</a:t>
            </a:r>
          </a:p>
        </p:txBody>
      </p:sp>
      <p:sp>
        <p:nvSpPr>
          <p:cNvPr id="3" name="">
            <a:extLst xmlns:a="http://schemas.openxmlformats.org/drawingml/2006/main">
              <a:ext uri="{FF2B5EF4-FFF2-40B4-BE49-F238E27FC236}">
                <a16:creationId xmlns:a16="http://schemas.microsoft.com/office/drawing/2014/main" id="{9A40782C-F3D1-4392-BFDC-02CC67AB76EB}"/>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A28AE58D-9122-458E-9C2C-1C2454DBDD79}"/>
              </a:ext>
            </a:extLst>
          </p:cNvPr>
          <p:cNvGraphicFramePr/>
          <p:nvPr/>
        </p:nvGraphicFramePr>
        <p:xfrm>
          <a:off xmlns:a="http://schemas.openxmlformats.org/drawingml/2006/main" x="609600" y="1952625"/>
          <a:ext xmlns:a="http://schemas.openxmlformats.org/drawingml/2006/main" cx="10972800" cy="3333750"/>
        </p:xfrm>
        <a:graphic xmlns:a="http://schemas.openxmlformats.org/drawingml/2006/main">
          <a:graphicData uri="http://schemas.openxmlformats.org/drawingml/2006/table">
            <a:tbl>
              <a:tblPr/>
              <a:tblGrid>
                <a:gridCol w="5486400"/>
                <a:gridCol w="5486400"/>
              </a:tblGrid>
              <a:tr h="555625">
                <a:tc>
                  <a:txBody>
                    <a:bodyPr/>
                    <a:lstStyle/>
                    <a:p>
                      <a:r>
                        <a:rPr sz="1725" b="1">
                          <a:solidFill>
                            <a:srgbClr val="FFFFFF"/>
                          </a:solidFill>
                          <a:latin typeface="Arial"/>
                          <a:ea typeface="Arial"/>
                          <a:cs typeface="Arial"/>
                        </a:rPr>
                        <a:t>Rule</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725" b="1">
                          <a:solidFill>
                            <a:srgbClr val="FFFFFF"/>
                          </a:solidFill>
                          <a:latin typeface="Arial"/>
                          <a:ea typeface="Arial"/>
                          <a:cs typeface="Arial"/>
                        </a:rPr>
                        <a:t>Intrinsic / relative</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555625">
                <a:tc>
                  <a:txBody>
                    <a:bodyPr/>
                    <a:lstStyle/>
                    <a:p>
                      <a:r>
                        <a:rPr sz="1725" b="0">
                          <a:solidFill>
                            <a:srgbClr val="1C303B"/>
                          </a:solidFill>
                          <a:latin typeface="Arial"/>
                          <a:ea typeface="Arial"/>
                          <a:cs typeface="Arial"/>
                        </a:rPr>
                        <a:t>Stable positive corporate operating CF</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725" b="0">
                          <a:solidFill>
                            <a:srgbClr val="1C303B"/>
                          </a:solidFill>
                          <a:latin typeface="Arial"/>
                          <a:ea typeface="Arial"/>
                          <a:cs typeface="Arial"/>
                        </a:rPr>
                        <a:t>70% / 30%</a:t>
                      </a:r>
                    </a:p>
                  </a:txBody>
                  <a:tcPr marL="91440" marR="91440" marT="45720" marB="45720">
                    <a:lnR w="9525">
                      <a:solidFill>
                        <a:srgbClr val="DEE7E9"/>
                      </a:solidFill>
                      <a:prstDash val="solid"/>
                    </a:lnR>
                    <a:lnB w="9525">
                      <a:solidFill>
                        <a:srgbClr val="DEE7E9"/>
                      </a:solidFill>
                      <a:prstDash val="solid"/>
                    </a:lnB>
                    <a:solidFill>
                      <a:srgbClr val="EFF5F4"/>
                    </a:solidFill>
                  </a:tcPr>
                </a:tc>
              </a:tr>
              <a:tr h="555625">
                <a:tc>
                  <a:txBody>
                    <a:bodyPr/>
                    <a:lstStyle/>
                    <a:p>
                      <a:r>
                        <a:rPr sz="1725" b="0">
                          <a:solidFill>
                            <a:srgbClr val="1C303B"/>
                          </a:solidFill>
                          <a:latin typeface="Arial"/>
                          <a:ea typeface="Arial"/>
                          <a:cs typeface="Arial"/>
                        </a:rPr>
                        <a:t>Unproven corporate cash-flow stability</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725" b="0">
                          <a:solidFill>
                            <a:srgbClr val="1C303B"/>
                          </a:solidFill>
                          <a:latin typeface="Arial"/>
                          <a:ea typeface="Arial"/>
                          <a:cs typeface="Arial"/>
                        </a:rPr>
                        <a:t>40% / 60%</a:t>
                      </a:r>
                    </a:p>
                  </a:txBody>
                  <a:tcPr marL="91440" marR="91440" marT="45720" marB="45720">
                    <a:lnR w="9525">
                      <a:solidFill>
                        <a:srgbClr val="DEE7E9"/>
                      </a:solidFill>
                      <a:prstDash val="solid"/>
                    </a:lnR>
                    <a:lnB w="9525">
                      <a:solidFill>
                        <a:srgbClr val="DEE7E9"/>
                      </a:solidFill>
                      <a:prstDash val="solid"/>
                    </a:lnB>
                    <a:solidFill>
                      <a:srgbClr val="FCFDFC"/>
                    </a:solidFill>
                  </a:tcPr>
                </a:tc>
              </a:tr>
              <a:tr h="555625">
                <a:tc>
                  <a:txBody>
                    <a:bodyPr/>
                    <a:lstStyle/>
                    <a:p>
                      <a:r>
                        <a:rPr sz="1725" b="0">
                          <a:solidFill>
                            <a:srgbClr val="1C303B"/>
                          </a:solidFill>
                          <a:latin typeface="Arial"/>
                          <a:ea typeface="Arial"/>
                          <a:cs typeface="Arial"/>
                        </a:rPr>
                        <a:t>Eligible bank DDM and peer valuation</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725" b="0">
                          <a:solidFill>
                            <a:srgbClr val="1C303B"/>
                          </a:solidFill>
                          <a:latin typeface="Arial"/>
                          <a:ea typeface="Arial"/>
                          <a:cs typeface="Arial"/>
                        </a:rPr>
                        <a:t>50% / 50%</a:t>
                      </a:r>
                    </a:p>
                  </a:txBody>
                  <a:tcPr marL="91440" marR="91440" marT="45720" marB="45720">
                    <a:lnR w="9525">
                      <a:solidFill>
                        <a:srgbClr val="DEE7E9"/>
                      </a:solidFill>
                      <a:prstDash val="solid"/>
                    </a:lnR>
                    <a:lnB w="9525">
                      <a:solidFill>
                        <a:srgbClr val="DEE7E9"/>
                      </a:solidFill>
                      <a:prstDash val="solid"/>
                    </a:lnB>
                    <a:solidFill>
                      <a:srgbClr val="EFF5F4"/>
                    </a:solidFill>
                  </a:tcPr>
                </a:tc>
              </a:tr>
              <a:tr h="555625">
                <a:tc>
                  <a:txBody>
                    <a:bodyPr/>
                    <a:lstStyle/>
                    <a:p>
                      <a:r>
                        <a:rPr sz="1725" b="0">
                          <a:solidFill>
                            <a:srgbClr val="1C303B"/>
                          </a:solidFill>
                          <a:latin typeface="Arial"/>
                          <a:ea typeface="Arial"/>
                          <a:cs typeface="Arial"/>
                        </a:rPr>
                        <a:t>Only one eligible method</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725" b="0">
                          <a:solidFill>
                            <a:srgbClr val="1C303B"/>
                          </a:solidFill>
                          <a:latin typeface="Arial"/>
                          <a:ea typeface="Arial"/>
                          <a:cs typeface="Arial"/>
                        </a:rPr>
                        <a:t>100% eligible method</a:t>
                      </a:r>
                    </a:p>
                  </a:txBody>
                  <a:tcPr marL="91440" marR="91440" marT="45720" marB="45720">
                    <a:lnR w="9525">
                      <a:solidFill>
                        <a:srgbClr val="DEE7E9"/>
                      </a:solidFill>
                      <a:prstDash val="solid"/>
                    </a:lnR>
                    <a:lnB w="9525">
                      <a:solidFill>
                        <a:srgbClr val="DEE7E9"/>
                      </a:solidFill>
                      <a:prstDash val="solid"/>
                    </a:lnB>
                    <a:solidFill>
                      <a:srgbClr val="FCFDFC"/>
                    </a:solidFill>
                  </a:tcPr>
                </a:tc>
              </a:tr>
              <a:tr h="555625">
                <a:tc>
                  <a:txBody>
                    <a:bodyPr/>
                    <a:lstStyle/>
                    <a:p>
                      <a:r>
                        <a:rPr sz="1725" b="0">
                          <a:solidFill>
                            <a:srgbClr val="1C303B"/>
                          </a:solidFill>
                          <a:latin typeface="Arial"/>
                          <a:ea typeface="Arial"/>
                          <a:cs typeface="Arial"/>
                        </a:rPr>
                        <a:t>No supported fundamental method</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725" b="0">
                          <a:solidFill>
                            <a:srgbClr val="1C303B"/>
                          </a:solidFill>
                          <a:latin typeface="Arial"/>
                          <a:ea typeface="Arial"/>
                          <a:cs typeface="Arial"/>
                        </a:rPr>
                        <a:t>Technical-only signal or WAIT, clearly labelled</a:t>
                      </a:r>
                    </a:p>
                  </a:txBody>
                  <a:tcPr marL="91440" marR="91440" marT="45720" marB="45720">
                    <a:lnR w="9525">
                      <a:solidFill>
                        <a:srgbClr val="DEE7E9"/>
                      </a:solidFill>
                      <a:prstDash val="solid"/>
                    </a:lnR>
                    <a:lnB w="9525">
                      <a:solidFill>
                        <a:srgbClr val="DEE7E9"/>
                      </a:solidFill>
                      <a:prstDash val="solid"/>
                    </a:lnB>
                    <a:solidFill>
                      <a:srgbClr val="EFF5F4"/>
                    </a:solidFill>
                  </a:tcPr>
                </a:tc>
              </a:tr>
            </a:tbl>
          </a:graphicData>
        </a:graphic>
      </p:graphicFrame>
      <p:sp>
        <p:nvSpPr>
          <p:cNvPr id="5" name="">
            <a:extLst xmlns:a="http://schemas.openxmlformats.org/drawingml/2006/main">
              <a:ext uri="{FF2B5EF4-FFF2-40B4-BE49-F238E27FC236}">
                <a16:creationId xmlns:a16="http://schemas.microsoft.com/office/drawing/2014/main" id="{2BBFF98F-76E9-4A9D-BEFA-5E320BA1F667}"/>
              </a:ext>
            </a:extLst>
          </p:cNvPr>
          <p:cNvSpPr>
            <a:spLocks xmlns:a="http://schemas.openxmlformats.org/drawingml/2006/main" noGrp="1"/>
          </p:cNvSpPr>
          <p:nvPr/>
        </p:nvSpPr>
        <p:spPr>
          <a:xfrm xmlns:a="http://schemas.openxmlformats.org/drawingml/2006/main">
            <a:off x="609600" y="56197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977"/>
                </a:solidFill>
                <a:latin typeface="Arial"/>
                <a:ea typeface="Arial"/>
                <a:cs typeface="Arial"/>
              </a:defRPr>
            </a:defPPr>
            <a:lvl1pPr>
              <a:defRPr sz="1725" b="0">
                <a:solidFill>
                  <a:srgbClr val="526977"/>
                </a:solidFill>
                <a:latin typeface="Arial"/>
                <a:ea typeface="Arial"/>
                <a:cs typeface="Arial"/>
              </a:defRPr>
            </a:lvl1pPr>
            <a:lvl2pPr>
              <a:defRPr sz="1725" b="0">
                <a:solidFill>
                  <a:srgbClr val="526977"/>
                </a:solidFill>
                <a:latin typeface="Arial"/>
                <a:ea typeface="Arial"/>
                <a:cs typeface="Arial"/>
              </a:defRPr>
            </a:lvl2pPr>
            <a:lvl3pPr>
              <a:defRPr sz="1725" b="0">
                <a:solidFill>
                  <a:srgbClr val="526977"/>
                </a:solidFill>
                <a:latin typeface="Arial"/>
                <a:ea typeface="Arial"/>
                <a:cs typeface="Arial"/>
              </a:defRPr>
            </a:lvl3pPr>
            <a:lvl4pPr>
              <a:defRPr sz="1725" b="0">
                <a:solidFill>
                  <a:srgbClr val="526977"/>
                </a:solidFill>
                <a:latin typeface="Arial"/>
                <a:ea typeface="Arial"/>
                <a:cs typeface="Arial"/>
              </a:defRPr>
            </a:lvl4pPr>
            <a:lvl5pPr>
              <a:defRPr sz="1725" b="0">
                <a:solidFill>
                  <a:srgbClr val="526977"/>
                </a:solidFill>
                <a:latin typeface="Arial"/>
                <a:ea typeface="Arial"/>
                <a:cs typeface="Arial"/>
              </a:defRPr>
            </a:lvl5pPr>
            <a:lvl6pPr>
              <a:defRPr sz="1725" b="0">
                <a:solidFill>
                  <a:srgbClr val="526977"/>
                </a:solidFill>
                <a:latin typeface="Arial"/>
                <a:ea typeface="Arial"/>
                <a:cs typeface="Arial"/>
              </a:defRPr>
            </a:lvl6pPr>
            <a:lvl7pPr>
              <a:defRPr sz="1725" b="0">
                <a:solidFill>
                  <a:srgbClr val="526977"/>
                </a:solidFill>
                <a:latin typeface="Arial"/>
                <a:ea typeface="Arial"/>
                <a:cs typeface="Arial"/>
              </a:defRPr>
            </a:lvl7pPr>
            <a:lvl8pPr>
              <a:defRPr sz="1725" b="0">
                <a:solidFill>
                  <a:srgbClr val="526977"/>
                </a:solidFill>
                <a:latin typeface="Arial"/>
                <a:ea typeface="Arial"/>
                <a:cs typeface="Arial"/>
              </a:defRPr>
            </a:lvl8pPr>
            <a:lvl9pPr>
              <a:defRPr sz="1725" b="0">
                <a:solidFill>
                  <a:srgbClr val="526977"/>
                </a:solidFill>
                <a:latin typeface="Arial"/>
                <a:ea typeface="Arial"/>
                <a:cs typeface="Arial"/>
              </a:defRPr>
            </a:lvl9pPr>
          </a:lstStyle>
          <a:p xmlns:a="http://schemas.openxmlformats.org/drawingml/2006/main">
            <a:pPr>
              <a:defRPr sz="1725" b="0">
                <a:solidFill>
                  <a:srgbClr val="526977"/>
                </a:solidFill>
                <a:latin typeface="Arial"/>
                <a:ea typeface="Arial"/>
                <a:cs typeface="Arial"/>
              </a:defRPr>
            </a:pPr>
            <a:r>
              <a:rPr sz="1725" b="0">
                <a:solidFill>
                  <a:srgbClr val="526977"/>
                </a:solidFill>
                <a:latin typeface="Arial"/>
                <a:ea typeface="Arial"/>
                <a:cs typeface="Arial"/>
              </a:rPr>
              <a:t>Actual BBCA allocation: 50% DDM / 50% relative. Market price is a reference, not a blended valuation method.</a:t>
            </a:r>
          </a:p>
        </p:txBody>
      </p:sp>
    </p:spTree>
    <p:extLst>
      <p:ext uri="{BB962C8B-B14F-4D97-AF65-F5344CB8AC3E}">
        <p14:creationId xmlns:p14="http://schemas.microsoft.com/office/powerpoint/2010/main" val="313413589"/>
      </p:ext>
    </p:extLst>
  </p:cSld>
</p:sld>
</file>

<file path=ppt/slides/slide1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9EAC5A5-58C8-45D7-9A6E-4BD4AECE9EC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Scenarios and uncertainty</a:t>
            </a:r>
          </a:p>
        </p:txBody>
      </p:sp>
      <p:sp>
        <p:nvSpPr>
          <p:cNvPr id="2" name="">
            <a:extLst xmlns:a="http://schemas.openxmlformats.org/drawingml/2006/main">
              <a:ext uri="{FF2B5EF4-FFF2-40B4-BE49-F238E27FC236}">
                <a16:creationId xmlns:a16="http://schemas.microsoft.com/office/drawing/2014/main" id="{EBF36216-2DAB-4818-ABF2-B9402907DC00}"/>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BBCA / 25 Oct 2026</a:t>
            </a:r>
          </a:p>
        </p:txBody>
      </p:sp>
      <p:sp>
        <p:nvSpPr>
          <p:cNvPr id="3" name="">
            <a:extLst xmlns:a="http://schemas.openxmlformats.org/drawingml/2006/main">
              <a:ext uri="{FF2B5EF4-FFF2-40B4-BE49-F238E27FC236}">
                <a16:creationId xmlns:a16="http://schemas.microsoft.com/office/drawing/2014/main" id="{6D381F2B-10A4-4BCF-96C7-313DDF177D1B}"/>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12</a:t>
            </a:r>
          </a:p>
        </p:txBody>
      </p:sp>
      <p:graphicFrame>
        <p:nvGraphicFramePr>
          <p:cNvPr id="4" name="Chart">
            <a:extLst xmlns:a="http://schemas.openxmlformats.org/drawingml/2006/main">
              <a:ext uri="{FF2B5EF4-FFF2-40B4-BE49-F238E27FC236}">
                <a16:creationId xmlns:a16="http://schemas.microsoft.com/office/drawing/2014/main" id="{60BED224-D563-4046-8198-A5B9BF22BBF8}"/>
              </a:ext>
            </a:extLst>
          </p:cNvPr>
          <p:cNvGraphicFramePr/>
          <p:nvPr/>
        </p:nvGraphicFramePr>
        <p:xfrm>
          <a:off xmlns:a="http://schemas.openxmlformats.org/drawingml/2006/main" x="609600" y="1952625"/>
          <a:ext xmlns:a="http://schemas.openxmlformats.org/drawingml/2006/main" cx="10972800" cy="3476625"/>
        </p:xfrm>
        <a:graphic xmlns:a="http://schemas.openxmlformats.org/drawingml/2006/main">
          <a:graphicData uri="http://schemas.openxmlformats.org/drawingml/2006/chart">
            <c:chart xmlns:r="http://schemas.openxmlformats.org/officeDocument/2006/relationships" xmlns:c="http://schemas.openxmlformats.org/drawingml/2006/chart" r:id="R5826abac5f2046fa"/>
          </a:graphicData>
        </a:graphic>
      </p:graphicFrame>
      <p:sp>
        <p:nvSpPr>
          <p:cNvPr id="5" name="">
            <a:extLst xmlns:a="http://schemas.openxmlformats.org/drawingml/2006/main">
              <a:ext uri="{FF2B5EF4-FFF2-40B4-BE49-F238E27FC236}">
                <a16:creationId xmlns:a16="http://schemas.microsoft.com/office/drawing/2014/main" id="{8DAD29B7-CC37-44E4-89AC-BDED8D26E4E8}"/>
              </a:ext>
            </a:extLst>
          </p:cNvPr>
          <p:cNvSpPr>
            <a:spLocks xmlns:a="http://schemas.openxmlformats.org/drawingml/2006/main" noGrp="1"/>
          </p:cNvSpPr>
          <p:nvPr/>
        </p:nvSpPr>
        <p:spPr>
          <a:xfrm xmlns:a="http://schemas.openxmlformats.org/drawingml/2006/main">
            <a:off x="609600" y="56578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977"/>
                </a:solidFill>
                <a:latin typeface="Arial"/>
                <a:ea typeface="Arial"/>
                <a:cs typeface="Arial"/>
              </a:defRPr>
            </a:defPPr>
            <a:lvl1pPr>
              <a:defRPr sz="1725" b="0">
                <a:solidFill>
                  <a:srgbClr val="526977"/>
                </a:solidFill>
                <a:latin typeface="Arial"/>
                <a:ea typeface="Arial"/>
                <a:cs typeface="Arial"/>
              </a:defRPr>
            </a:lvl1pPr>
            <a:lvl2pPr>
              <a:defRPr sz="1725" b="0">
                <a:solidFill>
                  <a:srgbClr val="526977"/>
                </a:solidFill>
                <a:latin typeface="Arial"/>
                <a:ea typeface="Arial"/>
                <a:cs typeface="Arial"/>
              </a:defRPr>
            </a:lvl2pPr>
            <a:lvl3pPr>
              <a:defRPr sz="1725" b="0">
                <a:solidFill>
                  <a:srgbClr val="526977"/>
                </a:solidFill>
                <a:latin typeface="Arial"/>
                <a:ea typeface="Arial"/>
                <a:cs typeface="Arial"/>
              </a:defRPr>
            </a:lvl3pPr>
            <a:lvl4pPr>
              <a:defRPr sz="1725" b="0">
                <a:solidFill>
                  <a:srgbClr val="526977"/>
                </a:solidFill>
                <a:latin typeface="Arial"/>
                <a:ea typeface="Arial"/>
                <a:cs typeface="Arial"/>
              </a:defRPr>
            </a:lvl4pPr>
            <a:lvl5pPr>
              <a:defRPr sz="1725" b="0">
                <a:solidFill>
                  <a:srgbClr val="526977"/>
                </a:solidFill>
                <a:latin typeface="Arial"/>
                <a:ea typeface="Arial"/>
                <a:cs typeface="Arial"/>
              </a:defRPr>
            </a:lvl5pPr>
            <a:lvl6pPr>
              <a:defRPr sz="1725" b="0">
                <a:solidFill>
                  <a:srgbClr val="526977"/>
                </a:solidFill>
                <a:latin typeface="Arial"/>
                <a:ea typeface="Arial"/>
                <a:cs typeface="Arial"/>
              </a:defRPr>
            </a:lvl6pPr>
            <a:lvl7pPr>
              <a:defRPr sz="1725" b="0">
                <a:solidFill>
                  <a:srgbClr val="526977"/>
                </a:solidFill>
                <a:latin typeface="Arial"/>
                <a:ea typeface="Arial"/>
                <a:cs typeface="Arial"/>
              </a:defRPr>
            </a:lvl7pPr>
            <a:lvl8pPr>
              <a:defRPr sz="1725" b="0">
                <a:solidFill>
                  <a:srgbClr val="526977"/>
                </a:solidFill>
                <a:latin typeface="Arial"/>
                <a:ea typeface="Arial"/>
                <a:cs typeface="Arial"/>
              </a:defRPr>
            </a:lvl8pPr>
            <a:lvl9pPr>
              <a:defRPr sz="1725" b="0">
                <a:solidFill>
                  <a:srgbClr val="526977"/>
                </a:solidFill>
                <a:latin typeface="Arial"/>
                <a:ea typeface="Arial"/>
                <a:cs typeface="Arial"/>
              </a:defRPr>
            </a:lvl9pPr>
          </a:lstStyle>
          <a:p xmlns:a="http://schemas.openxmlformats.org/drawingml/2006/main">
            <a:pPr>
              <a:defRPr sz="1725" b="0">
                <a:solidFill>
                  <a:srgbClr val="526977"/>
                </a:solidFill>
                <a:latin typeface="Arial"/>
                <a:ea typeface="Arial"/>
                <a:cs typeface="Arial"/>
              </a:defRPr>
            </a:pPr>
            <a:r>
              <a:rPr sz="1725" b="0">
                <a:solidFill>
                  <a:srgbClr val="526977"/>
                </a:solidFill>
                <a:latin typeface="Arial"/>
                <a:ea typeface="Arial"/>
                <a:cs typeface="Arial"/>
              </a:rPr>
              <a:t>Earnings growth +/-3pp; risk-free rate -/+1pp; eligible peer multiples +/-20%. These are deterministic analyst stresses.</a:t>
            </a:r>
          </a:p>
        </p:txBody>
      </p:sp>
    </p:spTree>
    <p:extLst>
      <p:ext uri="{BB962C8B-B14F-4D97-AF65-F5344CB8AC3E}">
        <p14:creationId xmlns:p14="http://schemas.microsoft.com/office/powerpoint/2010/main" val="53838258"/>
      </p:ext>
    </p:extLst>
  </p:cSld>
</p:sld>
</file>

<file path=ppt/slides/slide1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9F03262-3468-49DA-AF47-6F714B61AFE4}"/>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Sensitivity and simulation</a:t>
            </a:r>
          </a:p>
        </p:txBody>
      </p:sp>
      <p:sp>
        <p:nvSpPr>
          <p:cNvPr id="2" name="">
            <a:extLst xmlns:a="http://schemas.openxmlformats.org/drawingml/2006/main">
              <a:ext uri="{FF2B5EF4-FFF2-40B4-BE49-F238E27FC236}">
                <a16:creationId xmlns:a16="http://schemas.microsoft.com/office/drawing/2014/main" id="{D9233F2A-F3D8-42B8-AC90-4E50543C7884}"/>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BBCA / 25 Oct 2026</a:t>
            </a:r>
          </a:p>
        </p:txBody>
      </p:sp>
      <p:sp>
        <p:nvSpPr>
          <p:cNvPr id="3" name="">
            <a:extLst xmlns:a="http://schemas.openxmlformats.org/drawingml/2006/main">
              <a:ext uri="{FF2B5EF4-FFF2-40B4-BE49-F238E27FC236}">
                <a16:creationId xmlns:a16="http://schemas.microsoft.com/office/drawing/2014/main" id="{ACF574D6-098D-4F2F-9CA6-9B5D60752B6C}"/>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13</a:t>
            </a:r>
          </a:p>
        </p:txBody>
      </p:sp>
      <p:graphicFrame>
        <p:nvGraphicFramePr>
          <p:cNvPr id="4" name="">
            <a:extLst xmlns:a="http://schemas.openxmlformats.org/drawingml/2006/main">
              <a:ext uri="{FF2B5EF4-FFF2-40B4-BE49-F238E27FC236}">
                <a16:creationId xmlns:a16="http://schemas.microsoft.com/office/drawing/2014/main" id="{E09DA743-C8EF-4F2F-8809-44D49978E485}"/>
              </a:ext>
            </a:extLst>
          </p:cNvPr>
          <p:cNvGraphicFramePr/>
          <p:nvPr/>
        </p:nvGraphicFramePr>
        <p:xfrm>
          <a:off xmlns:a="http://schemas.openxmlformats.org/drawingml/2006/main" x="609600" y="1952625"/>
          <a:ext xmlns:a="http://schemas.openxmlformats.org/drawingml/2006/main" cx="10972800" cy="2952750"/>
        </p:xfrm>
        <a:graphic xmlns:a="http://schemas.openxmlformats.org/drawingml/2006/main">
          <a:graphicData uri="http://schemas.openxmlformats.org/drawingml/2006/table">
            <a:tbl>
              <a:tblPr/>
              <a:tblGrid>
                <a:gridCol w="1828800"/>
                <a:gridCol w="1828800"/>
                <a:gridCol w="1828800"/>
                <a:gridCol w="1828800"/>
                <a:gridCol w="1828800"/>
                <a:gridCol w="1828800"/>
              </a:tblGrid>
              <a:tr h="492125">
                <a:tc>
                  <a:txBody>
                    <a:bodyPr/>
                    <a:lstStyle/>
                    <a:p>
                      <a:r>
                        <a:rPr sz="1575" b="1">
                          <a:solidFill>
                            <a:srgbClr val="FFFFFF"/>
                          </a:solidFill>
                          <a:latin typeface="Arial"/>
                          <a:ea typeface="Arial"/>
                          <a:cs typeface="Arial"/>
                        </a:rPr>
                        <a:t>Ke / g</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2.5%</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3%</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3.5%</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4%</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4.5%</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492125">
                <a:tc>
                  <a:txBody>
                    <a:bodyPr/>
                    <a:lstStyle/>
                    <a:p>
                      <a:r>
                        <a:rPr sz="1575" b="0">
                          <a:solidFill>
                            <a:srgbClr val="1C303B"/>
                          </a:solidFill>
                          <a:latin typeface="Arial"/>
                          <a:ea typeface="Arial"/>
                          <a:cs typeface="Arial"/>
                        </a:rPr>
                        <a:t>11.4%</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3,841</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3,887</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3,939</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3,997</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4,063</a:t>
                      </a:r>
                    </a:p>
                  </a:txBody>
                  <a:tcPr marL="91440" marR="91440" marT="45720" marB="45720">
                    <a:lnR w="9525">
                      <a:solidFill>
                        <a:srgbClr val="DEE7E9"/>
                      </a:solidFill>
                      <a:prstDash val="solid"/>
                    </a:lnR>
                    <a:lnB w="9525">
                      <a:solidFill>
                        <a:srgbClr val="DEE7E9"/>
                      </a:solidFill>
                      <a:prstDash val="solid"/>
                    </a:lnB>
                    <a:solidFill>
                      <a:srgbClr val="EFF5F4"/>
                    </a:solidFill>
                  </a:tcPr>
                </a:tc>
              </a:tr>
              <a:tr h="492125">
                <a:tc>
                  <a:txBody>
                    <a:bodyPr/>
                    <a:lstStyle/>
                    <a:p>
                      <a:r>
                        <a:rPr sz="1575" b="0">
                          <a:solidFill>
                            <a:srgbClr val="1C303B"/>
                          </a:solidFill>
                          <a:latin typeface="Arial"/>
                          <a:ea typeface="Arial"/>
                          <a:cs typeface="Arial"/>
                        </a:rPr>
                        <a:t>11.9%</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3,697</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3,734</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3,776</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3,822</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3,873</a:t>
                      </a:r>
                    </a:p>
                  </a:txBody>
                  <a:tcPr marL="91440" marR="91440" marT="45720" marB="45720">
                    <a:lnR w="9525">
                      <a:solidFill>
                        <a:srgbClr val="DEE7E9"/>
                      </a:solidFill>
                      <a:prstDash val="solid"/>
                    </a:lnR>
                    <a:lnB w="9525">
                      <a:solidFill>
                        <a:srgbClr val="DEE7E9"/>
                      </a:solidFill>
                      <a:prstDash val="solid"/>
                    </a:lnB>
                    <a:solidFill>
                      <a:srgbClr val="FCFDFC"/>
                    </a:solidFill>
                  </a:tcPr>
                </a:tc>
              </a:tr>
              <a:tr h="492125">
                <a:tc>
                  <a:txBody>
                    <a:bodyPr/>
                    <a:lstStyle/>
                    <a:p>
                      <a:r>
                        <a:rPr sz="1575" b="0">
                          <a:solidFill>
                            <a:srgbClr val="1C303B"/>
                          </a:solidFill>
                          <a:latin typeface="Arial"/>
                          <a:ea typeface="Arial"/>
                          <a:cs typeface="Arial"/>
                        </a:rPr>
                        <a:t>12.4%</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3,568</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3,598</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3,631</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3,668</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3,708</a:t>
                      </a:r>
                    </a:p>
                  </a:txBody>
                  <a:tcPr marL="91440" marR="91440" marT="45720" marB="45720">
                    <a:lnR w="9525">
                      <a:solidFill>
                        <a:srgbClr val="DEE7E9"/>
                      </a:solidFill>
                      <a:prstDash val="solid"/>
                    </a:lnR>
                    <a:lnB w="9525">
                      <a:solidFill>
                        <a:srgbClr val="DEE7E9"/>
                      </a:solidFill>
                      <a:prstDash val="solid"/>
                    </a:lnB>
                    <a:solidFill>
                      <a:srgbClr val="EFF5F4"/>
                    </a:solidFill>
                  </a:tcPr>
                </a:tc>
              </a:tr>
              <a:tr h="492125">
                <a:tc>
                  <a:txBody>
                    <a:bodyPr/>
                    <a:lstStyle/>
                    <a:p>
                      <a:r>
                        <a:rPr sz="1575" b="0">
                          <a:solidFill>
                            <a:srgbClr val="1C303B"/>
                          </a:solidFill>
                          <a:latin typeface="Arial"/>
                          <a:ea typeface="Arial"/>
                          <a:cs typeface="Arial"/>
                        </a:rPr>
                        <a:t>12.9%</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3,452</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3,476</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3,502</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3,531</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3,563</a:t>
                      </a:r>
                    </a:p>
                  </a:txBody>
                  <a:tcPr marL="91440" marR="91440" marT="45720" marB="45720">
                    <a:lnR w="9525">
                      <a:solidFill>
                        <a:srgbClr val="DEE7E9"/>
                      </a:solidFill>
                      <a:prstDash val="solid"/>
                    </a:lnR>
                    <a:lnB w="9525">
                      <a:solidFill>
                        <a:srgbClr val="DEE7E9"/>
                      </a:solidFill>
                      <a:prstDash val="solid"/>
                    </a:lnB>
                    <a:solidFill>
                      <a:srgbClr val="FCFDFC"/>
                    </a:solidFill>
                  </a:tcPr>
                </a:tc>
              </a:tr>
              <a:tr h="492125">
                <a:tc>
                  <a:txBody>
                    <a:bodyPr/>
                    <a:lstStyle/>
                    <a:p>
                      <a:r>
                        <a:rPr sz="1575" b="0">
                          <a:solidFill>
                            <a:srgbClr val="1C303B"/>
                          </a:solidFill>
                          <a:latin typeface="Arial"/>
                          <a:ea typeface="Arial"/>
                          <a:cs typeface="Arial"/>
                        </a:rPr>
                        <a:t>13.4%</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3,346</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3,366</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3,387</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3,409</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3,434</a:t>
                      </a:r>
                    </a:p>
                  </a:txBody>
                  <a:tcPr marL="91440" marR="91440" marT="45720" marB="45720">
                    <a:lnR w="9525">
                      <a:solidFill>
                        <a:srgbClr val="DEE7E9"/>
                      </a:solidFill>
                      <a:prstDash val="solid"/>
                    </a:lnR>
                    <a:lnB w="9525">
                      <a:solidFill>
                        <a:srgbClr val="DEE7E9"/>
                      </a:solidFill>
                      <a:prstDash val="solid"/>
                    </a:lnB>
                    <a:solidFill>
                      <a:srgbClr val="EFF5F4"/>
                    </a:solidFill>
                  </a:tcPr>
                </a:tc>
              </a:tr>
            </a:tbl>
          </a:graphicData>
        </a:graphic>
      </p:graphicFrame>
      <p:sp>
        <p:nvSpPr>
          <p:cNvPr id="5" name="">
            <a:extLst xmlns:a="http://schemas.openxmlformats.org/drawingml/2006/main">
              <a:ext uri="{FF2B5EF4-FFF2-40B4-BE49-F238E27FC236}">
                <a16:creationId xmlns:a16="http://schemas.microsoft.com/office/drawing/2014/main" id="{5BF8211D-3BE6-40E9-9A8C-C59BFBEE82E0}"/>
              </a:ext>
            </a:extLst>
          </p:cNvPr>
          <p:cNvSpPr>
            <a:spLocks xmlns:a="http://schemas.openxmlformats.org/drawingml/2006/main" noGrp="1"/>
          </p:cNvSpPr>
          <p:nvPr/>
        </p:nvSpPr>
        <p:spPr>
          <a:xfrm xmlns:a="http://schemas.openxmlformats.org/drawingml/2006/main">
            <a:off x="609600" y="52673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Conditional Monte Carlo: 5000 accepted / 5000 attempted draws; seed 271828.</a:t>
            </a:r>
          </a:p>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P10 / P50 / P90: Rp 3,150 / 3,643 / 4,228</a:t>
            </a:r>
          </a:p>
        </p:txBody>
      </p:sp>
    </p:spTree>
    <p:extLst>
      <p:ext uri="{BB962C8B-B14F-4D97-AF65-F5344CB8AC3E}">
        <p14:creationId xmlns:p14="http://schemas.microsoft.com/office/powerpoint/2010/main" val="258014781"/>
      </p:ext>
    </p:extLst>
  </p:cSld>
</p:sld>
</file>

<file path=ppt/slides/slide1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7933FAF-94B5-43D4-9813-7B24C6335D53}"/>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Reconciliation and recommendation</a:t>
            </a:r>
          </a:p>
        </p:txBody>
      </p:sp>
      <p:sp>
        <p:nvSpPr>
          <p:cNvPr id="2" name="">
            <a:extLst xmlns:a="http://schemas.openxmlformats.org/drawingml/2006/main">
              <a:ext uri="{FF2B5EF4-FFF2-40B4-BE49-F238E27FC236}">
                <a16:creationId xmlns:a16="http://schemas.microsoft.com/office/drawing/2014/main" id="{D200B055-03E0-4C15-AC4C-7DE72CF125E3}"/>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BBCA / 25 Oct 2026</a:t>
            </a:r>
          </a:p>
        </p:txBody>
      </p:sp>
      <p:sp>
        <p:nvSpPr>
          <p:cNvPr id="3" name="">
            <a:extLst xmlns:a="http://schemas.openxmlformats.org/drawingml/2006/main">
              <a:ext uri="{FF2B5EF4-FFF2-40B4-BE49-F238E27FC236}">
                <a16:creationId xmlns:a16="http://schemas.microsoft.com/office/drawing/2014/main" id="{09EBDF8B-C9A0-4869-A986-639EC1ED4EE3}"/>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26682C62-249B-4148-9208-C15B5DE3301C}"/>
              </a:ext>
            </a:extLst>
          </p:cNvPr>
          <p:cNvSpPr>
            <a:spLocks xmlns:a="http://schemas.openxmlformats.org/drawingml/2006/main" noGrp="1"/>
          </p:cNvSpPr>
          <p:nvPr/>
        </p:nvSpPr>
        <p:spPr>
          <a:xfrm xmlns:a="http://schemas.openxmlformats.org/drawingml/2006/main">
            <a:off x="609600" y="1962150"/>
            <a:ext cx="838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1C303B"/>
                </a:solidFill>
                <a:latin typeface="Arial"/>
                <a:ea typeface="Arial"/>
                <a:cs typeface="Arial"/>
              </a:defRPr>
            </a:defPPr>
            <a:lvl1pPr>
              <a:defRPr sz="5700" b="1">
                <a:solidFill>
                  <a:srgbClr val="1C303B"/>
                </a:solidFill>
                <a:latin typeface="Arial"/>
                <a:ea typeface="Arial"/>
                <a:cs typeface="Arial"/>
              </a:defRPr>
            </a:lvl1pPr>
            <a:lvl2pPr>
              <a:defRPr sz="5700" b="1">
                <a:solidFill>
                  <a:srgbClr val="1C303B"/>
                </a:solidFill>
                <a:latin typeface="Arial"/>
                <a:ea typeface="Arial"/>
                <a:cs typeface="Arial"/>
              </a:defRPr>
            </a:lvl2pPr>
            <a:lvl3pPr>
              <a:defRPr sz="5700" b="1">
                <a:solidFill>
                  <a:srgbClr val="1C303B"/>
                </a:solidFill>
                <a:latin typeface="Arial"/>
                <a:ea typeface="Arial"/>
                <a:cs typeface="Arial"/>
              </a:defRPr>
            </a:lvl3pPr>
            <a:lvl4pPr>
              <a:defRPr sz="5700" b="1">
                <a:solidFill>
                  <a:srgbClr val="1C303B"/>
                </a:solidFill>
                <a:latin typeface="Arial"/>
                <a:ea typeface="Arial"/>
                <a:cs typeface="Arial"/>
              </a:defRPr>
            </a:lvl4pPr>
            <a:lvl5pPr>
              <a:defRPr sz="5700" b="1">
                <a:solidFill>
                  <a:srgbClr val="1C303B"/>
                </a:solidFill>
                <a:latin typeface="Arial"/>
                <a:ea typeface="Arial"/>
                <a:cs typeface="Arial"/>
              </a:defRPr>
            </a:lvl5pPr>
            <a:lvl6pPr>
              <a:defRPr sz="5700" b="1">
                <a:solidFill>
                  <a:srgbClr val="1C303B"/>
                </a:solidFill>
                <a:latin typeface="Arial"/>
                <a:ea typeface="Arial"/>
                <a:cs typeface="Arial"/>
              </a:defRPr>
            </a:lvl6pPr>
            <a:lvl7pPr>
              <a:defRPr sz="5700" b="1">
                <a:solidFill>
                  <a:srgbClr val="1C303B"/>
                </a:solidFill>
                <a:latin typeface="Arial"/>
                <a:ea typeface="Arial"/>
                <a:cs typeface="Arial"/>
              </a:defRPr>
            </a:lvl7pPr>
            <a:lvl8pPr>
              <a:defRPr sz="5700" b="1">
                <a:solidFill>
                  <a:srgbClr val="1C303B"/>
                </a:solidFill>
                <a:latin typeface="Arial"/>
                <a:ea typeface="Arial"/>
                <a:cs typeface="Arial"/>
              </a:defRPr>
            </a:lvl8pPr>
            <a:lvl9pPr>
              <a:defRPr sz="5700" b="1">
                <a:solidFill>
                  <a:srgbClr val="1C303B"/>
                </a:solidFill>
                <a:latin typeface="Arial"/>
                <a:ea typeface="Arial"/>
                <a:cs typeface="Arial"/>
              </a:defRPr>
            </a:lvl9pPr>
          </a:lstStyle>
          <a:p xmlns:a="http://schemas.openxmlformats.org/drawingml/2006/main">
            <a:pPr>
              <a:defRPr sz="5700" b="1">
                <a:solidFill>
                  <a:srgbClr val="1C303B"/>
                </a:solidFill>
                <a:latin typeface="Arial"/>
                <a:ea typeface="Arial"/>
                <a:cs typeface="Arial"/>
              </a:defRPr>
            </a:pPr>
            <a:r>
              <a:rPr sz="5700" b="1">
                <a:solidFill>
                  <a:srgbClr val="1C303B"/>
                </a:solidFill>
                <a:latin typeface="Arial"/>
                <a:ea typeface="Arial"/>
                <a:cs typeface="Arial"/>
              </a:rPr>
              <a:t>Rp 3,631</a:t>
            </a:r>
          </a:p>
        </p:txBody>
      </p:sp>
      <p:sp>
        <p:nvSpPr>
          <p:cNvPr id="5" name="">
            <a:extLst xmlns:a="http://schemas.openxmlformats.org/drawingml/2006/main">
              <a:ext uri="{FF2B5EF4-FFF2-40B4-BE49-F238E27FC236}">
                <a16:creationId xmlns:a16="http://schemas.microsoft.com/office/drawing/2014/main" id="{B0E56263-FF1D-432A-B7EE-6DD82A365B78}"/>
              </a:ext>
            </a:extLst>
          </p:cNvPr>
          <p:cNvSpPr>
            <a:spLocks xmlns:a="http://schemas.openxmlformats.org/drawingml/2006/main" noGrp="1"/>
          </p:cNvSpPr>
          <p:nvPr/>
        </p:nvSpPr>
        <p:spPr>
          <a:xfrm xmlns:a="http://schemas.openxmlformats.org/drawingml/2006/main">
            <a:off x="609600" y="30194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258362"/>
                </a:solidFill>
                <a:latin typeface="Arial"/>
                <a:ea typeface="Arial"/>
                <a:cs typeface="Arial"/>
              </a:defRPr>
            </a:defPPr>
            <a:lvl1pPr>
              <a:defRPr sz="2325" b="0">
                <a:solidFill>
                  <a:srgbClr val="258362"/>
                </a:solidFill>
                <a:latin typeface="Arial"/>
                <a:ea typeface="Arial"/>
                <a:cs typeface="Arial"/>
              </a:defRPr>
            </a:lvl1pPr>
            <a:lvl2pPr>
              <a:defRPr sz="2325" b="0">
                <a:solidFill>
                  <a:srgbClr val="258362"/>
                </a:solidFill>
                <a:latin typeface="Arial"/>
                <a:ea typeface="Arial"/>
                <a:cs typeface="Arial"/>
              </a:defRPr>
            </a:lvl2pPr>
            <a:lvl3pPr>
              <a:defRPr sz="2325" b="0">
                <a:solidFill>
                  <a:srgbClr val="258362"/>
                </a:solidFill>
                <a:latin typeface="Arial"/>
                <a:ea typeface="Arial"/>
                <a:cs typeface="Arial"/>
              </a:defRPr>
            </a:lvl3pPr>
            <a:lvl4pPr>
              <a:defRPr sz="2325" b="0">
                <a:solidFill>
                  <a:srgbClr val="258362"/>
                </a:solidFill>
                <a:latin typeface="Arial"/>
                <a:ea typeface="Arial"/>
                <a:cs typeface="Arial"/>
              </a:defRPr>
            </a:lvl4pPr>
            <a:lvl5pPr>
              <a:defRPr sz="2325" b="0">
                <a:solidFill>
                  <a:srgbClr val="258362"/>
                </a:solidFill>
                <a:latin typeface="Arial"/>
                <a:ea typeface="Arial"/>
                <a:cs typeface="Arial"/>
              </a:defRPr>
            </a:lvl5pPr>
            <a:lvl6pPr>
              <a:defRPr sz="2325" b="0">
                <a:solidFill>
                  <a:srgbClr val="258362"/>
                </a:solidFill>
                <a:latin typeface="Arial"/>
                <a:ea typeface="Arial"/>
                <a:cs typeface="Arial"/>
              </a:defRPr>
            </a:lvl6pPr>
            <a:lvl7pPr>
              <a:defRPr sz="2325" b="0">
                <a:solidFill>
                  <a:srgbClr val="258362"/>
                </a:solidFill>
                <a:latin typeface="Arial"/>
                <a:ea typeface="Arial"/>
                <a:cs typeface="Arial"/>
              </a:defRPr>
            </a:lvl7pPr>
            <a:lvl8pPr>
              <a:defRPr sz="2325" b="0">
                <a:solidFill>
                  <a:srgbClr val="258362"/>
                </a:solidFill>
                <a:latin typeface="Arial"/>
                <a:ea typeface="Arial"/>
                <a:cs typeface="Arial"/>
              </a:defRPr>
            </a:lvl8pPr>
            <a:lvl9pPr>
              <a:defRPr sz="2325" b="0">
                <a:solidFill>
                  <a:srgbClr val="258362"/>
                </a:solidFill>
                <a:latin typeface="Arial"/>
                <a:ea typeface="Arial"/>
                <a:cs typeface="Arial"/>
              </a:defRPr>
            </a:lvl9pPr>
          </a:lstStyle>
          <a:p xmlns:a="http://schemas.openxmlformats.org/drawingml/2006/main">
            <a:pPr>
              <a:defRPr sz="2325" b="0">
                <a:solidFill>
                  <a:srgbClr val="258362"/>
                </a:solidFill>
                <a:latin typeface="Arial"/>
                <a:ea typeface="Arial"/>
                <a:cs typeface="Arial"/>
              </a:defRPr>
            </a:pPr>
            <a:r>
              <a:rPr sz="2325" b="0">
                <a:solidFill>
                  <a:srgbClr val="258362"/>
                </a:solidFill>
                <a:latin typeface="Arial"/>
                <a:ea typeface="Arial"/>
                <a:cs typeface="Arial"/>
              </a:rPr>
              <a:t>-27.7% implied downside / SELL model indication</a:t>
            </a:r>
          </a:p>
        </p:txBody>
      </p:sp>
      <p:graphicFrame>
        <p:nvGraphicFramePr>
          <p:cNvPr id="6" name="">
            <a:extLst xmlns:a="http://schemas.openxmlformats.org/drawingml/2006/main">
              <a:ext uri="{FF2B5EF4-FFF2-40B4-BE49-F238E27FC236}">
                <a16:creationId xmlns:a16="http://schemas.microsoft.com/office/drawing/2014/main" id="{B5F3A6E4-69CB-460C-A8B7-DFC2FC2E1CD9}"/>
              </a:ext>
            </a:extLst>
          </p:cNvPr>
          <p:cNvGraphicFramePr/>
          <p:nvPr/>
        </p:nvGraphicFramePr>
        <p:xfrm>
          <a:off xmlns:a="http://schemas.openxmlformats.org/drawingml/2006/main" x="609600" y="4000500"/>
          <a:ext xmlns:a="http://schemas.openxmlformats.org/drawingml/2006/main" cx="10972800" cy="2000250"/>
        </p:xfrm>
        <a:graphic xmlns:a="http://schemas.openxmlformats.org/drawingml/2006/main">
          <a:graphicData uri="http://schemas.openxmlformats.org/drawingml/2006/table">
            <a:tbl>
              <a:tblPr/>
              <a:tblGrid>
                <a:gridCol w="3657600"/>
                <a:gridCol w="3657600"/>
                <a:gridCol w="3657600"/>
              </a:tblGrid>
              <a:tr h="500063">
                <a:tc>
                  <a:txBody>
                    <a:bodyPr/>
                    <a:lstStyle/>
                    <a:p>
                      <a:r>
                        <a:rPr sz="1800" b="1">
                          <a:solidFill>
                            <a:srgbClr val="FFFFFF"/>
                          </a:solidFill>
                          <a:latin typeface="Arial"/>
                          <a:ea typeface="Arial"/>
                          <a:cs typeface="Arial"/>
                        </a:rPr>
                        <a:t>Method</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800" b="1">
                          <a:solidFill>
                            <a:srgbClr val="FFFFFF"/>
                          </a:solidFill>
                          <a:latin typeface="Arial"/>
                          <a:ea typeface="Arial"/>
                          <a:cs typeface="Arial"/>
                        </a:rPr>
                        <a:t>IDR/share</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800" b="1">
                          <a:solidFill>
                            <a:srgbClr val="FFFFFF"/>
                          </a:solidFill>
                          <a:latin typeface="Arial"/>
                          <a:ea typeface="Arial"/>
                          <a:cs typeface="Arial"/>
                        </a:rPr>
                        <a:t>Weight</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500063">
                <a:tc>
                  <a:txBody>
                    <a:bodyPr/>
                    <a:lstStyle/>
                    <a:p>
                      <a:r>
                        <a:rPr sz="1800" b="0">
                          <a:solidFill>
                            <a:srgbClr val="1C303B"/>
                          </a:solidFill>
                          <a:latin typeface="Arial"/>
                          <a:ea typeface="Arial"/>
                          <a:cs typeface="Arial"/>
                        </a:rPr>
                        <a:t>DDM</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4,552</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50%</a:t>
                      </a:r>
                    </a:p>
                  </a:txBody>
                  <a:tcPr marL="91440" marR="91440" marT="45720" marB="45720">
                    <a:lnR w="9525">
                      <a:solidFill>
                        <a:srgbClr val="DEE7E9"/>
                      </a:solidFill>
                      <a:prstDash val="solid"/>
                    </a:lnR>
                    <a:lnB w="9525">
                      <a:solidFill>
                        <a:srgbClr val="DEE7E9"/>
                      </a:solidFill>
                      <a:prstDash val="solid"/>
                    </a:lnB>
                    <a:solidFill>
                      <a:srgbClr val="EFF5F4"/>
                    </a:solidFill>
                  </a:tcPr>
                </a:tc>
              </a:tr>
              <a:tr h="500063">
                <a:tc>
                  <a:txBody>
                    <a:bodyPr/>
                    <a:lstStyle/>
                    <a:p>
                      <a:r>
                        <a:rPr sz="1800" b="0">
                          <a:solidFill>
                            <a:srgbClr val="1C303B"/>
                          </a:solidFill>
                          <a:latin typeface="Arial"/>
                          <a:ea typeface="Arial"/>
                          <a:cs typeface="Arial"/>
                        </a:rPr>
                        <a:t>Relative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800" b="0">
                          <a:solidFill>
                            <a:srgbClr val="1C303B"/>
                          </a:solidFill>
                          <a:latin typeface="Arial"/>
                          <a:ea typeface="Arial"/>
                          <a:cs typeface="Arial"/>
                        </a:rPr>
                        <a:t>2,710</a:t>
                      </a:r>
                    </a:p>
                  </a:txBody>
                  <a:tcPr marL="91440" marR="91440" marT="45720" marB="45720">
                    <a:lnR w="9525">
                      <a:solidFill>
                        <a:srgbClr val="DEE7E9"/>
                      </a:solidFill>
                      <a:prstDash val="solid"/>
                    </a:lnR>
                    <a:lnB w="9525">
                      <a:solidFill>
                        <a:srgbClr val="DEE7E9"/>
                      </a:solidFill>
                      <a:prstDash val="solid"/>
                    </a:lnB>
                    <a:solidFill>
                      <a:srgbClr val="FCFDFC"/>
                    </a:solidFill>
                  </a:tcPr>
                </a:tc>
                <a:tc>
                  <a:txBody>
                    <a:bodyPr/>
                    <a:lstStyle/>
                    <a:p>
                      <a:r>
                        <a:rPr sz="1800" b="0">
                          <a:solidFill>
                            <a:srgbClr val="1C303B"/>
                          </a:solidFill>
                          <a:latin typeface="Arial"/>
                          <a:ea typeface="Arial"/>
                          <a:cs typeface="Arial"/>
                        </a:rPr>
                        <a:t>50%</a:t>
                      </a:r>
                    </a:p>
                  </a:txBody>
                  <a:tcPr marL="91440" marR="91440" marT="45720" marB="45720">
                    <a:lnR w="9525">
                      <a:solidFill>
                        <a:srgbClr val="DEE7E9"/>
                      </a:solidFill>
                      <a:prstDash val="solid"/>
                    </a:lnR>
                    <a:lnB w="9525">
                      <a:solidFill>
                        <a:srgbClr val="DEE7E9"/>
                      </a:solidFill>
                      <a:prstDash val="solid"/>
                    </a:lnB>
                    <a:solidFill>
                      <a:srgbClr val="FCFDFC"/>
                    </a:solidFill>
                  </a:tcPr>
                </a:tc>
              </a:tr>
              <a:tr h="500063">
                <a:tc>
                  <a:txBody>
                    <a:bodyPr/>
                    <a:lstStyle/>
                    <a:p>
                      <a:r>
                        <a:rPr sz="1800" b="0">
                          <a:solidFill>
                            <a:srgbClr val="1C303B"/>
                          </a:solidFill>
                          <a:latin typeface="Arial"/>
                          <a:ea typeface="Arial"/>
                          <a:cs typeface="Arial"/>
                        </a:rPr>
                        <a:t>Observed price</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5,025</a:t>
                      </a:r>
                    </a:p>
                  </a:txBody>
                  <a:tcPr marL="91440" marR="91440" marT="45720" marB="45720">
                    <a:lnR w="9525">
                      <a:solidFill>
                        <a:srgbClr val="DEE7E9"/>
                      </a:solidFill>
                      <a:prstDash val="solid"/>
                    </a:lnR>
                    <a:lnB w="9525">
                      <a:solidFill>
                        <a:srgbClr val="DEE7E9"/>
                      </a:solidFill>
                      <a:prstDash val="solid"/>
                    </a:lnB>
                    <a:solidFill>
                      <a:srgbClr val="EFF5F4"/>
                    </a:solidFill>
                  </a:tcPr>
                </a:tc>
                <a:tc>
                  <a:txBody>
                    <a:bodyPr/>
                    <a:lstStyle/>
                    <a:p>
                      <a:r>
                        <a:rPr sz="1800" b="0">
                          <a:solidFill>
                            <a:srgbClr val="1C303B"/>
                          </a:solidFill>
                          <a:latin typeface="Arial"/>
                          <a:ea typeface="Arial"/>
                          <a:cs typeface="Arial"/>
                        </a:rPr>
                        <a:t>Comparison reference</a:t>
                      </a:r>
                    </a:p>
                  </a:txBody>
                  <a:tcPr marL="91440" marR="91440" marT="45720" marB="45720">
                    <a:lnR w="9525">
                      <a:solidFill>
                        <a:srgbClr val="DEE7E9"/>
                      </a:solidFill>
                      <a:prstDash val="solid"/>
                    </a:lnR>
                    <a:lnB w="9525">
                      <a:solidFill>
                        <a:srgbClr val="DEE7E9"/>
                      </a:solidFill>
                      <a:prstDash val="solid"/>
                    </a:lnB>
                    <a:solidFill>
                      <a:srgbClr val="EFF5F4"/>
                    </a:solidFill>
                  </a:tcPr>
                </a:tc>
              </a:tr>
            </a:tbl>
          </a:graphicData>
        </a:graphic>
      </p:graphicFrame>
    </p:spTree>
    <p:extLst>
      <p:ext uri="{BB962C8B-B14F-4D97-AF65-F5344CB8AC3E}">
        <p14:creationId xmlns:p14="http://schemas.microsoft.com/office/powerpoint/2010/main" val="2079018734"/>
      </p:ext>
    </p:extLst>
  </p:cSld>
</p:sld>
</file>

<file path=ppt/slides/slide1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D09B5D6-F472-4472-A542-15464D555B36}"/>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Validation, limitations and AI</a:t>
            </a:r>
          </a:p>
        </p:txBody>
      </p:sp>
      <p:sp>
        <p:nvSpPr>
          <p:cNvPr id="2" name="">
            <a:extLst xmlns:a="http://schemas.openxmlformats.org/drawingml/2006/main">
              <a:ext uri="{FF2B5EF4-FFF2-40B4-BE49-F238E27FC236}">
                <a16:creationId xmlns:a16="http://schemas.microsoft.com/office/drawing/2014/main" id="{8978C93C-3774-45A2-8C22-3FF1277B59C2}"/>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BBCA / 25 Oct 2026</a:t>
            </a:r>
          </a:p>
        </p:txBody>
      </p:sp>
      <p:sp>
        <p:nvSpPr>
          <p:cNvPr id="3" name="">
            <a:extLst xmlns:a="http://schemas.openxmlformats.org/drawingml/2006/main">
              <a:ext uri="{FF2B5EF4-FFF2-40B4-BE49-F238E27FC236}">
                <a16:creationId xmlns:a16="http://schemas.microsoft.com/office/drawing/2014/main" id="{167F0DD4-E777-4FC7-9016-EBFCE56E1C5D}"/>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66754AF0-806E-42B0-824A-D69FC614252D}"/>
              </a:ext>
            </a:extLst>
          </p:cNvPr>
          <p:cNvSpPr>
            <a:spLocks xmlns:a="http://schemas.openxmlformats.org/drawingml/2006/main" noGrp="1"/>
          </p:cNvSpPr>
          <p:nvPr/>
        </p:nvSpPr>
        <p:spPr>
          <a:xfrm xmlns:a="http://schemas.openxmlformats.org/drawingml/2006/main">
            <a:off x="609600" y="1952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C303B"/>
                </a:solidFill>
                <a:latin typeface="Arial"/>
                <a:ea typeface="Arial"/>
                <a:cs typeface="Arial"/>
              </a:defRPr>
            </a:defPPr>
            <a:lvl1pPr>
              <a:defRPr sz="2175" b="1">
                <a:solidFill>
                  <a:srgbClr val="1C303B"/>
                </a:solidFill>
                <a:latin typeface="Arial"/>
                <a:ea typeface="Arial"/>
                <a:cs typeface="Arial"/>
              </a:defRPr>
            </a:lvl1pPr>
            <a:lvl2pPr>
              <a:defRPr sz="2175" b="1">
                <a:solidFill>
                  <a:srgbClr val="1C303B"/>
                </a:solidFill>
                <a:latin typeface="Arial"/>
                <a:ea typeface="Arial"/>
                <a:cs typeface="Arial"/>
              </a:defRPr>
            </a:lvl2pPr>
            <a:lvl3pPr>
              <a:defRPr sz="2175" b="1">
                <a:solidFill>
                  <a:srgbClr val="1C303B"/>
                </a:solidFill>
                <a:latin typeface="Arial"/>
                <a:ea typeface="Arial"/>
                <a:cs typeface="Arial"/>
              </a:defRPr>
            </a:lvl3pPr>
            <a:lvl4pPr>
              <a:defRPr sz="2175" b="1">
                <a:solidFill>
                  <a:srgbClr val="1C303B"/>
                </a:solidFill>
                <a:latin typeface="Arial"/>
                <a:ea typeface="Arial"/>
                <a:cs typeface="Arial"/>
              </a:defRPr>
            </a:lvl4pPr>
            <a:lvl5pPr>
              <a:defRPr sz="2175" b="1">
                <a:solidFill>
                  <a:srgbClr val="1C303B"/>
                </a:solidFill>
                <a:latin typeface="Arial"/>
                <a:ea typeface="Arial"/>
                <a:cs typeface="Arial"/>
              </a:defRPr>
            </a:lvl5pPr>
            <a:lvl6pPr>
              <a:defRPr sz="2175" b="1">
                <a:solidFill>
                  <a:srgbClr val="1C303B"/>
                </a:solidFill>
                <a:latin typeface="Arial"/>
                <a:ea typeface="Arial"/>
                <a:cs typeface="Arial"/>
              </a:defRPr>
            </a:lvl6pPr>
            <a:lvl7pPr>
              <a:defRPr sz="2175" b="1">
                <a:solidFill>
                  <a:srgbClr val="1C303B"/>
                </a:solidFill>
                <a:latin typeface="Arial"/>
                <a:ea typeface="Arial"/>
                <a:cs typeface="Arial"/>
              </a:defRPr>
            </a:lvl7pPr>
            <a:lvl8pPr>
              <a:defRPr sz="2175" b="1">
                <a:solidFill>
                  <a:srgbClr val="1C303B"/>
                </a:solidFill>
                <a:latin typeface="Arial"/>
                <a:ea typeface="Arial"/>
                <a:cs typeface="Arial"/>
              </a:defRPr>
            </a:lvl8pPr>
            <a:lvl9pPr>
              <a:defRPr sz="2175" b="1">
                <a:solidFill>
                  <a:srgbClr val="1C303B"/>
                </a:solidFill>
                <a:latin typeface="Arial"/>
                <a:ea typeface="Arial"/>
                <a:cs typeface="Arial"/>
              </a:defRPr>
            </a:lvl9pPr>
          </a:lstStyle>
          <a:p xmlns:a="http://schemas.openxmlformats.org/drawingml/2006/main">
            <a:pPr>
              <a:defRPr sz="2175" b="1">
                <a:solidFill>
                  <a:srgbClr val="1C303B"/>
                </a:solidFill>
                <a:latin typeface="Arial"/>
                <a:ea typeface="Arial"/>
                <a:cs typeface="Arial"/>
              </a:defRPr>
            </a:pPr>
            <a:r>
              <a:rPr sz="2175" b="1">
                <a:solidFill>
                  <a:srgbClr val="1C303B"/>
                </a:solidFill>
                <a:latin typeface="Arial"/>
                <a:ea typeface="Arial"/>
                <a:cs typeface="Arial"/>
              </a:rPr>
              <a:t>Validation and coverage</a:t>
            </a:r>
          </a:p>
        </p:txBody>
      </p:sp>
      <p:sp>
        <p:nvSpPr>
          <p:cNvPr id="5" name="">
            <a:extLst xmlns:a="http://schemas.openxmlformats.org/drawingml/2006/main">
              <a:ext uri="{FF2B5EF4-FFF2-40B4-BE49-F238E27FC236}">
                <a16:creationId xmlns:a16="http://schemas.microsoft.com/office/drawing/2014/main" id="{A4F6EE3F-9575-40A7-BBDE-E2E7A92131E2}"/>
              </a:ext>
            </a:extLst>
          </p:cNvPr>
          <p:cNvSpPr>
            <a:spLocks xmlns:a="http://schemas.openxmlformats.org/drawingml/2006/main" noGrp="1"/>
          </p:cNvSpPr>
          <p:nvPr/>
        </p:nvSpPr>
        <p:spPr>
          <a:xfrm xmlns:a="http://schemas.openxmlformats.org/drawingml/2006/main">
            <a:off x="609600" y="24765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105 regression tests pass. Independent formula calculations match corporate DCF, bank DDM, relative and residual-income cases. All 683 eligible valuations have sensitivity, tornado and simulation output.</a:t>
            </a:r>
          </a:p>
        </p:txBody>
      </p:sp>
      <p:sp>
        <p:nvSpPr>
          <p:cNvPr id="6" name="">
            <a:extLst xmlns:a="http://schemas.openxmlformats.org/drawingml/2006/main">
              <a:ext uri="{FF2B5EF4-FFF2-40B4-BE49-F238E27FC236}">
                <a16:creationId xmlns:a16="http://schemas.microsoft.com/office/drawing/2014/main" id="{22C74F4D-BE33-4F42-B1C6-96A039262DD8}"/>
              </a:ext>
            </a:extLst>
          </p:cNvPr>
          <p:cNvSpPr>
            <a:spLocks xmlns:a="http://schemas.openxmlformats.org/drawingml/2006/main" noGrp="1"/>
          </p:cNvSpPr>
          <p:nvPr/>
        </p:nvSpPr>
        <p:spPr>
          <a:xfrm xmlns:a="http://schemas.openxmlformats.org/drawingml/2006/main">
            <a:off x="609600" y="3857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C303B"/>
                </a:solidFill>
                <a:latin typeface="Arial"/>
                <a:ea typeface="Arial"/>
                <a:cs typeface="Arial"/>
              </a:defRPr>
            </a:defPPr>
            <a:lvl1pPr>
              <a:defRPr sz="2175" b="1">
                <a:solidFill>
                  <a:srgbClr val="1C303B"/>
                </a:solidFill>
                <a:latin typeface="Arial"/>
                <a:ea typeface="Arial"/>
                <a:cs typeface="Arial"/>
              </a:defRPr>
            </a:lvl1pPr>
            <a:lvl2pPr>
              <a:defRPr sz="2175" b="1">
                <a:solidFill>
                  <a:srgbClr val="1C303B"/>
                </a:solidFill>
                <a:latin typeface="Arial"/>
                <a:ea typeface="Arial"/>
                <a:cs typeface="Arial"/>
              </a:defRPr>
            </a:lvl2pPr>
            <a:lvl3pPr>
              <a:defRPr sz="2175" b="1">
                <a:solidFill>
                  <a:srgbClr val="1C303B"/>
                </a:solidFill>
                <a:latin typeface="Arial"/>
                <a:ea typeface="Arial"/>
                <a:cs typeface="Arial"/>
              </a:defRPr>
            </a:lvl3pPr>
            <a:lvl4pPr>
              <a:defRPr sz="2175" b="1">
                <a:solidFill>
                  <a:srgbClr val="1C303B"/>
                </a:solidFill>
                <a:latin typeface="Arial"/>
                <a:ea typeface="Arial"/>
                <a:cs typeface="Arial"/>
              </a:defRPr>
            </a:lvl4pPr>
            <a:lvl5pPr>
              <a:defRPr sz="2175" b="1">
                <a:solidFill>
                  <a:srgbClr val="1C303B"/>
                </a:solidFill>
                <a:latin typeface="Arial"/>
                <a:ea typeface="Arial"/>
                <a:cs typeface="Arial"/>
              </a:defRPr>
            </a:lvl5pPr>
            <a:lvl6pPr>
              <a:defRPr sz="2175" b="1">
                <a:solidFill>
                  <a:srgbClr val="1C303B"/>
                </a:solidFill>
                <a:latin typeface="Arial"/>
                <a:ea typeface="Arial"/>
                <a:cs typeface="Arial"/>
              </a:defRPr>
            </a:lvl6pPr>
            <a:lvl7pPr>
              <a:defRPr sz="2175" b="1">
                <a:solidFill>
                  <a:srgbClr val="1C303B"/>
                </a:solidFill>
                <a:latin typeface="Arial"/>
                <a:ea typeface="Arial"/>
                <a:cs typeface="Arial"/>
              </a:defRPr>
            </a:lvl7pPr>
            <a:lvl8pPr>
              <a:defRPr sz="2175" b="1">
                <a:solidFill>
                  <a:srgbClr val="1C303B"/>
                </a:solidFill>
                <a:latin typeface="Arial"/>
                <a:ea typeface="Arial"/>
                <a:cs typeface="Arial"/>
              </a:defRPr>
            </a:lvl8pPr>
            <a:lvl9pPr>
              <a:defRPr sz="2175" b="1">
                <a:solidFill>
                  <a:srgbClr val="1C303B"/>
                </a:solidFill>
                <a:latin typeface="Arial"/>
                <a:ea typeface="Arial"/>
                <a:cs typeface="Arial"/>
              </a:defRPr>
            </a:lvl9pPr>
          </a:lstStyle>
          <a:p xmlns:a="http://schemas.openxmlformats.org/drawingml/2006/main">
            <a:pPr>
              <a:defRPr sz="2175" b="1">
                <a:solidFill>
                  <a:srgbClr val="1C303B"/>
                </a:solidFill>
                <a:latin typeface="Arial"/>
                <a:ea typeface="Arial"/>
                <a:cs typeface="Arial"/>
              </a:defRPr>
            </a:pPr>
            <a:r>
              <a:rPr sz="2175" b="1">
                <a:solidFill>
                  <a:srgbClr val="1C303B"/>
                </a:solidFill>
                <a:latin typeface="Arial"/>
                <a:ea typeface="Arial"/>
                <a:cs typeface="Arial"/>
              </a:rPr>
              <a:t>Limitations and AI disclosure</a:t>
            </a:r>
          </a:p>
        </p:txBody>
      </p:sp>
      <p:sp>
        <p:nvSpPr>
          <p:cNvPr id="7" name="">
            <a:extLst xmlns:a="http://schemas.openxmlformats.org/drawingml/2006/main">
              <a:ext uri="{FF2B5EF4-FFF2-40B4-BE49-F238E27FC236}">
                <a16:creationId xmlns:a16="http://schemas.microsoft.com/office/drawing/2014/main" id="{556E94F3-D924-4653-8CC9-A090E07263C5}"/>
              </a:ext>
            </a:extLst>
          </p:cNvPr>
          <p:cNvSpPr>
            <a:spLocks xmlns:a="http://schemas.openxmlformats.org/drawingml/2006/main" noGrp="1"/>
          </p:cNvSpPr>
          <p:nvPr/>
        </p:nvSpPr>
        <p:spPr>
          <a:xfrm xmlns:a="http://schemas.openxmlformats.org/drawingml/2006/main">
            <a:off x="609600" y="4381500"/>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Primary archives cover 924 of 962 issuers. Missing notes/leases/D&amp;A remain flagged. AI assisted software and documentation; deterministic calculations produce values. Forecasts and peer economics still require human review.</a:t>
            </a:r>
          </a:p>
        </p:txBody>
      </p:sp>
    </p:spTree>
    <p:extLst>
      <p:ext uri="{BB962C8B-B14F-4D97-AF65-F5344CB8AC3E}">
        <p14:creationId xmlns:p14="http://schemas.microsoft.com/office/powerpoint/2010/main" val="124186343"/>
      </p:ext>
    </p:extLst>
  </p:cSld>
</p:sld>
</file>

<file path=ppt/slides/slide1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32C4281-5805-4732-8332-DDD076C0A2D5}"/>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References</a:t>
            </a:r>
          </a:p>
        </p:txBody>
      </p:sp>
      <p:sp>
        <p:nvSpPr>
          <p:cNvPr id="2" name="">
            <a:extLst xmlns:a="http://schemas.openxmlformats.org/drawingml/2006/main">
              <a:ext uri="{FF2B5EF4-FFF2-40B4-BE49-F238E27FC236}">
                <a16:creationId xmlns:a16="http://schemas.microsoft.com/office/drawing/2014/main" id="{8C21C439-F408-4598-B9A4-5F2B787B099E}"/>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BBCA / 25 Oct 2026</a:t>
            </a:r>
          </a:p>
        </p:txBody>
      </p:sp>
      <p:sp>
        <p:nvSpPr>
          <p:cNvPr id="3" name="">
            <a:extLst xmlns:a="http://schemas.openxmlformats.org/drawingml/2006/main">
              <a:ext uri="{FF2B5EF4-FFF2-40B4-BE49-F238E27FC236}">
                <a16:creationId xmlns:a16="http://schemas.microsoft.com/office/drawing/2014/main" id="{C5F6A19B-127C-42EA-AAE0-236B868DF7AF}"/>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C2714881-48E3-4D95-B0A3-8BBA332A95E5}"/>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977"/>
                </a:solidFill>
                <a:latin typeface="Arial"/>
                <a:ea typeface="Arial"/>
                <a:cs typeface="Arial"/>
              </a:defRPr>
            </a:defPPr>
            <a:lvl1pPr>
              <a:defRPr sz="1875" b="0">
                <a:solidFill>
                  <a:srgbClr val="526977"/>
                </a:solidFill>
                <a:latin typeface="Arial"/>
                <a:ea typeface="Arial"/>
                <a:cs typeface="Arial"/>
              </a:defRPr>
            </a:lvl1pPr>
            <a:lvl2pPr>
              <a:defRPr sz="1875" b="0">
                <a:solidFill>
                  <a:srgbClr val="526977"/>
                </a:solidFill>
                <a:latin typeface="Arial"/>
                <a:ea typeface="Arial"/>
                <a:cs typeface="Arial"/>
              </a:defRPr>
            </a:lvl2pPr>
            <a:lvl3pPr>
              <a:defRPr sz="1875" b="0">
                <a:solidFill>
                  <a:srgbClr val="526977"/>
                </a:solidFill>
                <a:latin typeface="Arial"/>
                <a:ea typeface="Arial"/>
                <a:cs typeface="Arial"/>
              </a:defRPr>
            </a:lvl3pPr>
            <a:lvl4pPr>
              <a:defRPr sz="1875" b="0">
                <a:solidFill>
                  <a:srgbClr val="526977"/>
                </a:solidFill>
                <a:latin typeface="Arial"/>
                <a:ea typeface="Arial"/>
                <a:cs typeface="Arial"/>
              </a:defRPr>
            </a:lvl4pPr>
            <a:lvl5pPr>
              <a:defRPr sz="1875" b="0">
                <a:solidFill>
                  <a:srgbClr val="526977"/>
                </a:solidFill>
                <a:latin typeface="Arial"/>
                <a:ea typeface="Arial"/>
                <a:cs typeface="Arial"/>
              </a:defRPr>
            </a:lvl5pPr>
            <a:lvl6pPr>
              <a:defRPr sz="1875" b="0">
                <a:solidFill>
                  <a:srgbClr val="526977"/>
                </a:solidFill>
                <a:latin typeface="Arial"/>
                <a:ea typeface="Arial"/>
                <a:cs typeface="Arial"/>
              </a:defRPr>
            </a:lvl6pPr>
            <a:lvl7pPr>
              <a:defRPr sz="1875" b="0">
                <a:solidFill>
                  <a:srgbClr val="526977"/>
                </a:solidFill>
                <a:latin typeface="Arial"/>
                <a:ea typeface="Arial"/>
                <a:cs typeface="Arial"/>
              </a:defRPr>
            </a:lvl7pPr>
            <a:lvl8pPr>
              <a:defRPr sz="1875" b="0">
                <a:solidFill>
                  <a:srgbClr val="526977"/>
                </a:solidFill>
                <a:latin typeface="Arial"/>
                <a:ea typeface="Arial"/>
                <a:cs typeface="Arial"/>
              </a:defRPr>
            </a:lvl8pPr>
            <a:lvl9pPr>
              <a:defRPr sz="1875" b="0">
                <a:solidFill>
                  <a:srgbClr val="526977"/>
                </a:solidFill>
                <a:latin typeface="Arial"/>
                <a:ea typeface="Arial"/>
                <a:cs typeface="Arial"/>
              </a:defRPr>
            </a:lvl9pPr>
          </a:lstStyle>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IDX consolidated financial statements and annual reports</a:t>
            </a:r>
          </a:p>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https://www.idx.id/</a:t>
            </a:r>
          </a:p>
          <a:p xmlns:a="http://schemas.openxmlformats.org/drawingml/2006/main">
            <a:r>
              <a:t/>
            </a:r>
          </a:p>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Yahoo Finance market and fundamental observations</a:t>
            </a:r>
          </a:p>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https://finance.yahoo.com/</a:t>
            </a:r>
          </a:p>
          <a:p xmlns:a="http://schemas.openxmlformats.org/drawingml/2006/main">
            <a:r>
              <a:t/>
            </a:r>
          </a:p>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Damodaran / Financial-service valuation</a:t>
            </a:r>
          </a:p>
          <a:p xmlns:a="http://schemas.openxmlformats.org/drawingml/2006/main">
            <a:pPr>
              <a:defRPr sz="1875" b="0">
                <a:solidFill>
                  <a:srgbClr val="526977"/>
                </a:solidFill>
                <a:latin typeface="Arial"/>
                <a:ea typeface="Arial"/>
                <a:cs typeface="Arial"/>
              </a:defRPr>
            </a:pPr>
            <a:r>
              <a:rPr sz="1875" b="0">
                <a:solidFill>
                  <a:srgbClr val="526977"/>
                </a:solidFill>
                <a:latin typeface="Arial"/>
                <a:ea typeface="Arial"/>
                <a:cs typeface="Arial"/>
              </a:rPr>
              <a:t>https://pages.stern.nyu.edu/~adamodar/pdfiles/country/finsvce.pdf</a:t>
            </a:r>
          </a:p>
        </p:txBody>
      </p:sp>
    </p:spTree>
    <p:extLst>
      <p:ext uri="{BB962C8B-B14F-4D97-AF65-F5344CB8AC3E}">
        <p14:creationId xmlns:p14="http://schemas.microsoft.com/office/powerpoint/2010/main" val="1353327447"/>
      </p:ext>
    </p:extLst>
  </p:cSld>
</p:sld>
</file>

<file path=ppt/slides/slide1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35C7B21-29E1-48F7-93C0-25507F7CE65C}"/>
              </a:ext>
            </a:extLst>
          </p:cNvPr>
          <p:cNvSpPr>
            <a:spLocks xmlns:a="http://schemas.openxmlformats.org/drawingml/2006/main" noGrp="1"/>
          </p:cNvSpPr>
          <p:nvPr/>
        </p:nvSpPr>
        <p:spPr>
          <a:xfrm xmlns:a="http://schemas.openxmlformats.org/drawingml/2006/main">
            <a:off x="609600" y="6096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C303B"/>
                </a:solidFill>
                <a:latin typeface="Arial"/>
                <a:ea typeface="Arial"/>
                <a:cs typeface="Arial"/>
              </a:defRPr>
            </a:defPPr>
            <a:lvl1pPr>
              <a:defRPr sz="3225" b="1">
                <a:solidFill>
                  <a:srgbClr val="1C303B"/>
                </a:solidFill>
                <a:latin typeface="Arial"/>
                <a:ea typeface="Arial"/>
                <a:cs typeface="Arial"/>
              </a:defRPr>
            </a:lvl1pPr>
            <a:lvl2pPr>
              <a:defRPr sz="3225" b="1">
                <a:solidFill>
                  <a:srgbClr val="1C303B"/>
                </a:solidFill>
                <a:latin typeface="Arial"/>
                <a:ea typeface="Arial"/>
                <a:cs typeface="Arial"/>
              </a:defRPr>
            </a:lvl2pPr>
            <a:lvl3pPr>
              <a:defRPr sz="3225" b="1">
                <a:solidFill>
                  <a:srgbClr val="1C303B"/>
                </a:solidFill>
                <a:latin typeface="Arial"/>
                <a:ea typeface="Arial"/>
                <a:cs typeface="Arial"/>
              </a:defRPr>
            </a:lvl3pPr>
            <a:lvl4pPr>
              <a:defRPr sz="3225" b="1">
                <a:solidFill>
                  <a:srgbClr val="1C303B"/>
                </a:solidFill>
                <a:latin typeface="Arial"/>
                <a:ea typeface="Arial"/>
                <a:cs typeface="Arial"/>
              </a:defRPr>
            </a:lvl4pPr>
            <a:lvl5pPr>
              <a:defRPr sz="3225" b="1">
                <a:solidFill>
                  <a:srgbClr val="1C303B"/>
                </a:solidFill>
                <a:latin typeface="Arial"/>
                <a:ea typeface="Arial"/>
                <a:cs typeface="Arial"/>
              </a:defRPr>
            </a:lvl5pPr>
            <a:lvl6pPr>
              <a:defRPr sz="3225" b="1">
                <a:solidFill>
                  <a:srgbClr val="1C303B"/>
                </a:solidFill>
                <a:latin typeface="Arial"/>
                <a:ea typeface="Arial"/>
                <a:cs typeface="Arial"/>
              </a:defRPr>
            </a:lvl6pPr>
            <a:lvl7pPr>
              <a:defRPr sz="3225" b="1">
                <a:solidFill>
                  <a:srgbClr val="1C303B"/>
                </a:solidFill>
                <a:latin typeface="Arial"/>
                <a:ea typeface="Arial"/>
                <a:cs typeface="Arial"/>
              </a:defRPr>
            </a:lvl7pPr>
            <a:lvl8pPr>
              <a:defRPr sz="3225" b="1">
                <a:solidFill>
                  <a:srgbClr val="1C303B"/>
                </a:solidFill>
                <a:latin typeface="Arial"/>
                <a:ea typeface="Arial"/>
                <a:cs typeface="Arial"/>
              </a:defRPr>
            </a:lvl8pPr>
            <a:lvl9pPr>
              <a:defRPr sz="3225" b="1">
                <a:solidFill>
                  <a:srgbClr val="1C303B"/>
                </a:solidFill>
                <a:latin typeface="Arial"/>
                <a:ea typeface="Arial"/>
                <a:cs typeface="Arial"/>
              </a:defRPr>
            </a:lvl9pPr>
          </a:lstStyle>
          <a:p xmlns:a="http://schemas.openxmlformats.org/drawingml/2006/main">
            <a:pPr>
              <a:defRPr sz="3225" b="1">
                <a:solidFill>
                  <a:srgbClr val="1C303B"/>
                </a:solidFill>
                <a:latin typeface="Arial"/>
                <a:ea typeface="Arial"/>
                <a:cs typeface="Arial"/>
              </a:defRPr>
            </a:pPr>
            <a:r>
              <a:rPr sz="3225" b="1">
                <a:solidFill>
                  <a:srgbClr val="1C303B"/>
                </a:solidFill>
                <a:latin typeface="Arial"/>
                <a:ea typeface="Arial"/>
                <a:cs typeface="Arial"/>
              </a:rPr>
              <a:t>Appendix / reproduction and data scope</a:t>
            </a:r>
          </a:p>
        </p:txBody>
      </p:sp>
      <p:sp>
        <p:nvSpPr>
          <p:cNvPr id="2" name="">
            <a:extLst xmlns:a="http://schemas.openxmlformats.org/drawingml/2006/main">
              <a:ext uri="{FF2B5EF4-FFF2-40B4-BE49-F238E27FC236}">
                <a16:creationId xmlns:a16="http://schemas.microsoft.com/office/drawing/2014/main" id="{E4E21716-E4F9-4BA2-A5D9-F23DEF4BFC5C}"/>
              </a:ext>
            </a:extLst>
          </p:cNvPr>
          <p:cNvSpPr>
            <a:spLocks xmlns:a="http://schemas.openxmlformats.org/drawingml/2006/main" noGrp="1"/>
          </p:cNvSpPr>
          <p:nvPr/>
        </p:nvSpPr>
        <p:spPr>
          <a:xfrm xmlns:a="http://schemas.openxmlformats.org/drawingml/2006/main">
            <a:off x="609600" y="63246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RALVEN 5.0 / BBCA / 25 Oct 2026</a:t>
            </a:r>
          </a:p>
        </p:txBody>
      </p:sp>
      <p:sp>
        <p:nvSpPr>
          <p:cNvPr id="3" name="">
            <a:extLst xmlns:a="http://schemas.openxmlformats.org/drawingml/2006/main">
              <a:ext uri="{FF2B5EF4-FFF2-40B4-BE49-F238E27FC236}">
                <a16:creationId xmlns:a16="http://schemas.microsoft.com/office/drawing/2014/main" id="{E3755424-DD9D-4836-B1DA-4AA4B3FC0D95}"/>
              </a:ext>
            </a:extLst>
          </p:cNvPr>
          <p:cNvSpPr>
            <a:spLocks xmlns:a="http://schemas.openxmlformats.org/drawingml/2006/main" noGrp="1"/>
          </p:cNvSpPr>
          <p:nvPr/>
        </p:nvSpPr>
        <p:spPr>
          <a:xfrm xmlns:a="http://schemas.openxmlformats.org/drawingml/2006/main">
            <a:off x="11001375" y="632460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26977"/>
                </a:solidFill>
                <a:latin typeface="Arial"/>
                <a:ea typeface="Arial"/>
                <a:cs typeface="Arial"/>
              </a:defRPr>
            </a:defPPr>
            <a:lvl1pPr>
              <a:defRPr sz="1125" b="0">
                <a:solidFill>
                  <a:srgbClr val="526977"/>
                </a:solidFill>
                <a:latin typeface="Arial"/>
                <a:ea typeface="Arial"/>
                <a:cs typeface="Arial"/>
              </a:defRPr>
            </a:lvl1pPr>
            <a:lvl2pPr>
              <a:defRPr sz="1125" b="0">
                <a:solidFill>
                  <a:srgbClr val="526977"/>
                </a:solidFill>
                <a:latin typeface="Arial"/>
                <a:ea typeface="Arial"/>
                <a:cs typeface="Arial"/>
              </a:defRPr>
            </a:lvl2pPr>
            <a:lvl3pPr>
              <a:defRPr sz="1125" b="0">
                <a:solidFill>
                  <a:srgbClr val="526977"/>
                </a:solidFill>
                <a:latin typeface="Arial"/>
                <a:ea typeface="Arial"/>
                <a:cs typeface="Arial"/>
              </a:defRPr>
            </a:lvl3pPr>
            <a:lvl4pPr>
              <a:defRPr sz="1125" b="0">
                <a:solidFill>
                  <a:srgbClr val="526977"/>
                </a:solidFill>
                <a:latin typeface="Arial"/>
                <a:ea typeface="Arial"/>
                <a:cs typeface="Arial"/>
              </a:defRPr>
            </a:lvl4pPr>
            <a:lvl5pPr>
              <a:defRPr sz="1125" b="0">
                <a:solidFill>
                  <a:srgbClr val="526977"/>
                </a:solidFill>
                <a:latin typeface="Arial"/>
                <a:ea typeface="Arial"/>
                <a:cs typeface="Arial"/>
              </a:defRPr>
            </a:lvl5pPr>
            <a:lvl6pPr>
              <a:defRPr sz="1125" b="0">
                <a:solidFill>
                  <a:srgbClr val="526977"/>
                </a:solidFill>
                <a:latin typeface="Arial"/>
                <a:ea typeface="Arial"/>
                <a:cs typeface="Arial"/>
              </a:defRPr>
            </a:lvl6pPr>
            <a:lvl7pPr>
              <a:defRPr sz="1125" b="0">
                <a:solidFill>
                  <a:srgbClr val="526977"/>
                </a:solidFill>
                <a:latin typeface="Arial"/>
                <a:ea typeface="Arial"/>
                <a:cs typeface="Arial"/>
              </a:defRPr>
            </a:lvl7pPr>
            <a:lvl8pPr>
              <a:defRPr sz="1125" b="0">
                <a:solidFill>
                  <a:srgbClr val="526977"/>
                </a:solidFill>
                <a:latin typeface="Arial"/>
                <a:ea typeface="Arial"/>
                <a:cs typeface="Arial"/>
              </a:defRPr>
            </a:lvl8pPr>
            <a:lvl9pPr>
              <a:defRPr sz="1125" b="0">
                <a:solidFill>
                  <a:srgbClr val="526977"/>
                </a:solidFill>
                <a:latin typeface="Arial"/>
                <a:ea typeface="Arial"/>
                <a:cs typeface="Arial"/>
              </a:defRPr>
            </a:lvl9pPr>
          </a:lstStyle>
          <a:p xmlns:a="http://schemas.openxmlformats.org/drawingml/2006/main">
            <a:pPr>
              <a:defRPr sz="1125" b="0">
                <a:solidFill>
                  <a:srgbClr val="526977"/>
                </a:solidFill>
                <a:latin typeface="Arial"/>
                <a:ea typeface="Arial"/>
                <a:cs typeface="Arial"/>
              </a:defRPr>
            </a:pPr>
            <a:r>
              <a:rPr sz="1125" b="0">
                <a:solidFill>
                  <a:srgbClr val="526977"/>
                </a:solidFill>
                <a:latin typeface="Arial"/>
                <a:ea typeface="Arial"/>
                <a:cs typeface="Arial"/>
              </a:rPr>
              <a:t>17</a:t>
            </a:r>
          </a:p>
        </p:txBody>
      </p:sp>
      <p:graphicFrame>
        <p:nvGraphicFramePr>
          <p:cNvPr id="4" name="">
            <a:extLst xmlns:a="http://schemas.openxmlformats.org/drawingml/2006/main">
              <a:ext uri="{FF2B5EF4-FFF2-40B4-BE49-F238E27FC236}">
                <a16:creationId xmlns:a16="http://schemas.microsoft.com/office/drawing/2014/main" id="{4E4AA725-243F-476F-B5E2-FBBF66B13BFD}"/>
              </a:ext>
            </a:extLst>
          </p:cNvPr>
          <p:cNvGraphicFramePr/>
          <p:nvPr/>
        </p:nvGraphicFramePr>
        <p:xfrm>
          <a:off xmlns:a="http://schemas.openxmlformats.org/drawingml/2006/main" x="609600" y="1952625"/>
          <a:ext xmlns:a="http://schemas.openxmlformats.org/drawingml/2006/main" cx="10972800" cy="3714750"/>
        </p:xfrm>
        <a:graphic xmlns:a="http://schemas.openxmlformats.org/drawingml/2006/main">
          <a:graphicData uri="http://schemas.openxmlformats.org/drawingml/2006/table">
            <a:tbl>
              <a:tblPr/>
              <a:tblGrid>
                <a:gridCol w="5486400"/>
                <a:gridCol w="5486400"/>
              </a:tblGrid>
              <a:tr h="530679">
                <a:tc>
                  <a:txBody>
                    <a:bodyPr/>
                    <a:lstStyle/>
                    <a:p>
                      <a:r>
                        <a:rPr sz="1575" b="1">
                          <a:solidFill>
                            <a:srgbClr val="FFFFFF"/>
                          </a:solidFill>
                          <a:latin typeface="Arial"/>
                          <a:ea typeface="Arial"/>
                          <a:cs typeface="Arial"/>
                        </a:rPr>
                        <a:t>Artifact / step</a:t>
                      </a:r>
                    </a:p>
                  </a:txBody>
                  <a:tcPr marL="91440" marR="91440" marT="45720" marB="45720">
                    <a:lnL w="9525">
                      <a:solidFill>
                        <a:srgbClr val="DEE7E9"/>
                      </a:solidFill>
                      <a:prstDash val="solid"/>
                    </a:lnL>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c>
                  <a:txBody>
                    <a:bodyPr/>
                    <a:lstStyle/>
                    <a:p>
                      <a:r>
                        <a:rPr sz="1575" b="1">
                          <a:solidFill>
                            <a:srgbClr val="FFFFFF"/>
                          </a:solidFill>
                          <a:latin typeface="Arial"/>
                          <a:ea typeface="Arial"/>
                          <a:cs typeface="Arial"/>
                        </a:rPr>
                        <a:t>Purpose</a:t>
                      </a:r>
                    </a:p>
                  </a:txBody>
                  <a:tcPr marL="91440" marR="91440" marT="45720" marB="45720">
                    <a:lnR w="9525">
                      <a:solidFill>
                        <a:srgbClr val="DEE7E9"/>
                      </a:solidFill>
                      <a:prstDash val="solid"/>
                    </a:lnR>
                    <a:lnT w="9525">
                      <a:solidFill>
                        <a:srgbClr val="DEE7E9"/>
                      </a:solidFill>
                      <a:prstDash val="solid"/>
                    </a:lnT>
                    <a:lnB w="9525">
                      <a:solidFill>
                        <a:srgbClr val="DEE7E9"/>
                      </a:solidFill>
                      <a:prstDash val="solid"/>
                    </a:lnB>
                    <a:solidFill>
                      <a:srgbClr val="1C303B"/>
                    </a:solidFill>
                  </a:tcPr>
                </a:tc>
              </a:tr>
              <a:tr h="530679">
                <a:tc>
                  <a:txBody>
                    <a:bodyPr/>
                    <a:lstStyle/>
                    <a:p>
                      <a:r>
                        <a:rPr sz="1575" b="0">
                          <a:solidFill>
                            <a:srgbClr val="1C303B"/>
                          </a:solidFill>
                          <a:latin typeface="Arial"/>
                          <a:ea typeface="Arial"/>
                          <a:cs typeface="Arial"/>
                        </a:rPr>
                        <a:t>RALVEN_BBCA_Workspace.json</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Exact input and simulation settings; refresh restores source authority</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575" b="0">
                          <a:solidFill>
                            <a:srgbClr val="1C303B"/>
                          </a:solidFill>
                          <a:latin typeface="Arial"/>
                          <a:ea typeface="Arial"/>
                          <a:cs typeface="Arial"/>
                        </a:rPr>
                        <a:t>RALVEN_BBCA_Model.xlsx</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Linked formula chain, annual paths and validation guards</a:t>
                      </a:r>
                    </a:p>
                  </a:txBody>
                  <a:tcPr marL="91440" marR="91440" marT="45720" marB="45720">
                    <a:lnR w="9525">
                      <a:solidFill>
                        <a:srgbClr val="DEE7E9"/>
                      </a:solidFill>
                      <a:prstDash val="solid"/>
                    </a:lnR>
                    <a:lnB w="9525">
                      <a:solidFill>
                        <a:srgbClr val="DEE7E9"/>
                      </a:solidFill>
                      <a:prstDash val="solid"/>
                    </a:lnB>
                    <a:solidFill>
                      <a:srgbClr val="FCFDFC"/>
                    </a:solidFill>
                  </a:tcPr>
                </a:tc>
              </a:tr>
              <a:tr h="530679">
                <a:tc>
                  <a:txBody>
                    <a:bodyPr/>
                    <a:lstStyle/>
                    <a:p>
                      <a:r>
                        <a:rPr sz="1575" b="0">
                          <a:solidFill>
                            <a:srgbClr val="1C303B"/>
                          </a:solidFill>
                          <a:latin typeface="Arial"/>
                          <a:ea typeface="Arial"/>
                          <a:cs typeface="Arial"/>
                        </a:rPr>
                        <a:t>BBCA EN/ID PDF reports</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Methods, assumptions, sensitivities and source lineage</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575" b="0">
                          <a:solidFill>
                            <a:srgbClr val="1C303B"/>
                          </a:solidFill>
                          <a:latin typeface="Arial"/>
                          <a:ea typeface="Arial"/>
                          <a:cs typeface="Arial"/>
                        </a:rPr>
                        <a:t>Node.js 24+ / node server.mjs</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Local app setup; network required for new sources</a:t>
                      </a:r>
                    </a:p>
                  </a:txBody>
                  <a:tcPr marL="91440" marR="91440" marT="45720" marB="45720">
                    <a:lnR w="9525">
                      <a:solidFill>
                        <a:srgbClr val="DEE7E9"/>
                      </a:solidFill>
                      <a:prstDash val="solid"/>
                    </a:lnR>
                    <a:lnB w="9525">
                      <a:solidFill>
                        <a:srgbClr val="DEE7E9"/>
                      </a:solidFill>
                      <a:prstDash val="solid"/>
                    </a:lnB>
                    <a:solidFill>
                      <a:srgbClr val="FCFDFC"/>
                    </a:solidFill>
                  </a:tcPr>
                </a:tc>
              </a:tr>
              <a:tr h="530679">
                <a:tc>
                  <a:txBody>
                    <a:bodyPr/>
                    <a:lstStyle/>
                    <a:p>
                      <a:r>
                        <a:rPr sz="1575" b="0">
                          <a:solidFill>
                            <a:srgbClr val="1C303B"/>
                          </a:solidFill>
                          <a:latin typeface="Arial"/>
                          <a:ea typeface="Arial"/>
                          <a:cs typeface="Arial"/>
                        </a:rPr>
                        <a:t>Implementation_Status.md</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EFF5F4"/>
                    </a:solidFill>
                  </a:tcPr>
                </a:tc>
                <a:tc>
                  <a:txBody>
                    <a:bodyPr/>
                    <a:lstStyle/>
                    <a:p>
                      <a:r>
                        <a:rPr sz="1575" b="0">
                          <a:solidFill>
                            <a:srgbClr val="1C303B"/>
                          </a:solidFill>
                          <a:latin typeface="Arial"/>
                          <a:ea typeface="Arial"/>
                          <a:cs typeface="Arial"/>
                        </a:rPr>
                        <a:t>Outstanding audit work and known limitations</a:t>
                      </a:r>
                    </a:p>
                  </a:txBody>
                  <a:tcPr marL="91440" marR="91440" marT="45720" marB="45720">
                    <a:lnR w="9525">
                      <a:solidFill>
                        <a:srgbClr val="DEE7E9"/>
                      </a:solidFill>
                      <a:prstDash val="solid"/>
                    </a:lnR>
                    <a:lnB w="9525">
                      <a:solidFill>
                        <a:srgbClr val="DEE7E9"/>
                      </a:solidFill>
                      <a:prstDash val="solid"/>
                    </a:lnB>
                    <a:solidFill>
                      <a:srgbClr val="EFF5F4"/>
                    </a:solidFill>
                  </a:tcPr>
                </a:tc>
              </a:tr>
              <a:tr h="530679">
                <a:tc>
                  <a:txBody>
                    <a:bodyPr/>
                    <a:lstStyle/>
                    <a:p>
                      <a:r>
                        <a:rPr sz="1575" b="0">
                          <a:solidFill>
                            <a:srgbClr val="1C303B"/>
                          </a:solidFill>
                          <a:latin typeface="Arial"/>
                          <a:ea typeface="Arial"/>
                          <a:cs typeface="Arial"/>
                        </a:rPr>
                        <a:t>Contact</a:t>
                      </a:r>
                    </a:p>
                  </a:txBody>
                  <a:tcPr marL="91440" marR="91440" marT="45720" marB="45720">
                    <a:lnL w="9525">
                      <a:solidFill>
                        <a:srgbClr val="DEE7E9"/>
                      </a:solidFill>
                      <a:prstDash val="solid"/>
                    </a:lnL>
                    <a:lnR w="9525">
                      <a:solidFill>
                        <a:srgbClr val="DEE7E9"/>
                      </a:solidFill>
                      <a:prstDash val="solid"/>
                    </a:lnR>
                    <a:lnB w="9525">
                      <a:solidFill>
                        <a:srgbClr val="DEE7E9"/>
                      </a:solidFill>
                      <a:prstDash val="solid"/>
                    </a:lnB>
                    <a:solidFill>
                      <a:srgbClr val="FCFDFC"/>
                    </a:solidFill>
                  </a:tcPr>
                </a:tc>
                <a:tc>
                  <a:txBody>
                    <a:bodyPr/>
                    <a:lstStyle/>
                    <a:p>
                      <a:r>
                        <a:rPr sz="1575" b="0">
                          <a:solidFill>
                            <a:srgbClr val="1C303B"/>
                          </a:solidFill>
                          <a:latin typeface="Arial"/>
                          <a:ea typeface="Arial"/>
                          <a:cs typeface="Arial"/>
                        </a:rPr>
                        <a:t>yusufzaakaria@gmail.com / linkedin.com/in/yusuf-zakaria</a:t>
                      </a:r>
                    </a:p>
                  </a:txBody>
                  <a:tcPr marL="91440" marR="91440" marT="45720" marB="45720">
                    <a:lnR w="9525">
                      <a:solidFill>
                        <a:srgbClr val="DEE7E9"/>
                      </a:solidFill>
                      <a:prstDash val="solid"/>
                    </a:lnR>
                    <a:lnB w="9525">
                      <a:solidFill>
                        <a:srgbClr val="DEE7E9"/>
                      </a:solidFill>
                      <a:prstDash val="solid"/>
                    </a:lnB>
                    <a:solidFill>
                      <a:srgbClr val="FCFDFC"/>
                    </a:solidFill>
                  </a:tcPr>
                </a:tc>
              </a:tr>
            </a:tbl>
          </a:graphicData>
        </a:graphic>
      </p:graphicFrame>
    </p:spTree>
    <p:extLst>
      <p:ext uri="{BB962C8B-B14F-4D97-AF65-F5344CB8AC3E}">
        <p14:creationId xmlns:p14="http://schemas.microsoft.com/office/powerpoint/2010/main" val="11055616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2026-10-25T10:49:24.6750000Z</dcterms:created>
  <dcterms:modified xsi:type="dcterms:W3CDTF">2026-10-25T10:49:24.6750000Z</dcterms:modified>
</coreProperties>
</file>