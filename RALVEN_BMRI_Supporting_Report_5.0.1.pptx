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2.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c296a64b7434082" /><Relationship Type="http://schemas.openxmlformats.org/officeDocument/2006/relationships/extended-properties" Target="/docProps/app.xml" Id="R3d8bbb28feec4e7d" /><Relationship Type="http://schemas.openxmlformats.org/officeDocument/2006/relationships/officeDocument" Target="/ppt/presentation.xml" Id="R6bc3dca569c24953" /></Relationships>
</file>

<file path=ppt/presentation.xml><?xml version="1.0" encoding="utf-8"?>
<p:presentation xmlns:p="http://schemas.openxmlformats.org/presentationml/2006/main">
  <p:sldMasterIdLst>
    <p:sldMasterId xmlns:r="http://schemas.openxmlformats.org/officeDocument/2006/relationships" id="2147483648" r:id="R17bb451a44894fbd"/>
  </p:sldMasterIdLst>
  <p:notesMasterIdLst>
    <p:notesMasterId xmlns:r="http://schemas.openxmlformats.org/officeDocument/2006/relationships" r:id="Reb9ae4808a244b77"/>
  </p:notesMasterIdLst>
  <p:sldIdLst>
    <p:sldId xmlns:r="http://schemas.openxmlformats.org/officeDocument/2006/relationships" id="256" r:id="Rbc92e6f491014ab2"/>
    <p:sldId xmlns:r="http://schemas.openxmlformats.org/officeDocument/2006/relationships" id="257" r:id="R2c63570078ec49bb"/>
    <p:sldId xmlns:r="http://schemas.openxmlformats.org/officeDocument/2006/relationships" id="258" r:id="R7b4c947672984561"/>
    <p:sldId xmlns:r="http://schemas.openxmlformats.org/officeDocument/2006/relationships" id="259" r:id="Rbdb78160ae574db8"/>
    <p:sldId xmlns:r="http://schemas.openxmlformats.org/officeDocument/2006/relationships" id="260" r:id="R36af52ace35e46d0"/>
    <p:sldId xmlns:r="http://schemas.openxmlformats.org/officeDocument/2006/relationships" id="261" r:id="Re7c95a66d4f742a7"/>
    <p:sldId xmlns:r="http://schemas.openxmlformats.org/officeDocument/2006/relationships" id="262" r:id="Rb85c7b62afe04f93"/>
    <p:sldId xmlns:r="http://schemas.openxmlformats.org/officeDocument/2006/relationships" id="263" r:id="R370a0cbe22fc4b22"/>
    <p:sldId xmlns:r="http://schemas.openxmlformats.org/officeDocument/2006/relationships" id="264" r:id="Rc9882e0706e24571"/>
    <p:sldId xmlns:r="http://schemas.openxmlformats.org/officeDocument/2006/relationships" id="265" r:id="R41b4dcdc2a7246da"/>
    <p:sldId xmlns:r="http://schemas.openxmlformats.org/officeDocument/2006/relationships" id="266" r:id="R6d9fd93144d342f3"/>
    <p:sldId xmlns:r="http://schemas.openxmlformats.org/officeDocument/2006/relationships" id="267" r:id="R3a46476dac884033"/>
    <p:sldId xmlns:r="http://schemas.openxmlformats.org/officeDocument/2006/relationships" id="268" r:id="R748b239b13ff4013"/>
    <p:sldId xmlns:r="http://schemas.openxmlformats.org/officeDocument/2006/relationships" id="269" r:id="R22ef243d66ab4fec"/>
    <p:sldId xmlns:r="http://schemas.openxmlformats.org/officeDocument/2006/relationships" id="270" r:id="R78b6d7d4ca84407b"/>
    <p:sldId xmlns:r="http://schemas.openxmlformats.org/officeDocument/2006/relationships" id="271" r:id="Rb6e9cbdc165b48f0"/>
    <p:sldId xmlns:r="http://schemas.openxmlformats.org/officeDocument/2006/relationships" id="272" r:id="R36455c726910419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09e2334a63e42e9" /><Relationship Type="http://schemas.openxmlformats.org/officeDocument/2006/relationships/slideMaster" Target="/ppt/slideMasters/slideMaster1.xml" Id="R17bb451a44894fbd" /><Relationship Type="http://schemas.openxmlformats.org/officeDocument/2006/relationships/notesMaster" Target="/ppt/notesMasters/notesMaster1.xml" Id="Reb9ae4808a244b77" /><Relationship Type="http://schemas.openxmlformats.org/officeDocument/2006/relationships/presProps" Target="/ppt/presProps.xml" Id="Rfc7e2e11ef1048c9" /><Relationship Type="http://schemas.openxmlformats.org/officeDocument/2006/relationships/tableStyles" Target="/ppt/tableStyles.xml" Id="Rf6f10388fc8a4f98" /><Relationship Type="http://schemas.openxmlformats.org/officeDocument/2006/relationships/slide" Target="/ppt/slides/slide1.xml" Id="Rbc92e6f491014ab2" /><Relationship Type="http://schemas.openxmlformats.org/officeDocument/2006/relationships/slide" Target="/ppt/slides/slide2.xml" Id="R2c63570078ec49bb" /><Relationship Type="http://schemas.openxmlformats.org/officeDocument/2006/relationships/slide" Target="/ppt/slides/slide3.xml" Id="R7b4c947672984561" /><Relationship Type="http://schemas.openxmlformats.org/officeDocument/2006/relationships/slide" Target="/ppt/slides/slide4.xml" Id="Rbdb78160ae574db8" /><Relationship Type="http://schemas.openxmlformats.org/officeDocument/2006/relationships/slide" Target="/ppt/slides/slide5.xml" Id="R36af52ace35e46d0" /><Relationship Type="http://schemas.openxmlformats.org/officeDocument/2006/relationships/slide" Target="/ppt/slides/slide6.xml" Id="Re7c95a66d4f742a7" /><Relationship Type="http://schemas.openxmlformats.org/officeDocument/2006/relationships/slide" Target="/ppt/slides/slide7.xml" Id="Rb85c7b62afe04f93" /><Relationship Type="http://schemas.openxmlformats.org/officeDocument/2006/relationships/slide" Target="/ppt/slides/slide8.xml" Id="R370a0cbe22fc4b22" /><Relationship Type="http://schemas.openxmlformats.org/officeDocument/2006/relationships/slide" Target="/ppt/slides/slide9.xml" Id="Rc9882e0706e24571" /><Relationship Type="http://schemas.openxmlformats.org/officeDocument/2006/relationships/slide" Target="/ppt/slides/slide10.xml" Id="R41b4dcdc2a7246da" /><Relationship Type="http://schemas.openxmlformats.org/officeDocument/2006/relationships/slide" Target="/ppt/slides/slide11.xml" Id="R6d9fd93144d342f3" /><Relationship Type="http://schemas.openxmlformats.org/officeDocument/2006/relationships/slide" Target="/ppt/slides/slide12.xml" Id="R3a46476dac884033" /><Relationship Type="http://schemas.openxmlformats.org/officeDocument/2006/relationships/slide" Target="/ppt/slides/slide13.xml" Id="R748b239b13ff4013" /><Relationship Type="http://schemas.openxmlformats.org/officeDocument/2006/relationships/slide" Target="/ppt/slides/slide14.xml" Id="R22ef243d66ab4fec" /><Relationship Type="http://schemas.openxmlformats.org/officeDocument/2006/relationships/slide" Target="/ppt/slides/slide15.xml" Id="R78b6d7d4ca84407b" /><Relationship Type="http://schemas.openxmlformats.org/officeDocument/2006/relationships/slide" Target="/ppt/slides/slide16.xml" Id="Rb6e9cbdc165b48f0" /><Relationship Type="http://schemas.openxmlformats.org/officeDocument/2006/relationships/slide" Target="/ppt/slides/slide17.xml" Id="R36455c726910419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c75619187d74e2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56d59f1c496452c" /><Relationship Type="http://schemas.openxmlformats.org/officeDocument/2006/relationships/notesMaster" Target="/ppt/notesMasters/notesMaster1.xml" Id="R6c2a31b085ec4ff5" /></Relationships>
</file>

<file path=ppt/notesSlides/_rels/notesSlide2.xml.rels>&#65279;<?xml version="1.0" encoding="utf-8"?><Relationships xmlns="http://schemas.openxmlformats.org/package/2006/relationships"><Relationship Type="http://schemas.openxmlformats.org/officeDocument/2006/relationships/slide" Target="/ppt/slides/slide2.xml" Id="Rf5b74a3839404921" /><Relationship Type="http://schemas.openxmlformats.org/officeDocument/2006/relationships/notesMaster" Target="/ppt/notesMasters/notesMaster1.xml" Id="R0027084915f9482c" /></Relationships>
</file>

<file path=ppt/notesSlides/_rels/notesSlide3.xml.rels>&#65279;<?xml version="1.0" encoding="utf-8"?><Relationships xmlns="http://schemas.openxmlformats.org/package/2006/relationships"><Relationship Type="http://schemas.openxmlformats.org/officeDocument/2006/relationships/slide" Target="/ppt/slides/slide3.xml" Id="R6a250fd394cc4db1" /><Relationship Type="http://schemas.openxmlformats.org/officeDocument/2006/relationships/notesMaster" Target="/ppt/notesMasters/notesMaster1.xml" Id="Rc65ab6c9f6204cdc" /></Relationships>
</file>

<file path=ppt/notesSlides/_rels/notesSlide4.xml.rels>&#65279;<?xml version="1.0" encoding="utf-8"?><Relationships xmlns="http://schemas.openxmlformats.org/package/2006/relationships"><Relationship Type="http://schemas.openxmlformats.org/officeDocument/2006/relationships/slide" Target="/ppt/slides/slide4.xml" Id="R80c7867b2fc24fc6" /><Relationship Type="http://schemas.openxmlformats.org/officeDocument/2006/relationships/notesMaster" Target="/ppt/notesMasters/notesMaster1.xml" Id="R62218603e00448e9" /></Relationships>
</file>

<file path=ppt/notesSlides/_rels/notesSlide5.xml.rels>&#65279;<?xml version="1.0" encoding="utf-8"?><Relationships xmlns="http://schemas.openxmlformats.org/package/2006/relationships"><Relationship Type="http://schemas.openxmlformats.org/officeDocument/2006/relationships/slide" Target="/ppt/slides/slide5.xml" Id="Rc43758b3e5a84ce5" /><Relationship Type="http://schemas.openxmlformats.org/officeDocument/2006/relationships/notesMaster" Target="/ppt/notesMasters/notesMaster1.xml" Id="Rb04891bee57b4ccc" /></Relationships>
</file>

<file path=ppt/notesSlides/_rels/notesSlide6.xml.rels>&#65279;<?xml version="1.0" encoding="utf-8"?><Relationships xmlns="http://schemas.openxmlformats.org/package/2006/relationships"><Relationship Type="http://schemas.openxmlformats.org/officeDocument/2006/relationships/slide" Target="/ppt/slides/slide6.xml" Id="R70e99f963d2e42b6" /><Relationship Type="http://schemas.openxmlformats.org/officeDocument/2006/relationships/notesMaster" Target="/ppt/notesMasters/notesMaster1.xml" Id="R09e97814b2234672" /></Relationships>
</file>

<file path=ppt/notesSlides/_rels/notesSlide7.xml.rels>&#65279;<?xml version="1.0" encoding="utf-8"?><Relationships xmlns="http://schemas.openxmlformats.org/package/2006/relationships"><Relationship Type="http://schemas.openxmlformats.org/officeDocument/2006/relationships/slide" Target="/ppt/slides/slide7.xml" Id="Rd9a68c5752f14494" /><Relationship Type="http://schemas.openxmlformats.org/officeDocument/2006/relationships/notesMaster" Target="/ppt/notesMasters/notesMaster1.xml" Id="Rfac4c907485b4448" /></Relationships>
</file>

<file path=ppt/notesSlides/_rels/notesSlide8.xml.rels>&#65279;<?xml version="1.0" encoding="utf-8"?><Relationships xmlns="http://schemas.openxmlformats.org/package/2006/relationships"><Relationship Type="http://schemas.openxmlformats.org/officeDocument/2006/relationships/slide" Target="/ppt/slides/slide8.xml" Id="Rcd757995306548f4" /><Relationship Type="http://schemas.openxmlformats.org/officeDocument/2006/relationships/notesMaster" Target="/ppt/notesMasters/notesMaster1.xml" Id="Rf82b377e3a7f4a4d" /></Relationships>
</file>

<file path=ppt/notesSlides/_rels/notesSlide9.xml.rels>&#65279;<?xml version="1.0" encoding="utf-8"?><Relationships xmlns="http://schemas.openxmlformats.org/package/2006/relationships"><Relationship Type="http://schemas.openxmlformats.org/officeDocument/2006/relationships/slide" Target="/ppt/slides/slide9.xml" Id="R2d8b8324452a4bf0" /><Relationship Type="http://schemas.openxmlformats.org/officeDocument/2006/relationships/notesMaster" Target="/ppt/notesMasters/notesMaster1.xml" Id="R954be2dacfb945f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c0994a36b9742a6" /><Relationship Type="http://schemas.openxmlformats.org/officeDocument/2006/relationships/notesMaster" Target="/ppt/notesMasters/notesMaster1.xml" Id="R8884eac440c240c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601d5895765489a" /><Relationship Type="http://schemas.openxmlformats.org/officeDocument/2006/relationships/notesMaster" Target="/ppt/notesMasters/notesMaster1.xml" Id="Ra3da2489b53246d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d5d119fb3014d06" /><Relationship Type="http://schemas.openxmlformats.org/officeDocument/2006/relationships/notesMaster" Target="/ppt/notesMasters/notesMaster1.xml" Id="Ra0e4cdb47b2c43f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cd63be2c34b4074" /><Relationship Type="http://schemas.openxmlformats.org/officeDocument/2006/relationships/notesMaster" Target="/ppt/notesMasters/notesMaster1.xml" Id="R326561bf9187458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b74a17c041c4aab" /><Relationship Type="http://schemas.openxmlformats.org/officeDocument/2006/relationships/notesMaster" Target="/ppt/notesMasters/notesMaster1.xml" Id="R5b139ade3890468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5c85e1d69fa4444" /><Relationship Type="http://schemas.openxmlformats.org/officeDocument/2006/relationships/notesMaster" Target="/ppt/notesMasters/notesMaster1.xml" Id="R0724222c7838413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adc61db2daf4fdf" /><Relationship Type="http://schemas.openxmlformats.org/officeDocument/2006/relationships/notesMaster" Target="/ppt/notesMasters/notesMaster1.xml" Id="R7cd5d974de4f4e8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dca19e7e39f40e3" /><Relationship Type="http://schemas.openxmlformats.org/officeDocument/2006/relationships/notesMaster" Target="/ppt/notesMasters/notesMaster1.xml" Id="R90f40fb8eef944c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RALVEN engine 5.0.1; valuation 25 October 2026; quote 2026-10-23; TTM ended 2026-06-30. Sources: IDX consolidated filings and Yahoo observations in the enclosed JSON/PDF source appendix. Public snapshot rv5-d6d3731642bdf004. Forecasts and method weights are analyst assumptions.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RALVEN engine 5.0.1; valuation 25 October 2026; quote 2026-10-23; TTM ended 2026-06-30. Sources: IDX consolidated filings and Yahoo observations in the enclosed JSON/PDF source appendix. Public snapshot rv5-d6d3731642bdf004. Forecasts and method weights are analyst assumptions.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RALVEN engine 5.0.1; valuation 25 October 2026; quote 2026-10-23; TTM ended 2026-06-30. Sources: IDX consolidated filings and Yahoo observations in the enclosed JSON/PDF source appendix. Public snapshot rv5-d6d3731642bdf004. Forecasts and method weights are analyst assumptions.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RALVEN engine 5.0.1; valuation 25 October 2026; quote 2026-10-23; TTM ended 2026-06-30. Sources: IDX consolidated filings and Yahoo observations in the enclosed JSON/PDF source appendix. Public snapshot rv5-d6d3731642bdf004. Forecasts and method weights are analyst assumptions.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RALVEN engine 5.0.1; valuation 25 October 2026; quote 2026-10-23; TTM ended 2026-06-30. Sources: IDX consolidated filings and Yahoo observations in the enclosed JSON/PDF source appendix. Public snapshot rv5-d6d3731642bdf004. Forecasts and method weights are analyst assumptions.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RALVEN engine 5.0.1; valuation 25 October 2026; quote 2026-10-23; TTM ended 2026-06-30. Sources: IDX consolidated filings and Yahoo observations in the enclosed JSON/PDF source appendix. Public snapshot rv5-d6d3731642bdf004. Forecasts and method weights are analyst assumptions.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RALVEN engine 5.0.1; valuation 25 October 2026; quote 2026-10-23; TTM ended 2026-06-30. Sources: IDX consolidated filings and Yahoo observations in the enclosed JSON/PDF source appendix. Public snapshot rv5-d6d3731642bdf004. Forecasts and method weights are analyst assumptions. Banks are valued as common equity. Customer deposits are not deducted as corporate financing debt.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RALVEN engine 5.0.1; valuation 25 October 2026; quote 2026-10-23; TTM ended 2026-06-30. Sources: IDX consolidated filings and Yahoo observations in the enclosed JSON/PDF source appendix. Public snapshot rv5-d6d3731642bdf004. Forecasts and method weights are analyst assumptions. Method reference: https://pages.stern.nyu.edu/~adamodar/pdfiles/country/finsvce.pdf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RALVEN engine 5.0.1; valuation 25 October 2026; quote 2026-10-23; TTM ended 2026-06-30. Sources: IDX consolidated filings and Yahoo observations in the enclosed JSON/PDF source appendix. Public snapshot rv5-d6d3731642bdf004. Forecasts and method weights are analyst assumptions. Terminal dividend = NI5 x (1+g) x (1-g/terminal ROE). Discount at Ke for five years. Period start/end and exact formulas are in the accompanying workbook and 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RALVEN engine 5.0.1; valuation 25 October 2026; quote 2026-10-23; TTM ended 2026-06-30. Sources: IDX consolidated filings and Yahoo observations in the enclosed JSON/PDF source appendix. Public snapshot rv5-d6d3731642bdf004. Forecasts and method weights are analyst assumptions. Peer membership and exact period/quote dates are preserved in the workspace and exports. P/E requires positive parent earnings; P/B requires positive common book equity. Economic comparability still needs analyst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RALVEN engine 5.0.1; valuation 25 October 2026; quote 2026-10-23; TTM ended 2026-06-30. Sources: IDX consolidated filings and Yahoo observations in the enclosed JSON/PDF source appendix. Public snapshot rv5-d6d3731642bdf004. Forecasts and method weights are analyst assumptions.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RALVEN engine 5.0.1; valuation 25 October 2026; quote 2026-10-23; TTM ended 2026-06-30. Sources: IDX consolidated filings and Yahoo observations in the enclosed JSON/PDF source appendix. Public snapshot rv5-d6d3731642bdf004. Forecasts and method weights are analyst assumptions. All affected valuations recalculate. Method weights and financing claims remain fixed. No statistical confidence interval is implied.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RALVEN engine 5.0.1; valuation 25 October 2026; quote 2026-10-23; TTM ended 2026-06-30. Sources: IDX consolidated filings and Yahoo observations in the enclosed JSON/PDF source appendix. Public snapshot rv5-d6d3731642bdf004. Forecasts and method weights are analyst assumptions. The sensitivity center equals weighted base fair value. Simulation sigmas and correlation are shared analyst settings, not empirically calibrated price probabilities. Histograms, rejection rates and driver definitions appear in the application/PDF.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RALVEN engine 5.0.1; valuation 25 October 2026; quote 2026-10-23; TTM ended 2026-06-30. Sources: IDX consolidated filings and Yahoo observations in the enclosed JSON/PDF source appendix. Public snapshot rv5-d6d3731642bdf004. Forecasts and method weights are analyst assumptions. BUY at upside &gt;= 15%; SELL at upside &lt;= -15%; HOLD between. Inadequate essential evidence produces WAIT. This is a model result conditional on analyst assumptions, not an independently completed investment research recommendation.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RALVEN engine 5.0.1; valuation 25 October 2026; quote 2026-10-23; TTM ended 2026-06-30. Sources: IDX consolidated filings and Yahoo observations in the enclosed JSON/PDF source appendix. Public snapshot rv5-d6d3731642bdf004. Forecasts and method weights are analyst assumptions. Coverage: {"engine":"5.0.0","decisionPolicy":"Valuation / conditional valuation / technical signal / WAIT; no forced HOLD","asOf":"2026-10-25","total":962,"annualPrimary":906,"interimPrimary":894,"anyPrimary":924,"ttm":873,"sourceFailures":4,"basis":{"INDICATIVE":375,"UNRATED":126,"FUNDAMENTAL":308,"TECHNICAL":153},"ratings":{"BUY":282,"SELL":400,"WAIT":126,"HOLD":154},"decisionKinds":{"VALUATION":684,"DATA":124,"TECHNICAL":154},"methods":{"relative":556,"unavailable":124,"core":91,"technical":154,"residual":37},"blockedReasons":{"CURRENT_QUOTE":123,"METHOD_UNAVAILABLE":124,"SOURCE_SCALE":1,"DISTRESS_BUY":1,"SOURCE_CONFLICT":1},"updatedAt":"2026-10-25T10:37:35.315Z","evidenceUpdatedAt":"2026-10-25T10:00:43.608Z"}. The 38-primary-gap retry recovered no new usable filings. An outcome for all issuers does not mean complete financial statements for all issuers.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RALVEN engine 5.0.1; valuation 25 October 2026; quote 2026-10-23; TTM ended 2026-06-30. Sources: IDX consolidated filings and Yahoo observations in the enclosed JSON/PDF source appendix. Public snapshot rv5-d6d3731642bdf004. Forecasts and method weights are analyst assumptions. Exact source locators, publication/retrieval dates, original amounts and FX records are in the case PDF Appendix C and saved JSON. Review original statements before making investment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RALVEN engine 5.0.1; valuation 25 October 2026; quote 2026-10-23; TTM ended 2026-06-30. Sources: IDX consolidated filings and Yahoo observations in the enclosed JSON/PDF source appendix. Public snapshot rv5-d6d3731642bdf004. Forecasts and method weights are analyst assumptions.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c1a9ede59bd421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d214e61dc2c4eb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60e4bb7004345c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8461c431ec6415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d491b4415c4461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661e90ab8b546b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EFAF34A-D4A8-4BD6-9EF7-0234A69AF1D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8453910-E0C1-4157-A948-27B7AD3A540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5330729-6C90-4574-A41B-F24EEEF4AC9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F0295A4-EE46-4854-9C75-889EF52F8FE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E030D06-1749-4057-8F41-2B31D668B01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98FDFDA-F6AC-4AA6-BD26-6FD53CCA43E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FD6CD1D-82FF-4BC7-8358-E665342497B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E7C0F67-FE2D-408B-9C04-D2A8BCB4457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70E150D-D3A4-47B9-8566-971F28C09BF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CA10106-A4C3-4A7A-BF39-10A2D269D54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f635ee9714f4354" /><Relationship Type="http://schemas.openxmlformats.org/officeDocument/2006/relationships/slideLayout" Target="/ppt/slideLayouts/slideLayout1.xml" Id="R05c3a0206af64a59" /><Relationship Type="http://schemas.openxmlformats.org/officeDocument/2006/relationships/slideLayout" Target="/ppt/slideLayouts/slideLayout2.xml" Id="Rc170018e441f4178" /><Relationship Type="http://schemas.openxmlformats.org/officeDocument/2006/relationships/slideLayout" Target="/ppt/slideLayouts/slideLayout3.xml" Id="Ra986c80f095e4459" /><Relationship Type="http://schemas.openxmlformats.org/officeDocument/2006/relationships/slideLayout" Target="/ppt/slideLayouts/slideLayout4.xml" Id="Re0144a1d3d754736" /><Relationship Type="http://schemas.openxmlformats.org/officeDocument/2006/relationships/slideLayout" Target="/ppt/slideLayouts/slideLayout5.xml" Id="Rf0e4aa0a43e1451e" /><Relationship Type="http://schemas.openxmlformats.org/officeDocument/2006/relationships/slideLayout" Target="/ppt/slideLayouts/slideLayout6.xml" Id="R7edab725377241a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5c3a0206af64a59"/>
    <p:sldLayoutId xmlns:r="http://schemas.openxmlformats.org/officeDocument/2006/relationships" id="2147483650" r:id="Rc170018e441f4178"/>
    <p:sldLayoutId xmlns:r="http://schemas.openxmlformats.org/officeDocument/2006/relationships" id="2147483651" r:id="Ra986c80f095e4459"/>
    <p:sldLayoutId xmlns:r="http://schemas.openxmlformats.org/officeDocument/2006/relationships" id="2147483652" r:id="Re0144a1d3d754736"/>
    <p:sldLayoutId xmlns:r="http://schemas.openxmlformats.org/officeDocument/2006/relationships" id="2147483653" r:id="Rf0e4aa0a43e1451e"/>
    <p:sldLayoutId xmlns:r="http://schemas.openxmlformats.org/officeDocument/2006/relationships" id="2147483654" r:id="R7edab725377241a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4e418d9bda44b88" /><Relationship Type="http://schemas.openxmlformats.org/officeDocument/2006/relationships/image" Target="/ppt/media/image.png" Id="R15796e7319754743" /><Relationship Type="http://schemas.openxmlformats.org/officeDocument/2006/relationships/notesSlide" Target="/ppt/notesSlides/notesSlide1.xml" Id="R45f27168c6844a8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223739a7520436d" /><Relationship Type="http://schemas.openxmlformats.org/officeDocument/2006/relationships/notesSlide" Target="/ppt/notesSlides/notesSlide2.xml" Id="Re03bb0ebc36d4c8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a25b6292c1e4024" /><Relationship Type="http://schemas.openxmlformats.org/officeDocument/2006/relationships/notesSlide" Target="/ppt/notesSlides/notesSlide3.xml" Id="R56baffb997e3435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1ea25726beb48e1" /><Relationship Type="http://schemas.openxmlformats.org/officeDocument/2006/relationships/chart" Target="/ppt/slides/charts/chart1.xml" Id="R6a99b9f1fc3d4bd0" /><Relationship Type="http://schemas.openxmlformats.org/officeDocument/2006/relationships/notesSlide" Target="/ppt/notesSlides/notesSlide4.xml" Id="R47d339acaeb544e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621c95d4c234c18" /><Relationship Type="http://schemas.openxmlformats.org/officeDocument/2006/relationships/notesSlide" Target="/ppt/notesSlides/notesSlide5.xml" Id="R14f8d09dd0fe494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8750972259f4712" /><Relationship Type="http://schemas.openxmlformats.org/officeDocument/2006/relationships/notesSlide" Target="/ppt/notesSlides/notesSlide6.xml" Id="Rbfb0cb2b8a404ff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7badaca20174d4a" /><Relationship Type="http://schemas.openxmlformats.org/officeDocument/2006/relationships/notesSlide" Target="/ppt/notesSlides/notesSlide7.xml" Id="R61f44f0a058b4cc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73bcfafb0364943" /><Relationship Type="http://schemas.openxmlformats.org/officeDocument/2006/relationships/notesSlide" Target="/ppt/notesSlides/notesSlide8.xml" Id="R89ab6e509dc4441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9865ec241a44486" /><Relationship Type="http://schemas.openxmlformats.org/officeDocument/2006/relationships/notesSlide" Target="/ppt/notesSlides/notesSlide9.xml" Id="R73b1457be3c6474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e567e38186a4fd4" /><Relationship Type="http://schemas.openxmlformats.org/officeDocument/2006/relationships/notesSlide" Target="/ppt/notesSlides/notesSlide10.xml" Id="R75c54dd21e5d4d6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874a665466b41bc" /><Relationship Type="http://schemas.openxmlformats.org/officeDocument/2006/relationships/notesSlide" Target="/ppt/notesSlides/notesSlide11.xml" Id="R696904656e754d3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bbc1e7a72564e8c" /><Relationship Type="http://schemas.openxmlformats.org/officeDocument/2006/relationships/chart" Target="/ppt/slides/charts/chart2.xml" Id="Rfe98f4bbcf6d49b1" /><Relationship Type="http://schemas.openxmlformats.org/officeDocument/2006/relationships/notesSlide" Target="/ppt/notesSlides/notesSlide12.xml" Id="R7de10af4c16e445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9ff434922194326" /><Relationship Type="http://schemas.openxmlformats.org/officeDocument/2006/relationships/notesSlide" Target="/ppt/notesSlides/notesSlide13.xml" Id="R2871d913fe1a40d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7b21fe450ee4d3c" /><Relationship Type="http://schemas.openxmlformats.org/officeDocument/2006/relationships/notesSlide" Target="/ppt/notesSlides/notesSlide14.xml" Id="R598664c91c96414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8314353c587498f" /><Relationship Type="http://schemas.openxmlformats.org/officeDocument/2006/relationships/notesSlide" Target="/ppt/notesSlides/notesSlide15.xml" Id="R2481e6202c6641f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56412e9c58304640" /><Relationship Type="http://schemas.openxmlformats.org/officeDocument/2006/relationships/notesSlide" Target="/ppt/notesSlides/notesSlide16.xml" Id="R4eb5bc4925184ef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4b1d4c4e352f4404" /><Relationship Type="http://schemas.openxmlformats.org/officeDocument/2006/relationships/notesSlide" Target="/ppt/notesSlides/notesSlide17.xml" Id="R0009881e462943f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varyColors val="0"/>
        <c:ser>
          <c:idx val="0"/>
          <c:order val="0"/>
          <c:tx>
            <c:v>Parent net income / IDR bn</c:v>
          </c:tx>
          <c:spPr>
            <a:solidFill xmlns:a="http://schemas.openxmlformats.org/drawingml/2006/main">
              <a:srgbClr val="258362"/>
            </a:solidFill>
          </c:spPr>
          <c:invertIfNegative val="0"/>
          <c:cat>
            <c:numRef>
              <c:f>'Chart Data'!$A$2:$A$5</c:f>
              <c:numCache>
                <c:formatCode>General</c:formatCode>
                <c:ptCount val="4"/>
                <c:pt idx="0">
                  <c:v>2022</c:v>
                </c:pt>
                <c:pt idx="1">
                  <c:v>2023</c:v>
                </c:pt>
                <c:pt idx="2">
                  <c:v>2024</c:v>
                </c:pt>
                <c:pt idx="3">
                  <c:v>2025</c:v>
                </c:pt>
              </c:numCache>
            </c:numRef>
          </c:cat>
          <c:val>
            <c:numRef>
              <c:f>'Chart Data'!$B$2:$B$5</c:f>
              <c:numCache>
                <c:formatCode>General</c:formatCode>
                <c:ptCount val="4"/>
                <c:pt idx="0">
                  <c:v>41170.64</c:v>
                </c:pt>
                <c:pt idx="1">
                  <c:v>55060.06</c:v>
                </c:pt>
                <c:pt idx="2">
                  <c:v>55782.74</c:v>
                </c:pt>
                <c:pt idx="3">
                  <c:v>56293.95</c:v>
                </c:pt>
              </c:numCache>
            </c:numRef>
          </c:val>
        </c:ser>
        <c:ser>
          <c:idx val="1"/>
          <c:order val="1"/>
          <c:tx>
            <c:v>Parent book equity / IDR bn</c:v>
          </c:tx>
          <c:spPr>
            <a:solidFill xmlns:a="http://schemas.openxmlformats.org/drawingml/2006/main">
              <a:srgbClr val="306CB2"/>
            </a:solidFill>
          </c:spPr>
          <c:invertIfNegative val="0"/>
          <c:cat>
            <c:numRef>
              <c:f>'Chart Data'!$C$2:$C$5</c:f>
              <c:numCache>
                <c:formatCode>General</c:formatCode>
                <c:ptCount val="4"/>
                <c:pt idx="0">
                  <c:v>2022</c:v>
                </c:pt>
                <c:pt idx="1">
                  <c:v>2023</c:v>
                </c:pt>
                <c:pt idx="2">
                  <c:v>2024</c:v>
                </c:pt>
                <c:pt idx="3">
                  <c:v>2025</c:v>
                </c:pt>
              </c:numCache>
            </c:numRef>
          </c:cat>
          <c:val>
            <c:numRef>
              <c:f>'Chart Data'!$D$2:$D$5</c:f>
              <c:numCache>
                <c:formatCode>General</c:formatCode>
                <c:ptCount val="4"/>
                <c:pt idx="0">
                  <c:v>229678.79</c:v>
                </c:pt>
                <c:pt idx="1">
                  <c:v>260852.78</c:v>
                </c:pt>
                <c:pt idx="2">
                  <c:v>283796.43</c:v>
                </c:pt>
                <c:pt idx="3">
                  <c:v>293750.67</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E2E9EB"/>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legend>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varyColors val="0"/>
        <c:ser>
          <c:idx val="0"/>
          <c:order val="0"/>
          <c:tx>
            <c:v>Weighted value / IDR per share</c:v>
          </c:tx>
          <c:spPr>
            <a:solidFill xmlns:a="http://schemas.openxmlformats.org/drawingml/2006/main">
              <a:srgbClr val="258362"/>
            </a:solidFill>
          </c:spPr>
          <c:invertIfNegative val="0"/>
          <c:cat>
            <c:strRef>
              <c:f>'Chart Data'!$A$2:$A$4</c:f>
              <c:strCache>
                <c:ptCount val="3"/>
                <c:pt idx="0">
                  <c:v>Bear</c:v>
                </c:pt>
                <c:pt idx="1">
                  <c:v>Base</c:v>
                </c:pt>
                <c:pt idx="2">
                  <c:v>Bull</c:v>
                </c:pt>
              </c:strCache>
            </c:strRef>
          </c:cat>
          <c:val>
            <c:numRef>
              <c:f>'Chart Data'!$B$2:$B$4</c:f>
              <c:numCache>
                <c:formatCode>General</c:formatCode>
                <c:ptCount val="3"/>
                <c:pt idx="0">
                  <c:v>4162.11</c:v>
                </c:pt>
                <c:pt idx="1">
                  <c:v>5248.3</c:v>
                </c:pt>
                <c:pt idx="2">
                  <c:v>6576.01</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E2E9EB"/>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84A3ECA-1472-4A80-A731-5414FA1198AE}"/>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C303B"/>
                </a:solidFill>
                <a:latin typeface="Arial"/>
                <a:ea typeface="Arial"/>
                <a:cs typeface="Arial"/>
              </a:defRPr>
            </a:defPPr>
            <a:lvl1pPr>
              <a:defRPr sz="3225" b="1">
                <a:solidFill>
                  <a:srgbClr val="1C303B"/>
                </a:solidFill>
                <a:latin typeface="Arial"/>
                <a:ea typeface="Arial"/>
                <a:cs typeface="Arial"/>
              </a:defRPr>
            </a:lvl1pPr>
            <a:lvl2pPr>
              <a:defRPr sz="3225" b="1">
                <a:solidFill>
                  <a:srgbClr val="1C303B"/>
                </a:solidFill>
                <a:latin typeface="Arial"/>
                <a:ea typeface="Arial"/>
                <a:cs typeface="Arial"/>
              </a:defRPr>
            </a:lvl2pPr>
            <a:lvl3pPr>
              <a:defRPr sz="3225" b="1">
                <a:solidFill>
                  <a:srgbClr val="1C303B"/>
                </a:solidFill>
                <a:latin typeface="Arial"/>
                <a:ea typeface="Arial"/>
                <a:cs typeface="Arial"/>
              </a:defRPr>
            </a:lvl3pPr>
            <a:lvl4pPr>
              <a:defRPr sz="3225" b="1">
                <a:solidFill>
                  <a:srgbClr val="1C303B"/>
                </a:solidFill>
                <a:latin typeface="Arial"/>
                <a:ea typeface="Arial"/>
                <a:cs typeface="Arial"/>
              </a:defRPr>
            </a:lvl4pPr>
            <a:lvl5pPr>
              <a:defRPr sz="3225" b="1">
                <a:solidFill>
                  <a:srgbClr val="1C303B"/>
                </a:solidFill>
                <a:latin typeface="Arial"/>
                <a:ea typeface="Arial"/>
                <a:cs typeface="Arial"/>
              </a:defRPr>
            </a:lvl5pPr>
            <a:lvl6pPr>
              <a:defRPr sz="3225" b="1">
                <a:solidFill>
                  <a:srgbClr val="1C303B"/>
                </a:solidFill>
                <a:latin typeface="Arial"/>
                <a:ea typeface="Arial"/>
                <a:cs typeface="Arial"/>
              </a:defRPr>
            </a:lvl6pPr>
            <a:lvl7pPr>
              <a:defRPr sz="3225" b="1">
                <a:solidFill>
                  <a:srgbClr val="1C303B"/>
                </a:solidFill>
                <a:latin typeface="Arial"/>
                <a:ea typeface="Arial"/>
                <a:cs typeface="Arial"/>
              </a:defRPr>
            </a:lvl7pPr>
            <a:lvl8pPr>
              <a:defRPr sz="3225" b="1">
                <a:solidFill>
                  <a:srgbClr val="1C303B"/>
                </a:solidFill>
                <a:latin typeface="Arial"/>
                <a:ea typeface="Arial"/>
                <a:cs typeface="Arial"/>
              </a:defRPr>
            </a:lvl8pPr>
            <a:lvl9pPr>
              <a:defRPr sz="3225" b="1">
                <a:solidFill>
                  <a:srgbClr val="1C303B"/>
                </a:solidFill>
                <a:latin typeface="Arial"/>
                <a:ea typeface="Arial"/>
                <a:cs typeface="Arial"/>
              </a:defRPr>
            </a:lvl9pPr>
          </a:lstStyle>
          <a:p xmlns:a="http://schemas.openxmlformats.org/drawingml/2006/main">
            <a:pPr>
              <a:defRPr sz="3225" b="1">
                <a:solidFill>
                  <a:srgbClr val="1C303B"/>
                </a:solidFill>
                <a:latin typeface="Arial"/>
                <a:ea typeface="Arial"/>
                <a:cs typeface="Arial"/>
              </a:defRPr>
            </a:pPr>
            <a:r>
              <a:rPr sz="3225" b="1">
                <a:solidFill>
                  <a:srgbClr val="1C303B"/>
                </a:solidFill>
                <a:latin typeface="Arial"/>
                <a:ea typeface="Arial"/>
                <a:cs typeface="Arial"/>
              </a:rPr>
              <a:t>RALVEN</a:t>
            </a:r>
          </a:p>
        </p:txBody>
      </p:sp>
      <p:sp>
        <p:nvSpPr>
          <p:cNvPr id="2" name="">
            <a:extLst xmlns:a="http://schemas.openxmlformats.org/drawingml/2006/main">
              <a:ext uri="{FF2B5EF4-FFF2-40B4-BE49-F238E27FC236}">
                <a16:creationId xmlns:a16="http://schemas.microsoft.com/office/drawing/2014/main" id="{71B933ED-6577-4B94-9676-823A1CB7A7EF}"/>
              </a:ext>
            </a:extLst>
          </p:cNvPr>
          <p:cNvSpPr>
            <a:spLocks xmlns:a="http://schemas.openxmlformats.org/drawingml/2006/main" noGrp="1"/>
          </p:cNvSpPr>
          <p:nvPr/>
        </p:nvSpPr>
        <p:spPr>
          <a:xfrm xmlns:a="http://schemas.openxmlformats.org/drawingml/2006/main">
            <a:off x="609600" y="6324600"/>
            <a:ext cx="933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977"/>
                </a:solidFill>
                <a:latin typeface="Arial"/>
                <a:ea typeface="Arial"/>
                <a:cs typeface="Arial"/>
              </a:defRPr>
            </a:defPPr>
            <a:lvl1pPr>
              <a:defRPr sz="1125" b="0">
                <a:solidFill>
                  <a:srgbClr val="526977"/>
                </a:solidFill>
                <a:latin typeface="Arial"/>
                <a:ea typeface="Arial"/>
                <a:cs typeface="Arial"/>
              </a:defRPr>
            </a:lvl1pPr>
            <a:lvl2pPr>
              <a:defRPr sz="1125" b="0">
                <a:solidFill>
                  <a:srgbClr val="526977"/>
                </a:solidFill>
                <a:latin typeface="Arial"/>
                <a:ea typeface="Arial"/>
                <a:cs typeface="Arial"/>
              </a:defRPr>
            </a:lvl2pPr>
            <a:lvl3pPr>
              <a:defRPr sz="1125" b="0">
                <a:solidFill>
                  <a:srgbClr val="526977"/>
                </a:solidFill>
                <a:latin typeface="Arial"/>
                <a:ea typeface="Arial"/>
                <a:cs typeface="Arial"/>
              </a:defRPr>
            </a:lvl3pPr>
            <a:lvl4pPr>
              <a:defRPr sz="1125" b="0">
                <a:solidFill>
                  <a:srgbClr val="526977"/>
                </a:solidFill>
                <a:latin typeface="Arial"/>
                <a:ea typeface="Arial"/>
                <a:cs typeface="Arial"/>
              </a:defRPr>
            </a:lvl4pPr>
            <a:lvl5pPr>
              <a:defRPr sz="1125" b="0">
                <a:solidFill>
                  <a:srgbClr val="526977"/>
                </a:solidFill>
                <a:latin typeface="Arial"/>
                <a:ea typeface="Arial"/>
                <a:cs typeface="Arial"/>
              </a:defRPr>
            </a:lvl5pPr>
            <a:lvl6pPr>
              <a:defRPr sz="1125" b="0">
                <a:solidFill>
                  <a:srgbClr val="526977"/>
                </a:solidFill>
                <a:latin typeface="Arial"/>
                <a:ea typeface="Arial"/>
                <a:cs typeface="Arial"/>
              </a:defRPr>
            </a:lvl6pPr>
            <a:lvl7pPr>
              <a:defRPr sz="1125" b="0">
                <a:solidFill>
                  <a:srgbClr val="526977"/>
                </a:solidFill>
                <a:latin typeface="Arial"/>
                <a:ea typeface="Arial"/>
                <a:cs typeface="Arial"/>
              </a:defRPr>
            </a:lvl7pPr>
            <a:lvl8pPr>
              <a:defRPr sz="1125" b="0">
                <a:solidFill>
                  <a:srgbClr val="526977"/>
                </a:solidFill>
                <a:latin typeface="Arial"/>
                <a:ea typeface="Arial"/>
                <a:cs typeface="Arial"/>
              </a:defRPr>
            </a:lvl8pPr>
            <a:lvl9pPr>
              <a:defRPr sz="1125" b="0">
                <a:solidFill>
                  <a:srgbClr val="526977"/>
                </a:solidFill>
                <a:latin typeface="Arial"/>
                <a:ea typeface="Arial"/>
                <a:cs typeface="Arial"/>
              </a:defRPr>
            </a:lvl9pPr>
          </a:lstStyle>
          <a:p xmlns:a="http://schemas.openxmlformats.org/drawingml/2006/main">
            <a:pPr>
              <a:defRPr sz="1125" b="0">
                <a:solidFill>
                  <a:srgbClr val="526977"/>
                </a:solidFill>
                <a:latin typeface="Arial"/>
                <a:ea typeface="Arial"/>
                <a:cs typeface="Arial"/>
              </a:defRPr>
            </a:pPr>
            <a:r>
              <a:rPr sz="1125" b="0">
                <a:solidFill>
                  <a:srgbClr val="526977"/>
                </a:solidFill>
                <a:latin typeface="Arial"/>
                <a:ea typeface="Arial"/>
                <a:cs typeface="Arial"/>
              </a:rPr>
              <a:t>RALVEN 5.0 / BMRI / 25 Oct 2026</a:t>
            </a:r>
          </a:p>
        </p:txBody>
      </p:sp>
      <p:sp>
        <p:nvSpPr>
          <p:cNvPr id="3" name="">
            <a:extLst xmlns:a="http://schemas.openxmlformats.org/drawingml/2006/main">
              <a:ext uri="{FF2B5EF4-FFF2-40B4-BE49-F238E27FC236}">
                <a16:creationId xmlns:a16="http://schemas.microsoft.com/office/drawing/2014/main" id="{9A68B389-2798-4216-B9C9-328A0147698A}"/>
              </a:ext>
            </a:extLst>
          </p:cNvPr>
          <p:cNvSpPr>
            <a:spLocks xmlns:a="http://schemas.openxmlformats.org/drawingml/2006/main" noGrp="1"/>
          </p:cNvSpPr>
          <p:nvPr/>
        </p:nvSpPr>
        <p:spPr>
          <a:xfrm xmlns:a="http://schemas.openxmlformats.org/drawingml/2006/main">
            <a:off x="11001375" y="63246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977"/>
                </a:solidFill>
                <a:latin typeface="Arial"/>
                <a:ea typeface="Arial"/>
                <a:cs typeface="Arial"/>
              </a:defRPr>
            </a:defPPr>
            <a:lvl1pPr>
              <a:defRPr sz="1125" b="0">
                <a:solidFill>
                  <a:srgbClr val="526977"/>
                </a:solidFill>
                <a:latin typeface="Arial"/>
                <a:ea typeface="Arial"/>
                <a:cs typeface="Arial"/>
              </a:defRPr>
            </a:lvl1pPr>
            <a:lvl2pPr>
              <a:defRPr sz="1125" b="0">
                <a:solidFill>
                  <a:srgbClr val="526977"/>
                </a:solidFill>
                <a:latin typeface="Arial"/>
                <a:ea typeface="Arial"/>
                <a:cs typeface="Arial"/>
              </a:defRPr>
            </a:lvl2pPr>
            <a:lvl3pPr>
              <a:defRPr sz="1125" b="0">
                <a:solidFill>
                  <a:srgbClr val="526977"/>
                </a:solidFill>
                <a:latin typeface="Arial"/>
                <a:ea typeface="Arial"/>
                <a:cs typeface="Arial"/>
              </a:defRPr>
            </a:lvl3pPr>
            <a:lvl4pPr>
              <a:defRPr sz="1125" b="0">
                <a:solidFill>
                  <a:srgbClr val="526977"/>
                </a:solidFill>
                <a:latin typeface="Arial"/>
                <a:ea typeface="Arial"/>
                <a:cs typeface="Arial"/>
              </a:defRPr>
            </a:lvl4pPr>
            <a:lvl5pPr>
              <a:defRPr sz="1125" b="0">
                <a:solidFill>
                  <a:srgbClr val="526977"/>
                </a:solidFill>
                <a:latin typeface="Arial"/>
                <a:ea typeface="Arial"/>
                <a:cs typeface="Arial"/>
              </a:defRPr>
            </a:lvl5pPr>
            <a:lvl6pPr>
              <a:defRPr sz="1125" b="0">
                <a:solidFill>
                  <a:srgbClr val="526977"/>
                </a:solidFill>
                <a:latin typeface="Arial"/>
                <a:ea typeface="Arial"/>
                <a:cs typeface="Arial"/>
              </a:defRPr>
            </a:lvl6pPr>
            <a:lvl7pPr>
              <a:defRPr sz="1125" b="0">
                <a:solidFill>
                  <a:srgbClr val="526977"/>
                </a:solidFill>
                <a:latin typeface="Arial"/>
                <a:ea typeface="Arial"/>
                <a:cs typeface="Arial"/>
              </a:defRPr>
            </a:lvl7pPr>
            <a:lvl8pPr>
              <a:defRPr sz="1125" b="0">
                <a:solidFill>
                  <a:srgbClr val="526977"/>
                </a:solidFill>
                <a:latin typeface="Arial"/>
                <a:ea typeface="Arial"/>
                <a:cs typeface="Arial"/>
              </a:defRPr>
            </a:lvl8pPr>
            <a:lvl9pPr>
              <a:defRPr sz="1125" b="0">
                <a:solidFill>
                  <a:srgbClr val="526977"/>
                </a:solidFill>
                <a:latin typeface="Arial"/>
                <a:ea typeface="Arial"/>
                <a:cs typeface="Arial"/>
              </a:defRPr>
            </a:lvl9pPr>
          </a:lstStyle>
          <a:p xmlns:a="http://schemas.openxmlformats.org/drawingml/2006/main">
            <a:pPr>
              <a:defRPr sz="1125" b="0">
                <a:solidFill>
                  <a:srgbClr val="526977"/>
                </a:solidFill>
                <a:latin typeface="Arial"/>
                <a:ea typeface="Arial"/>
                <a:cs typeface="Arial"/>
              </a:defRPr>
            </a:pPr>
            <a:r>
              <a:rPr sz="1125" b="0">
                <a:solidFill>
                  <a:srgbClr val="526977"/>
                </a:solidFill>
                <a:latin typeface="Arial"/>
                <a:ea typeface="Arial"/>
                <a:cs typeface="Arial"/>
              </a:rPr>
              <a:t>1</a:t>
            </a:r>
          </a:p>
        </p:txBody>
      </p:sp>
      <p:sp>
        <p:nvSpPr>
          <p:cNvPr id="4" name="">
            <a:extLst xmlns:a="http://schemas.openxmlformats.org/drawingml/2006/main">
              <a:ext uri="{FF2B5EF4-FFF2-40B4-BE49-F238E27FC236}">
                <a16:creationId xmlns:a16="http://schemas.microsoft.com/office/drawing/2014/main" id="{AF6A3625-E1D5-4147-942B-A68195FBDADF}"/>
              </a:ext>
            </a:extLst>
          </p:cNvPr>
          <p:cNvSpPr>
            <a:spLocks xmlns:a="http://schemas.openxmlformats.org/drawingml/2006/main" noGrp="1"/>
          </p:cNvSpPr>
          <p:nvPr/>
        </p:nvSpPr>
        <p:spPr>
          <a:xfrm xmlns:a="http://schemas.openxmlformats.org/drawingml/2006/main">
            <a:off x="609600" y="2171700"/>
            <a:ext cx="8572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050" b="1">
                <a:solidFill>
                  <a:srgbClr val="1C303B"/>
                </a:solidFill>
                <a:latin typeface="Arial"/>
                <a:ea typeface="Arial"/>
                <a:cs typeface="Arial"/>
              </a:defRPr>
            </a:defPPr>
            <a:lvl1pPr>
              <a:defRPr sz="4050" b="1">
                <a:solidFill>
                  <a:srgbClr val="1C303B"/>
                </a:solidFill>
                <a:latin typeface="Arial"/>
                <a:ea typeface="Arial"/>
                <a:cs typeface="Arial"/>
              </a:defRPr>
            </a:lvl1pPr>
            <a:lvl2pPr>
              <a:defRPr sz="4050" b="1">
                <a:solidFill>
                  <a:srgbClr val="1C303B"/>
                </a:solidFill>
                <a:latin typeface="Arial"/>
                <a:ea typeface="Arial"/>
                <a:cs typeface="Arial"/>
              </a:defRPr>
            </a:lvl2pPr>
            <a:lvl3pPr>
              <a:defRPr sz="4050" b="1">
                <a:solidFill>
                  <a:srgbClr val="1C303B"/>
                </a:solidFill>
                <a:latin typeface="Arial"/>
                <a:ea typeface="Arial"/>
                <a:cs typeface="Arial"/>
              </a:defRPr>
            </a:lvl3pPr>
            <a:lvl4pPr>
              <a:defRPr sz="4050" b="1">
                <a:solidFill>
                  <a:srgbClr val="1C303B"/>
                </a:solidFill>
                <a:latin typeface="Arial"/>
                <a:ea typeface="Arial"/>
                <a:cs typeface="Arial"/>
              </a:defRPr>
            </a:lvl4pPr>
            <a:lvl5pPr>
              <a:defRPr sz="4050" b="1">
                <a:solidFill>
                  <a:srgbClr val="1C303B"/>
                </a:solidFill>
                <a:latin typeface="Arial"/>
                <a:ea typeface="Arial"/>
                <a:cs typeface="Arial"/>
              </a:defRPr>
            </a:lvl5pPr>
            <a:lvl6pPr>
              <a:defRPr sz="4050" b="1">
                <a:solidFill>
                  <a:srgbClr val="1C303B"/>
                </a:solidFill>
                <a:latin typeface="Arial"/>
                <a:ea typeface="Arial"/>
                <a:cs typeface="Arial"/>
              </a:defRPr>
            </a:lvl6pPr>
            <a:lvl7pPr>
              <a:defRPr sz="4050" b="1">
                <a:solidFill>
                  <a:srgbClr val="1C303B"/>
                </a:solidFill>
                <a:latin typeface="Arial"/>
                <a:ea typeface="Arial"/>
                <a:cs typeface="Arial"/>
              </a:defRPr>
            </a:lvl7pPr>
            <a:lvl8pPr>
              <a:defRPr sz="4050" b="1">
                <a:solidFill>
                  <a:srgbClr val="1C303B"/>
                </a:solidFill>
                <a:latin typeface="Arial"/>
                <a:ea typeface="Arial"/>
                <a:cs typeface="Arial"/>
              </a:defRPr>
            </a:lvl8pPr>
            <a:lvl9pPr>
              <a:defRPr sz="4050" b="1">
                <a:solidFill>
                  <a:srgbClr val="1C303B"/>
                </a:solidFill>
                <a:latin typeface="Arial"/>
                <a:ea typeface="Arial"/>
                <a:cs typeface="Arial"/>
              </a:defRPr>
            </a:lvl9pPr>
          </a:lstStyle>
          <a:p xmlns:a="http://schemas.openxmlformats.org/drawingml/2006/main">
            <a:pPr>
              <a:defRPr sz="4050" b="1">
                <a:solidFill>
                  <a:srgbClr val="1C303B"/>
                </a:solidFill>
                <a:latin typeface="Arial"/>
                <a:ea typeface="Arial"/>
                <a:cs typeface="Arial"/>
              </a:defRPr>
            </a:pPr>
            <a:r>
              <a:rPr sz="4050" b="1">
                <a:solidFill>
                  <a:srgbClr val="1C303B"/>
                </a:solidFill>
                <a:latin typeface="Arial"/>
                <a:ea typeface="Arial"/>
                <a:cs typeface="Arial"/>
              </a:rPr>
              <a:t>Indonesian equity valuation</a:t>
            </a:r>
          </a:p>
        </p:txBody>
      </p:sp>
      <p:sp>
        <p:nvSpPr>
          <p:cNvPr id="5" name="">
            <a:extLst xmlns:a="http://schemas.openxmlformats.org/drawingml/2006/main">
              <a:ext uri="{FF2B5EF4-FFF2-40B4-BE49-F238E27FC236}">
                <a16:creationId xmlns:a16="http://schemas.microsoft.com/office/drawing/2014/main" id="{26BEE0E9-42F1-42DC-8009-2B81DDFAF89E}"/>
              </a:ext>
            </a:extLst>
          </p:cNvPr>
          <p:cNvSpPr>
            <a:spLocks xmlns:a="http://schemas.openxmlformats.org/drawingml/2006/main" noGrp="1"/>
          </p:cNvSpPr>
          <p:nvPr/>
        </p:nvSpPr>
        <p:spPr>
          <a:xfrm xmlns:a="http://schemas.openxmlformats.org/drawingml/2006/main">
            <a:off x="609600" y="3381375"/>
            <a:ext cx="838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526977"/>
                </a:solidFill>
                <a:latin typeface="Arial"/>
                <a:ea typeface="Arial"/>
                <a:cs typeface="Arial"/>
              </a:defRPr>
            </a:defPPr>
            <a:lvl1pPr>
              <a:defRPr sz="2175" b="0">
                <a:solidFill>
                  <a:srgbClr val="526977"/>
                </a:solidFill>
                <a:latin typeface="Arial"/>
                <a:ea typeface="Arial"/>
                <a:cs typeface="Arial"/>
              </a:defRPr>
            </a:lvl1pPr>
            <a:lvl2pPr>
              <a:defRPr sz="2175" b="0">
                <a:solidFill>
                  <a:srgbClr val="526977"/>
                </a:solidFill>
                <a:latin typeface="Arial"/>
                <a:ea typeface="Arial"/>
                <a:cs typeface="Arial"/>
              </a:defRPr>
            </a:lvl2pPr>
            <a:lvl3pPr>
              <a:defRPr sz="2175" b="0">
                <a:solidFill>
                  <a:srgbClr val="526977"/>
                </a:solidFill>
                <a:latin typeface="Arial"/>
                <a:ea typeface="Arial"/>
                <a:cs typeface="Arial"/>
              </a:defRPr>
            </a:lvl3pPr>
            <a:lvl4pPr>
              <a:defRPr sz="2175" b="0">
                <a:solidFill>
                  <a:srgbClr val="526977"/>
                </a:solidFill>
                <a:latin typeface="Arial"/>
                <a:ea typeface="Arial"/>
                <a:cs typeface="Arial"/>
              </a:defRPr>
            </a:lvl4pPr>
            <a:lvl5pPr>
              <a:defRPr sz="2175" b="0">
                <a:solidFill>
                  <a:srgbClr val="526977"/>
                </a:solidFill>
                <a:latin typeface="Arial"/>
                <a:ea typeface="Arial"/>
                <a:cs typeface="Arial"/>
              </a:defRPr>
            </a:lvl5pPr>
            <a:lvl6pPr>
              <a:defRPr sz="2175" b="0">
                <a:solidFill>
                  <a:srgbClr val="526977"/>
                </a:solidFill>
                <a:latin typeface="Arial"/>
                <a:ea typeface="Arial"/>
                <a:cs typeface="Arial"/>
              </a:defRPr>
            </a:lvl6pPr>
            <a:lvl7pPr>
              <a:defRPr sz="2175" b="0">
                <a:solidFill>
                  <a:srgbClr val="526977"/>
                </a:solidFill>
                <a:latin typeface="Arial"/>
                <a:ea typeface="Arial"/>
                <a:cs typeface="Arial"/>
              </a:defRPr>
            </a:lvl7pPr>
            <a:lvl8pPr>
              <a:defRPr sz="2175" b="0">
                <a:solidFill>
                  <a:srgbClr val="526977"/>
                </a:solidFill>
                <a:latin typeface="Arial"/>
                <a:ea typeface="Arial"/>
                <a:cs typeface="Arial"/>
              </a:defRPr>
            </a:lvl8pPr>
            <a:lvl9pPr>
              <a:defRPr sz="2175" b="0">
                <a:solidFill>
                  <a:srgbClr val="526977"/>
                </a:solidFill>
                <a:latin typeface="Arial"/>
                <a:ea typeface="Arial"/>
                <a:cs typeface="Arial"/>
              </a:defRPr>
            </a:lvl9pPr>
          </a:lstStyle>
          <a:p xmlns:a="http://schemas.openxmlformats.org/drawingml/2006/main">
            <a:pPr>
              <a:defRPr sz="2175" b="0">
                <a:solidFill>
                  <a:srgbClr val="526977"/>
                </a:solidFill>
                <a:latin typeface="Arial"/>
                <a:ea typeface="Arial"/>
                <a:cs typeface="Arial"/>
              </a:defRPr>
            </a:pPr>
            <a:r>
              <a:rPr sz="2175" b="0">
                <a:solidFill>
                  <a:srgbClr val="526977"/>
                </a:solidFill>
                <a:latin typeface="Arial"/>
                <a:ea typeface="Arial"/>
                <a:cs typeface="Arial"/>
              </a:rPr>
              <a:t>Digital Business Valuation / Midterm project</a:t>
            </a:r>
          </a:p>
          <a:p xmlns:a="http://schemas.openxmlformats.org/drawingml/2006/main">
            <a:pPr>
              <a:defRPr sz="2175" b="0">
                <a:solidFill>
                  <a:srgbClr val="526977"/>
                </a:solidFill>
                <a:latin typeface="Arial"/>
                <a:ea typeface="Arial"/>
                <a:cs typeface="Arial"/>
              </a:defRPr>
            </a:pPr>
            <a:r>
              <a:rPr sz="2175" b="0">
                <a:solidFill>
                  <a:srgbClr val="526977"/>
                </a:solidFill>
                <a:latin typeface="Arial"/>
                <a:ea typeface="Arial"/>
                <a:cs typeface="Arial"/>
              </a:rPr>
              <a:t>BMRI model case and platform methodology</a:t>
            </a:r>
          </a:p>
        </p:txBody>
      </p:sp>
      <p:sp>
        <p:nvSpPr>
          <p:cNvPr id="6" name="">
            <a:extLst xmlns:a="http://schemas.openxmlformats.org/drawingml/2006/main">
              <a:ext uri="{FF2B5EF4-FFF2-40B4-BE49-F238E27FC236}">
                <a16:creationId xmlns:a16="http://schemas.microsoft.com/office/drawing/2014/main" id="{8070D70C-AE79-4A04-9EFC-8BB55F5D460B}"/>
              </a:ext>
            </a:extLst>
          </p:cNvPr>
          <p:cNvSpPr>
            <a:spLocks xmlns:a="http://schemas.openxmlformats.org/drawingml/2006/main" noGrp="1"/>
          </p:cNvSpPr>
          <p:nvPr/>
        </p:nvSpPr>
        <p:spPr>
          <a:xfrm xmlns:a="http://schemas.openxmlformats.org/drawingml/2006/main">
            <a:off x="609600" y="4991100"/>
            <a:ext cx="8096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977"/>
                </a:solidFill>
                <a:latin typeface="Arial"/>
                <a:ea typeface="Arial"/>
                <a:cs typeface="Arial"/>
              </a:defRPr>
            </a:defPPr>
            <a:lvl1pPr>
              <a:defRPr sz="1800" b="0">
                <a:solidFill>
                  <a:srgbClr val="526977"/>
                </a:solidFill>
                <a:latin typeface="Arial"/>
                <a:ea typeface="Arial"/>
                <a:cs typeface="Arial"/>
              </a:defRPr>
            </a:lvl1pPr>
            <a:lvl2pPr>
              <a:defRPr sz="1800" b="0">
                <a:solidFill>
                  <a:srgbClr val="526977"/>
                </a:solidFill>
                <a:latin typeface="Arial"/>
                <a:ea typeface="Arial"/>
                <a:cs typeface="Arial"/>
              </a:defRPr>
            </a:lvl2pPr>
            <a:lvl3pPr>
              <a:defRPr sz="1800" b="0">
                <a:solidFill>
                  <a:srgbClr val="526977"/>
                </a:solidFill>
                <a:latin typeface="Arial"/>
                <a:ea typeface="Arial"/>
                <a:cs typeface="Arial"/>
              </a:defRPr>
            </a:lvl3pPr>
            <a:lvl4pPr>
              <a:defRPr sz="1800" b="0">
                <a:solidFill>
                  <a:srgbClr val="526977"/>
                </a:solidFill>
                <a:latin typeface="Arial"/>
                <a:ea typeface="Arial"/>
                <a:cs typeface="Arial"/>
              </a:defRPr>
            </a:lvl4pPr>
            <a:lvl5pPr>
              <a:defRPr sz="1800" b="0">
                <a:solidFill>
                  <a:srgbClr val="526977"/>
                </a:solidFill>
                <a:latin typeface="Arial"/>
                <a:ea typeface="Arial"/>
                <a:cs typeface="Arial"/>
              </a:defRPr>
            </a:lvl5pPr>
            <a:lvl6pPr>
              <a:defRPr sz="1800" b="0">
                <a:solidFill>
                  <a:srgbClr val="526977"/>
                </a:solidFill>
                <a:latin typeface="Arial"/>
                <a:ea typeface="Arial"/>
                <a:cs typeface="Arial"/>
              </a:defRPr>
            </a:lvl6pPr>
            <a:lvl7pPr>
              <a:defRPr sz="1800" b="0">
                <a:solidFill>
                  <a:srgbClr val="526977"/>
                </a:solidFill>
                <a:latin typeface="Arial"/>
                <a:ea typeface="Arial"/>
                <a:cs typeface="Arial"/>
              </a:defRPr>
            </a:lvl7pPr>
            <a:lvl8pPr>
              <a:defRPr sz="1800" b="0">
                <a:solidFill>
                  <a:srgbClr val="526977"/>
                </a:solidFill>
                <a:latin typeface="Arial"/>
                <a:ea typeface="Arial"/>
                <a:cs typeface="Arial"/>
              </a:defRPr>
            </a:lvl8pPr>
            <a:lvl9pPr>
              <a:defRPr sz="1800" b="0">
                <a:solidFill>
                  <a:srgbClr val="526977"/>
                </a:solidFill>
                <a:latin typeface="Arial"/>
                <a:ea typeface="Arial"/>
                <a:cs typeface="Arial"/>
              </a:defRPr>
            </a:lvl9pPr>
          </a:lstStyle>
          <a:p xmlns:a="http://schemas.openxmlformats.org/drawingml/2006/main">
            <a:pPr>
              <a:defRPr sz="1800" b="0">
                <a:solidFill>
                  <a:srgbClr val="526977"/>
                </a:solidFill>
                <a:latin typeface="Arial"/>
                <a:ea typeface="Arial"/>
                <a:cs typeface="Arial"/>
              </a:defRPr>
            </a:pPr>
            <a:r>
              <a:rPr sz="1800" b="0">
                <a:solidFill>
                  <a:srgbClr val="526977"/>
                </a:solidFill>
                <a:latin typeface="Arial"/>
                <a:ea typeface="Arial"/>
                <a:cs typeface="Arial"/>
              </a:rPr>
              <a:t>Yusuf Zakaria</a:t>
            </a:r>
          </a:p>
          <a:p xmlns:a="http://schemas.openxmlformats.org/drawingml/2006/main">
            <a:pPr>
              <a:defRPr sz="1800" b="0">
                <a:solidFill>
                  <a:srgbClr val="526977"/>
                </a:solidFill>
                <a:latin typeface="Arial"/>
                <a:ea typeface="Arial"/>
                <a:cs typeface="Arial"/>
              </a:defRPr>
            </a:pPr>
            <a:r>
              <a:rPr sz="1800" b="0">
                <a:solidFill>
                  <a:srgbClr val="526977"/>
                </a:solidFill>
                <a:latin typeface="Arial"/>
                <a:ea typeface="Arial"/>
                <a:cs typeface="Arial"/>
              </a:rPr>
              <a:t>25 October 2026</a:t>
            </a:r>
          </a:p>
        </p:txBody>
      </p:sp>
      <p:pic>
        <p:nvPicPr>
          <p:cNvPr id="7" name="">
            <a:extLst xmlns:a="http://schemas.openxmlformats.org/drawingml/2006/main">
              <a:ext uri="{FF2B5EF4-FFF2-40B4-BE49-F238E27FC236}">
                <a16:creationId xmlns:a16="http://schemas.microsoft.com/office/drawing/2014/main" id="{E66A2CE4-A009-4C3B-8086-2F9508592202}"/>
              </a:ext>
            </a:extLst>
          </p:cNvPr>
          <p:cNvPicPr>
            <a:picLocks xmlns:a="http://schemas.openxmlformats.org/drawingml/2006/main" noChangeAspect="1"/>
          </p:cNvPicPr>
          <p:nvPr/>
        </p:nvPicPr>
        <p:blipFill>
          <a:blip xmlns:r="http://schemas.openxmlformats.org/officeDocument/2006/relationships" xmlns:a="http://schemas.openxmlformats.org/drawingml/2006/main" r:embed="R15796e7319754743"/>
          <a:stretch xmlns:a="http://schemas.openxmlformats.org/drawingml/2006/main"/>
        </p:blipFill>
        <p:spPr>
          <a:xfrm xmlns:a="http://schemas.openxmlformats.org/drawingml/2006/main">
            <a:off x="9334500" y="2095500"/>
            <a:ext cx="2095500" cy="2095500"/>
          </a:xfrm>
          <a:prstGeom xmlns:a="http://schemas.openxmlformats.org/drawingml/2006/main" prst="rect">
            <a:avLst/>
          </a:prstGeom>
        </p:spPr>
      </p:pic>
    </p:spTree>
    <p:extLst>
      <p:ext uri="{BB962C8B-B14F-4D97-AF65-F5344CB8AC3E}">
        <p14:creationId xmlns:p14="http://schemas.microsoft.com/office/powerpoint/2010/main" val="146003948"/>
      </p:ext>
    </p:extLst>
  </p:cSld>
</p:sld>
</file>

<file path=ppt/slides/slide2.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68CAE26-2126-4126-B4B6-69C7D283E122}"/>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C303B"/>
                </a:solidFill>
                <a:latin typeface="Arial"/>
                <a:ea typeface="Arial"/>
                <a:cs typeface="Arial"/>
              </a:defRPr>
            </a:defPPr>
            <a:lvl1pPr>
              <a:defRPr sz="3225" b="1">
                <a:solidFill>
                  <a:srgbClr val="1C303B"/>
                </a:solidFill>
                <a:latin typeface="Arial"/>
                <a:ea typeface="Arial"/>
                <a:cs typeface="Arial"/>
              </a:defRPr>
            </a:lvl1pPr>
            <a:lvl2pPr>
              <a:defRPr sz="3225" b="1">
                <a:solidFill>
                  <a:srgbClr val="1C303B"/>
                </a:solidFill>
                <a:latin typeface="Arial"/>
                <a:ea typeface="Arial"/>
                <a:cs typeface="Arial"/>
              </a:defRPr>
            </a:lvl2pPr>
            <a:lvl3pPr>
              <a:defRPr sz="3225" b="1">
                <a:solidFill>
                  <a:srgbClr val="1C303B"/>
                </a:solidFill>
                <a:latin typeface="Arial"/>
                <a:ea typeface="Arial"/>
                <a:cs typeface="Arial"/>
              </a:defRPr>
            </a:lvl3pPr>
            <a:lvl4pPr>
              <a:defRPr sz="3225" b="1">
                <a:solidFill>
                  <a:srgbClr val="1C303B"/>
                </a:solidFill>
                <a:latin typeface="Arial"/>
                <a:ea typeface="Arial"/>
                <a:cs typeface="Arial"/>
              </a:defRPr>
            </a:lvl4pPr>
            <a:lvl5pPr>
              <a:defRPr sz="3225" b="1">
                <a:solidFill>
                  <a:srgbClr val="1C303B"/>
                </a:solidFill>
                <a:latin typeface="Arial"/>
                <a:ea typeface="Arial"/>
                <a:cs typeface="Arial"/>
              </a:defRPr>
            </a:lvl5pPr>
            <a:lvl6pPr>
              <a:defRPr sz="3225" b="1">
                <a:solidFill>
                  <a:srgbClr val="1C303B"/>
                </a:solidFill>
                <a:latin typeface="Arial"/>
                <a:ea typeface="Arial"/>
                <a:cs typeface="Arial"/>
              </a:defRPr>
            </a:lvl6pPr>
            <a:lvl7pPr>
              <a:defRPr sz="3225" b="1">
                <a:solidFill>
                  <a:srgbClr val="1C303B"/>
                </a:solidFill>
                <a:latin typeface="Arial"/>
                <a:ea typeface="Arial"/>
                <a:cs typeface="Arial"/>
              </a:defRPr>
            </a:lvl7pPr>
            <a:lvl8pPr>
              <a:defRPr sz="3225" b="1">
                <a:solidFill>
                  <a:srgbClr val="1C303B"/>
                </a:solidFill>
                <a:latin typeface="Arial"/>
                <a:ea typeface="Arial"/>
                <a:cs typeface="Arial"/>
              </a:defRPr>
            </a:lvl8pPr>
            <a:lvl9pPr>
              <a:defRPr sz="3225" b="1">
                <a:solidFill>
                  <a:srgbClr val="1C303B"/>
                </a:solidFill>
                <a:latin typeface="Arial"/>
                <a:ea typeface="Arial"/>
                <a:cs typeface="Arial"/>
              </a:defRPr>
            </a:lvl9pPr>
          </a:lstStyle>
          <a:p xmlns:a="http://schemas.openxmlformats.org/drawingml/2006/main">
            <a:pPr>
              <a:defRPr sz="3225" b="1">
                <a:solidFill>
                  <a:srgbClr val="1C303B"/>
                </a:solidFill>
                <a:latin typeface="Arial"/>
                <a:ea typeface="Arial"/>
                <a:cs typeface="Arial"/>
              </a:defRPr>
            </a:pPr>
            <a:r>
              <a:rPr sz="3225" b="1">
                <a:solidFill>
                  <a:srgbClr val="1C303B"/>
                </a:solidFill>
                <a:latin typeface="Arial"/>
                <a:ea typeface="Arial"/>
                <a:cs typeface="Arial"/>
              </a:rPr>
              <a:t>Company and valuation purpose</a:t>
            </a:r>
          </a:p>
        </p:txBody>
      </p:sp>
      <p:sp>
        <p:nvSpPr>
          <p:cNvPr id="2" name="">
            <a:extLst xmlns:a="http://schemas.openxmlformats.org/drawingml/2006/main">
              <a:ext uri="{FF2B5EF4-FFF2-40B4-BE49-F238E27FC236}">
                <a16:creationId xmlns:a16="http://schemas.microsoft.com/office/drawing/2014/main" id="{78FFF9A8-585F-4435-9EE7-30905096E247}"/>
              </a:ext>
            </a:extLst>
          </p:cNvPr>
          <p:cNvSpPr>
            <a:spLocks xmlns:a="http://schemas.openxmlformats.org/drawingml/2006/main" noGrp="1"/>
          </p:cNvSpPr>
          <p:nvPr/>
        </p:nvSpPr>
        <p:spPr>
          <a:xfrm xmlns:a="http://schemas.openxmlformats.org/drawingml/2006/main">
            <a:off x="609600" y="6324600"/>
            <a:ext cx="933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977"/>
                </a:solidFill>
                <a:latin typeface="Arial"/>
                <a:ea typeface="Arial"/>
                <a:cs typeface="Arial"/>
              </a:defRPr>
            </a:defPPr>
            <a:lvl1pPr>
              <a:defRPr sz="1125" b="0">
                <a:solidFill>
                  <a:srgbClr val="526977"/>
                </a:solidFill>
                <a:latin typeface="Arial"/>
                <a:ea typeface="Arial"/>
                <a:cs typeface="Arial"/>
              </a:defRPr>
            </a:lvl1pPr>
            <a:lvl2pPr>
              <a:defRPr sz="1125" b="0">
                <a:solidFill>
                  <a:srgbClr val="526977"/>
                </a:solidFill>
                <a:latin typeface="Arial"/>
                <a:ea typeface="Arial"/>
                <a:cs typeface="Arial"/>
              </a:defRPr>
            </a:lvl2pPr>
            <a:lvl3pPr>
              <a:defRPr sz="1125" b="0">
                <a:solidFill>
                  <a:srgbClr val="526977"/>
                </a:solidFill>
                <a:latin typeface="Arial"/>
                <a:ea typeface="Arial"/>
                <a:cs typeface="Arial"/>
              </a:defRPr>
            </a:lvl3pPr>
            <a:lvl4pPr>
              <a:defRPr sz="1125" b="0">
                <a:solidFill>
                  <a:srgbClr val="526977"/>
                </a:solidFill>
                <a:latin typeface="Arial"/>
                <a:ea typeface="Arial"/>
                <a:cs typeface="Arial"/>
              </a:defRPr>
            </a:lvl4pPr>
            <a:lvl5pPr>
              <a:defRPr sz="1125" b="0">
                <a:solidFill>
                  <a:srgbClr val="526977"/>
                </a:solidFill>
                <a:latin typeface="Arial"/>
                <a:ea typeface="Arial"/>
                <a:cs typeface="Arial"/>
              </a:defRPr>
            </a:lvl5pPr>
            <a:lvl6pPr>
              <a:defRPr sz="1125" b="0">
                <a:solidFill>
                  <a:srgbClr val="526977"/>
                </a:solidFill>
                <a:latin typeface="Arial"/>
                <a:ea typeface="Arial"/>
                <a:cs typeface="Arial"/>
              </a:defRPr>
            </a:lvl6pPr>
            <a:lvl7pPr>
              <a:defRPr sz="1125" b="0">
                <a:solidFill>
                  <a:srgbClr val="526977"/>
                </a:solidFill>
                <a:latin typeface="Arial"/>
                <a:ea typeface="Arial"/>
                <a:cs typeface="Arial"/>
              </a:defRPr>
            </a:lvl7pPr>
            <a:lvl8pPr>
              <a:defRPr sz="1125" b="0">
                <a:solidFill>
                  <a:srgbClr val="526977"/>
                </a:solidFill>
                <a:latin typeface="Arial"/>
                <a:ea typeface="Arial"/>
                <a:cs typeface="Arial"/>
              </a:defRPr>
            </a:lvl8pPr>
            <a:lvl9pPr>
              <a:defRPr sz="1125" b="0">
                <a:solidFill>
                  <a:srgbClr val="526977"/>
                </a:solidFill>
                <a:latin typeface="Arial"/>
                <a:ea typeface="Arial"/>
                <a:cs typeface="Arial"/>
              </a:defRPr>
            </a:lvl9pPr>
          </a:lstStyle>
          <a:p xmlns:a="http://schemas.openxmlformats.org/drawingml/2006/main">
            <a:pPr>
              <a:defRPr sz="1125" b="0">
                <a:solidFill>
                  <a:srgbClr val="526977"/>
                </a:solidFill>
                <a:latin typeface="Arial"/>
                <a:ea typeface="Arial"/>
                <a:cs typeface="Arial"/>
              </a:defRPr>
            </a:pPr>
            <a:r>
              <a:rPr sz="1125" b="0">
                <a:solidFill>
                  <a:srgbClr val="526977"/>
                </a:solidFill>
                <a:latin typeface="Arial"/>
                <a:ea typeface="Arial"/>
                <a:cs typeface="Arial"/>
              </a:rPr>
              <a:t>RALVEN 5.0 / BMRI / 25 Oct 2026</a:t>
            </a:r>
          </a:p>
        </p:txBody>
      </p:sp>
      <p:sp>
        <p:nvSpPr>
          <p:cNvPr id="3" name="">
            <a:extLst xmlns:a="http://schemas.openxmlformats.org/drawingml/2006/main">
              <a:ext uri="{FF2B5EF4-FFF2-40B4-BE49-F238E27FC236}">
                <a16:creationId xmlns:a16="http://schemas.microsoft.com/office/drawing/2014/main" id="{88BCDCA2-28F5-4FCC-840C-8E16C07EB0EE}"/>
              </a:ext>
            </a:extLst>
          </p:cNvPr>
          <p:cNvSpPr>
            <a:spLocks xmlns:a="http://schemas.openxmlformats.org/drawingml/2006/main" noGrp="1"/>
          </p:cNvSpPr>
          <p:nvPr/>
        </p:nvSpPr>
        <p:spPr>
          <a:xfrm xmlns:a="http://schemas.openxmlformats.org/drawingml/2006/main">
            <a:off x="11001375" y="63246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977"/>
                </a:solidFill>
                <a:latin typeface="Arial"/>
                <a:ea typeface="Arial"/>
                <a:cs typeface="Arial"/>
              </a:defRPr>
            </a:defPPr>
            <a:lvl1pPr>
              <a:defRPr sz="1125" b="0">
                <a:solidFill>
                  <a:srgbClr val="526977"/>
                </a:solidFill>
                <a:latin typeface="Arial"/>
                <a:ea typeface="Arial"/>
                <a:cs typeface="Arial"/>
              </a:defRPr>
            </a:lvl1pPr>
            <a:lvl2pPr>
              <a:defRPr sz="1125" b="0">
                <a:solidFill>
                  <a:srgbClr val="526977"/>
                </a:solidFill>
                <a:latin typeface="Arial"/>
                <a:ea typeface="Arial"/>
                <a:cs typeface="Arial"/>
              </a:defRPr>
            </a:lvl2pPr>
            <a:lvl3pPr>
              <a:defRPr sz="1125" b="0">
                <a:solidFill>
                  <a:srgbClr val="526977"/>
                </a:solidFill>
                <a:latin typeface="Arial"/>
                <a:ea typeface="Arial"/>
                <a:cs typeface="Arial"/>
              </a:defRPr>
            </a:lvl3pPr>
            <a:lvl4pPr>
              <a:defRPr sz="1125" b="0">
                <a:solidFill>
                  <a:srgbClr val="526977"/>
                </a:solidFill>
                <a:latin typeface="Arial"/>
                <a:ea typeface="Arial"/>
                <a:cs typeface="Arial"/>
              </a:defRPr>
            </a:lvl4pPr>
            <a:lvl5pPr>
              <a:defRPr sz="1125" b="0">
                <a:solidFill>
                  <a:srgbClr val="526977"/>
                </a:solidFill>
                <a:latin typeface="Arial"/>
                <a:ea typeface="Arial"/>
                <a:cs typeface="Arial"/>
              </a:defRPr>
            </a:lvl5pPr>
            <a:lvl6pPr>
              <a:defRPr sz="1125" b="0">
                <a:solidFill>
                  <a:srgbClr val="526977"/>
                </a:solidFill>
                <a:latin typeface="Arial"/>
                <a:ea typeface="Arial"/>
                <a:cs typeface="Arial"/>
              </a:defRPr>
            </a:lvl6pPr>
            <a:lvl7pPr>
              <a:defRPr sz="1125" b="0">
                <a:solidFill>
                  <a:srgbClr val="526977"/>
                </a:solidFill>
                <a:latin typeface="Arial"/>
                <a:ea typeface="Arial"/>
                <a:cs typeface="Arial"/>
              </a:defRPr>
            </a:lvl7pPr>
            <a:lvl8pPr>
              <a:defRPr sz="1125" b="0">
                <a:solidFill>
                  <a:srgbClr val="526977"/>
                </a:solidFill>
                <a:latin typeface="Arial"/>
                <a:ea typeface="Arial"/>
                <a:cs typeface="Arial"/>
              </a:defRPr>
            </a:lvl8pPr>
            <a:lvl9pPr>
              <a:defRPr sz="1125" b="0">
                <a:solidFill>
                  <a:srgbClr val="526977"/>
                </a:solidFill>
                <a:latin typeface="Arial"/>
                <a:ea typeface="Arial"/>
                <a:cs typeface="Arial"/>
              </a:defRPr>
            </a:lvl9pPr>
          </a:lstStyle>
          <a:p xmlns:a="http://schemas.openxmlformats.org/drawingml/2006/main">
            <a:pPr>
              <a:defRPr sz="1125" b="0">
                <a:solidFill>
                  <a:srgbClr val="526977"/>
                </a:solidFill>
                <a:latin typeface="Arial"/>
                <a:ea typeface="Arial"/>
                <a:cs typeface="Arial"/>
              </a:defRPr>
            </a:pPr>
            <a:r>
              <a:rPr sz="1125" b="0">
                <a:solidFill>
                  <a:srgbClr val="526977"/>
                </a:solidFill>
                <a:latin typeface="Arial"/>
                <a:ea typeface="Arial"/>
                <a:cs typeface="Arial"/>
              </a:rPr>
              <a:t>2</a:t>
            </a:r>
          </a:p>
        </p:txBody>
      </p:sp>
      <p:sp>
        <p:nvSpPr>
          <p:cNvPr id="4" name="">
            <a:extLst xmlns:a="http://schemas.openxmlformats.org/drawingml/2006/main">
              <a:ext uri="{FF2B5EF4-FFF2-40B4-BE49-F238E27FC236}">
                <a16:creationId xmlns:a16="http://schemas.microsoft.com/office/drawing/2014/main" id="{A7072B1B-0210-4F41-8E62-09BBE2B5DC5C}"/>
              </a:ext>
            </a:extLst>
          </p:cNvPr>
          <p:cNvSpPr>
            <a:spLocks xmlns:a="http://schemas.openxmlformats.org/drawingml/2006/main" noGrp="1"/>
          </p:cNvSpPr>
          <p:nvPr/>
        </p:nvSpPr>
        <p:spPr>
          <a:xfrm xmlns:a="http://schemas.openxmlformats.org/drawingml/2006/main">
            <a:off x="609600" y="20002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C303B"/>
                </a:solidFill>
                <a:latin typeface="Arial"/>
                <a:ea typeface="Arial"/>
                <a:cs typeface="Arial"/>
              </a:defRPr>
            </a:defPPr>
            <a:lvl1pPr>
              <a:defRPr sz="2175" b="1">
                <a:solidFill>
                  <a:srgbClr val="1C303B"/>
                </a:solidFill>
                <a:latin typeface="Arial"/>
                <a:ea typeface="Arial"/>
                <a:cs typeface="Arial"/>
              </a:defRPr>
            </a:lvl1pPr>
            <a:lvl2pPr>
              <a:defRPr sz="2175" b="1">
                <a:solidFill>
                  <a:srgbClr val="1C303B"/>
                </a:solidFill>
                <a:latin typeface="Arial"/>
                <a:ea typeface="Arial"/>
                <a:cs typeface="Arial"/>
              </a:defRPr>
            </a:lvl2pPr>
            <a:lvl3pPr>
              <a:defRPr sz="2175" b="1">
                <a:solidFill>
                  <a:srgbClr val="1C303B"/>
                </a:solidFill>
                <a:latin typeface="Arial"/>
                <a:ea typeface="Arial"/>
                <a:cs typeface="Arial"/>
              </a:defRPr>
            </a:lvl3pPr>
            <a:lvl4pPr>
              <a:defRPr sz="2175" b="1">
                <a:solidFill>
                  <a:srgbClr val="1C303B"/>
                </a:solidFill>
                <a:latin typeface="Arial"/>
                <a:ea typeface="Arial"/>
                <a:cs typeface="Arial"/>
              </a:defRPr>
            </a:lvl4pPr>
            <a:lvl5pPr>
              <a:defRPr sz="2175" b="1">
                <a:solidFill>
                  <a:srgbClr val="1C303B"/>
                </a:solidFill>
                <a:latin typeface="Arial"/>
                <a:ea typeface="Arial"/>
                <a:cs typeface="Arial"/>
              </a:defRPr>
            </a:lvl5pPr>
            <a:lvl6pPr>
              <a:defRPr sz="2175" b="1">
                <a:solidFill>
                  <a:srgbClr val="1C303B"/>
                </a:solidFill>
                <a:latin typeface="Arial"/>
                <a:ea typeface="Arial"/>
                <a:cs typeface="Arial"/>
              </a:defRPr>
            </a:lvl6pPr>
            <a:lvl7pPr>
              <a:defRPr sz="2175" b="1">
                <a:solidFill>
                  <a:srgbClr val="1C303B"/>
                </a:solidFill>
                <a:latin typeface="Arial"/>
                <a:ea typeface="Arial"/>
                <a:cs typeface="Arial"/>
              </a:defRPr>
            </a:lvl7pPr>
            <a:lvl8pPr>
              <a:defRPr sz="2175" b="1">
                <a:solidFill>
                  <a:srgbClr val="1C303B"/>
                </a:solidFill>
                <a:latin typeface="Arial"/>
                <a:ea typeface="Arial"/>
                <a:cs typeface="Arial"/>
              </a:defRPr>
            </a:lvl8pPr>
            <a:lvl9pPr>
              <a:defRPr sz="2175" b="1">
                <a:solidFill>
                  <a:srgbClr val="1C303B"/>
                </a:solidFill>
                <a:latin typeface="Arial"/>
                <a:ea typeface="Arial"/>
                <a:cs typeface="Arial"/>
              </a:defRPr>
            </a:lvl9pPr>
          </a:lstStyle>
          <a:p xmlns:a="http://schemas.openxmlformats.org/drawingml/2006/main">
            <a:pPr>
              <a:defRPr sz="2175" b="1">
                <a:solidFill>
                  <a:srgbClr val="1C303B"/>
                </a:solidFill>
                <a:latin typeface="Arial"/>
                <a:ea typeface="Arial"/>
                <a:cs typeface="Arial"/>
              </a:defRPr>
            </a:pPr>
            <a:r>
              <a:rPr sz="2175" b="1">
                <a:solidFill>
                  <a:srgbClr val="1C303B"/>
                </a:solidFill>
                <a:latin typeface="Arial"/>
                <a:ea typeface="Arial"/>
                <a:cs typeface="Arial"/>
              </a:rPr>
              <a:t>PT Bank Mandiri (Persero) Tbk / BMRI</a:t>
            </a:r>
          </a:p>
        </p:txBody>
      </p:sp>
      <p:sp>
        <p:nvSpPr>
          <p:cNvPr id="5" name="">
            <a:extLst xmlns:a="http://schemas.openxmlformats.org/drawingml/2006/main">
              <a:ext uri="{FF2B5EF4-FFF2-40B4-BE49-F238E27FC236}">
                <a16:creationId xmlns:a16="http://schemas.microsoft.com/office/drawing/2014/main" id="{ADDA62BC-921A-43F9-8407-B12A16F6DFB0}"/>
              </a:ext>
            </a:extLst>
          </p:cNvPr>
          <p:cNvSpPr>
            <a:spLocks xmlns:a="http://schemas.openxmlformats.org/drawingml/2006/main" noGrp="1"/>
          </p:cNvSpPr>
          <p:nvPr/>
        </p:nvSpPr>
        <p:spPr>
          <a:xfrm xmlns:a="http://schemas.openxmlformats.org/drawingml/2006/main">
            <a:off x="609600" y="2524125"/>
            <a:ext cx="10972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977"/>
                </a:solidFill>
                <a:latin typeface="Arial"/>
                <a:ea typeface="Arial"/>
                <a:cs typeface="Arial"/>
              </a:defRPr>
            </a:defPPr>
            <a:lvl1pPr>
              <a:defRPr sz="1875" b="0">
                <a:solidFill>
                  <a:srgbClr val="526977"/>
                </a:solidFill>
                <a:latin typeface="Arial"/>
                <a:ea typeface="Arial"/>
                <a:cs typeface="Arial"/>
              </a:defRPr>
            </a:lvl1pPr>
            <a:lvl2pPr>
              <a:defRPr sz="1875" b="0">
                <a:solidFill>
                  <a:srgbClr val="526977"/>
                </a:solidFill>
                <a:latin typeface="Arial"/>
                <a:ea typeface="Arial"/>
                <a:cs typeface="Arial"/>
              </a:defRPr>
            </a:lvl2pPr>
            <a:lvl3pPr>
              <a:defRPr sz="1875" b="0">
                <a:solidFill>
                  <a:srgbClr val="526977"/>
                </a:solidFill>
                <a:latin typeface="Arial"/>
                <a:ea typeface="Arial"/>
                <a:cs typeface="Arial"/>
              </a:defRPr>
            </a:lvl3pPr>
            <a:lvl4pPr>
              <a:defRPr sz="1875" b="0">
                <a:solidFill>
                  <a:srgbClr val="526977"/>
                </a:solidFill>
                <a:latin typeface="Arial"/>
                <a:ea typeface="Arial"/>
                <a:cs typeface="Arial"/>
              </a:defRPr>
            </a:lvl4pPr>
            <a:lvl5pPr>
              <a:defRPr sz="1875" b="0">
                <a:solidFill>
                  <a:srgbClr val="526977"/>
                </a:solidFill>
                <a:latin typeface="Arial"/>
                <a:ea typeface="Arial"/>
                <a:cs typeface="Arial"/>
              </a:defRPr>
            </a:lvl5pPr>
            <a:lvl6pPr>
              <a:defRPr sz="1875" b="0">
                <a:solidFill>
                  <a:srgbClr val="526977"/>
                </a:solidFill>
                <a:latin typeface="Arial"/>
                <a:ea typeface="Arial"/>
                <a:cs typeface="Arial"/>
              </a:defRPr>
            </a:lvl6pPr>
            <a:lvl7pPr>
              <a:defRPr sz="1875" b="0">
                <a:solidFill>
                  <a:srgbClr val="526977"/>
                </a:solidFill>
                <a:latin typeface="Arial"/>
                <a:ea typeface="Arial"/>
                <a:cs typeface="Arial"/>
              </a:defRPr>
            </a:lvl7pPr>
            <a:lvl8pPr>
              <a:defRPr sz="1875" b="0">
                <a:solidFill>
                  <a:srgbClr val="526977"/>
                </a:solidFill>
                <a:latin typeface="Arial"/>
                <a:ea typeface="Arial"/>
                <a:cs typeface="Arial"/>
              </a:defRPr>
            </a:lvl8pPr>
            <a:lvl9pPr>
              <a:defRPr sz="1875" b="0">
                <a:solidFill>
                  <a:srgbClr val="526977"/>
                </a:solidFill>
                <a:latin typeface="Arial"/>
                <a:ea typeface="Arial"/>
                <a:cs typeface="Arial"/>
              </a:defRPr>
            </a:lvl9pPr>
          </a:lstStyle>
          <a:p xmlns:a="http://schemas.openxmlformats.org/drawingml/2006/main">
            <a:pPr>
              <a:defRPr sz="1875" b="0">
                <a:solidFill>
                  <a:srgbClr val="526977"/>
                </a:solidFill>
                <a:latin typeface="Arial"/>
                <a:ea typeface="Arial"/>
                <a:cs typeface="Arial"/>
              </a:defRPr>
            </a:pPr>
            <a:r>
              <a:rPr sz="1875" b="0">
                <a:solidFill>
                  <a:srgbClr val="526977"/>
                </a:solidFill>
                <a:latin typeface="Arial"/>
                <a:ea typeface="Arial"/>
                <a:cs typeface="Arial"/>
              </a:rPr>
              <a:t>IDX banking issuer. This case compares the observed equity price with a dividend-discount value and eligible bank peer multiples.</a:t>
            </a:r>
          </a:p>
        </p:txBody>
      </p:sp>
      <p:sp>
        <p:nvSpPr>
          <p:cNvPr id="6" name="">
            <a:extLst xmlns:a="http://schemas.openxmlformats.org/drawingml/2006/main">
              <a:ext uri="{FF2B5EF4-FFF2-40B4-BE49-F238E27FC236}">
                <a16:creationId xmlns:a16="http://schemas.microsoft.com/office/drawing/2014/main" id="{3B55219E-10AA-49C6-B07E-4C6A453F5F89}"/>
              </a:ext>
            </a:extLst>
          </p:cNvPr>
          <p:cNvSpPr>
            <a:spLocks xmlns:a="http://schemas.openxmlformats.org/drawingml/2006/main" noGrp="1"/>
          </p:cNvSpPr>
          <p:nvPr/>
        </p:nvSpPr>
        <p:spPr>
          <a:xfrm xmlns:a="http://schemas.openxmlformats.org/drawingml/2006/main">
            <a:off x="609600" y="38576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C303B"/>
                </a:solidFill>
                <a:latin typeface="Arial"/>
                <a:ea typeface="Arial"/>
                <a:cs typeface="Arial"/>
              </a:defRPr>
            </a:defPPr>
            <a:lvl1pPr>
              <a:defRPr sz="2175" b="1">
                <a:solidFill>
                  <a:srgbClr val="1C303B"/>
                </a:solidFill>
                <a:latin typeface="Arial"/>
                <a:ea typeface="Arial"/>
                <a:cs typeface="Arial"/>
              </a:defRPr>
            </a:lvl1pPr>
            <a:lvl2pPr>
              <a:defRPr sz="2175" b="1">
                <a:solidFill>
                  <a:srgbClr val="1C303B"/>
                </a:solidFill>
                <a:latin typeface="Arial"/>
                <a:ea typeface="Arial"/>
                <a:cs typeface="Arial"/>
              </a:defRPr>
            </a:lvl2pPr>
            <a:lvl3pPr>
              <a:defRPr sz="2175" b="1">
                <a:solidFill>
                  <a:srgbClr val="1C303B"/>
                </a:solidFill>
                <a:latin typeface="Arial"/>
                <a:ea typeface="Arial"/>
                <a:cs typeface="Arial"/>
              </a:defRPr>
            </a:lvl3pPr>
            <a:lvl4pPr>
              <a:defRPr sz="2175" b="1">
                <a:solidFill>
                  <a:srgbClr val="1C303B"/>
                </a:solidFill>
                <a:latin typeface="Arial"/>
                <a:ea typeface="Arial"/>
                <a:cs typeface="Arial"/>
              </a:defRPr>
            </a:lvl4pPr>
            <a:lvl5pPr>
              <a:defRPr sz="2175" b="1">
                <a:solidFill>
                  <a:srgbClr val="1C303B"/>
                </a:solidFill>
                <a:latin typeface="Arial"/>
                <a:ea typeface="Arial"/>
                <a:cs typeface="Arial"/>
              </a:defRPr>
            </a:lvl5pPr>
            <a:lvl6pPr>
              <a:defRPr sz="2175" b="1">
                <a:solidFill>
                  <a:srgbClr val="1C303B"/>
                </a:solidFill>
                <a:latin typeface="Arial"/>
                <a:ea typeface="Arial"/>
                <a:cs typeface="Arial"/>
              </a:defRPr>
            </a:lvl6pPr>
            <a:lvl7pPr>
              <a:defRPr sz="2175" b="1">
                <a:solidFill>
                  <a:srgbClr val="1C303B"/>
                </a:solidFill>
                <a:latin typeface="Arial"/>
                <a:ea typeface="Arial"/>
                <a:cs typeface="Arial"/>
              </a:defRPr>
            </a:lvl7pPr>
            <a:lvl8pPr>
              <a:defRPr sz="2175" b="1">
                <a:solidFill>
                  <a:srgbClr val="1C303B"/>
                </a:solidFill>
                <a:latin typeface="Arial"/>
                <a:ea typeface="Arial"/>
                <a:cs typeface="Arial"/>
              </a:defRPr>
            </a:lvl8pPr>
            <a:lvl9pPr>
              <a:defRPr sz="2175" b="1">
                <a:solidFill>
                  <a:srgbClr val="1C303B"/>
                </a:solidFill>
                <a:latin typeface="Arial"/>
                <a:ea typeface="Arial"/>
                <a:cs typeface="Arial"/>
              </a:defRPr>
            </a:lvl9pPr>
          </a:lstStyle>
          <a:p xmlns:a="http://schemas.openxmlformats.org/drawingml/2006/main">
            <a:pPr>
              <a:defRPr sz="2175" b="1">
                <a:solidFill>
                  <a:srgbClr val="1C303B"/>
                </a:solidFill>
                <a:latin typeface="Arial"/>
                <a:ea typeface="Arial"/>
                <a:cs typeface="Arial"/>
              </a:defRPr>
            </a:pPr>
            <a:r>
              <a:rPr sz="2175" b="1">
                <a:solidFill>
                  <a:srgbClr val="1C303B"/>
                </a:solidFill>
                <a:latin typeface="Arial"/>
                <a:ea typeface="Arial"/>
                <a:cs typeface="Arial"/>
              </a:rPr>
              <a:t>Decision and scope</a:t>
            </a:r>
          </a:p>
        </p:txBody>
      </p:sp>
      <p:sp>
        <p:nvSpPr>
          <p:cNvPr id="7" name="">
            <a:extLst xmlns:a="http://schemas.openxmlformats.org/drawingml/2006/main">
              <a:ext uri="{FF2B5EF4-FFF2-40B4-BE49-F238E27FC236}">
                <a16:creationId xmlns:a16="http://schemas.microsoft.com/office/drawing/2014/main" id="{3BBBC4AB-F0DF-4B79-B35C-D7C5F43A763E}"/>
              </a:ext>
            </a:extLst>
          </p:cNvPr>
          <p:cNvSpPr>
            <a:spLocks xmlns:a="http://schemas.openxmlformats.org/drawingml/2006/main" noGrp="1"/>
          </p:cNvSpPr>
          <p:nvPr/>
        </p:nvSpPr>
        <p:spPr>
          <a:xfrm xmlns:a="http://schemas.openxmlformats.org/drawingml/2006/main">
            <a:off x="609600" y="4381500"/>
            <a:ext cx="10972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977"/>
                </a:solidFill>
                <a:latin typeface="Arial"/>
                <a:ea typeface="Arial"/>
                <a:cs typeface="Arial"/>
              </a:defRPr>
            </a:defPPr>
            <a:lvl1pPr>
              <a:defRPr sz="1875" b="0">
                <a:solidFill>
                  <a:srgbClr val="526977"/>
                </a:solidFill>
                <a:latin typeface="Arial"/>
                <a:ea typeface="Arial"/>
                <a:cs typeface="Arial"/>
              </a:defRPr>
            </a:lvl1pPr>
            <a:lvl2pPr>
              <a:defRPr sz="1875" b="0">
                <a:solidFill>
                  <a:srgbClr val="526977"/>
                </a:solidFill>
                <a:latin typeface="Arial"/>
                <a:ea typeface="Arial"/>
                <a:cs typeface="Arial"/>
              </a:defRPr>
            </a:lvl2pPr>
            <a:lvl3pPr>
              <a:defRPr sz="1875" b="0">
                <a:solidFill>
                  <a:srgbClr val="526977"/>
                </a:solidFill>
                <a:latin typeface="Arial"/>
                <a:ea typeface="Arial"/>
                <a:cs typeface="Arial"/>
              </a:defRPr>
            </a:lvl3pPr>
            <a:lvl4pPr>
              <a:defRPr sz="1875" b="0">
                <a:solidFill>
                  <a:srgbClr val="526977"/>
                </a:solidFill>
                <a:latin typeface="Arial"/>
                <a:ea typeface="Arial"/>
                <a:cs typeface="Arial"/>
              </a:defRPr>
            </a:lvl4pPr>
            <a:lvl5pPr>
              <a:defRPr sz="1875" b="0">
                <a:solidFill>
                  <a:srgbClr val="526977"/>
                </a:solidFill>
                <a:latin typeface="Arial"/>
                <a:ea typeface="Arial"/>
                <a:cs typeface="Arial"/>
              </a:defRPr>
            </a:lvl5pPr>
            <a:lvl6pPr>
              <a:defRPr sz="1875" b="0">
                <a:solidFill>
                  <a:srgbClr val="526977"/>
                </a:solidFill>
                <a:latin typeface="Arial"/>
                <a:ea typeface="Arial"/>
                <a:cs typeface="Arial"/>
              </a:defRPr>
            </a:lvl6pPr>
            <a:lvl7pPr>
              <a:defRPr sz="1875" b="0">
                <a:solidFill>
                  <a:srgbClr val="526977"/>
                </a:solidFill>
                <a:latin typeface="Arial"/>
                <a:ea typeface="Arial"/>
                <a:cs typeface="Arial"/>
              </a:defRPr>
            </a:lvl7pPr>
            <a:lvl8pPr>
              <a:defRPr sz="1875" b="0">
                <a:solidFill>
                  <a:srgbClr val="526977"/>
                </a:solidFill>
                <a:latin typeface="Arial"/>
                <a:ea typeface="Arial"/>
                <a:cs typeface="Arial"/>
              </a:defRPr>
            </a:lvl8pPr>
            <a:lvl9pPr>
              <a:defRPr sz="1875" b="0">
                <a:solidFill>
                  <a:srgbClr val="526977"/>
                </a:solidFill>
                <a:latin typeface="Arial"/>
                <a:ea typeface="Arial"/>
                <a:cs typeface="Arial"/>
              </a:defRPr>
            </a:lvl9pPr>
          </a:lstStyle>
          <a:p xmlns:a="http://schemas.openxmlformats.org/drawingml/2006/main">
            <a:pPr>
              <a:defRPr sz="1875" b="0">
                <a:solidFill>
                  <a:srgbClr val="526977"/>
                </a:solidFill>
                <a:latin typeface="Arial"/>
                <a:ea typeface="Arial"/>
                <a:cs typeface="Arial"/>
              </a:defRPr>
            </a:pPr>
            <a:r>
              <a:rPr sz="1875" b="0">
                <a:solidFill>
                  <a:srgbClr val="526977"/>
                </a:solidFill>
                <a:latin typeface="Arial"/>
                <a:ea typeface="Arial"/>
                <a:cs typeface="Arial"/>
              </a:rPr>
              <a:t>Supporting edition for the BMRI case. It reproduces the submitted valuation and clarifies formulas and labels; it does not replace the original submitted PDF.</a:t>
            </a:r>
          </a:p>
        </p:txBody>
      </p:sp>
    </p:spTree>
    <p:extLst>
      <p:ext uri="{BB962C8B-B14F-4D97-AF65-F5344CB8AC3E}">
        <p14:creationId xmlns:p14="http://schemas.microsoft.com/office/powerpoint/2010/main" val="103824965"/>
      </p:ext>
    </p:extLst>
  </p:cSld>
</p:sld>
</file>

<file path=ppt/slides/slide3.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50AED98-4ECB-42CC-A143-27153C3672E6}"/>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C303B"/>
                </a:solidFill>
                <a:latin typeface="Arial"/>
                <a:ea typeface="Arial"/>
                <a:cs typeface="Arial"/>
              </a:defRPr>
            </a:defPPr>
            <a:lvl1pPr>
              <a:defRPr sz="3225" b="1">
                <a:solidFill>
                  <a:srgbClr val="1C303B"/>
                </a:solidFill>
                <a:latin typeface="Arial"/>
                <a:ea typeface="Arial"/>
                <a:cs typeface="Arial"/>
              </a:defRPr>
            </a:lvl1pPr>
            <a:lvl2pPr>
              <a:defRPr sz="3225" b="1">
                <a:solidFill>
                  <a:srgbClr val="1C303B"/>
                </a:solidFill>
                <a:latin typeface="Arial"/>
                <a:ea typeface="Arial"/>
                <a:cs typeface="Arial"/>
              </a:defRPr>
            </a:lvl2pPr>
            <a:lvl3pPr>
              <a:defRPr sz="3225" b="1">
                <a:solidFill>
                  <a:srgbClr val="1C303B"/>
                </a:solidFill>
                <a:latin typeface="Arial"/>
                <a:ea typeface="Arial"/>
                <a:cs typeface="Arial"/>
              </a:defRPr>
            </a:lvl3pPr>
            <a:lvl4pPr>
              <a:defRPr sz="3225" b="1">
                <a:solidFill>
                  <a:srgbClr val="1C303B"/>
                </a:solidFill>
                <a:latin typeface="Arial"/>
                <a:ea typeface="Arial"/>
                <a:cs typeface="Arial"/>
              </a:defRPr>
            </a:lvl4pPr>
            <a:lvl5pPr>
              <a:defRPr sz="3225" b="1">
                <a:solidFill>
                  <a:srgbClr val="1C303B"/>
                </a:solidFill>
                <a:latin typeface="Arial"/>
                <a:ea typeface="Arial"/>
                <a:cs typeface="Arial"/>
              </a:defRPr>
            </a:lvl5pPr>
            <a:lvl6pPr>
              <a:defRPr sz="3225" b="1">
                <a:solidFill>
                  <a:srgbClr val="1C303B"/>
                </a:solidFill>
                <a:latin typeface="Arial"/>
                <a:ea typeface="Arial"/>
                <a:cs typeface="Arial"/>
              </a:defRPr>
            </a:lvl6pPr>
            <a:lvl7pPr>
              <a:defRPr sz="3225" b="1">
                <a:solidFill>
                  <a:srgbClr val="1C303B"/>
                </a:solidFill>
                <a:latin typeface="Arial"/>
                <a:ea typeface="Arial"/>
                <a:cs typeface="Arial"/>
              </a:defRPr>
            </a:lvl7pPr>
            <a:lvl8pPr>
              <a:defRPr sz="3225" b="1">
                <a:solidFill>
                  <a:srgbClr val="1C303B"/>
                </a:solidFill>
                <a:latin typeface="Arial"/>
                <a:ea typeface="Arial"/>
                <a:cs typeface="Arial"/>
              </a:defRPr>
            </a:lvl8pPr>
            <a:lvl9pPr>
              <a:defRPr sz="3225" b="1">
                <a:solidFill>
                  <a:srgbClr val="1C303B"/>
                </a:solidFill>
                <a:latin typeface="Arial"/>
                <a:ea typeface="Arial"/>
                <a:cs typeface="Arial"/>
              </a:defRPr>
            </a:lvl9pPr>
          </a:lstStyle>
          <a:p xmlns:a="http://schemas.openxmlformats.org/drawingml/2006/main">
            <a:pPr>
              <a:defRPr sz="3225" b="1">
                <a:solidFill>
                  <a:srgbClr val="1C303B"/>
                </a:solidFill>
                <a:latin typeface="Arial"/>
                <a:ea typeface="Arial"/>
                <a:cs typeface="Arial"/>
              </a:defRPr>
            </a:pPr>
            <a:r>
              <a:rPr sz="3225" b="1">
                <a:solidFill>
                  <a:srgbClr val="1C303B"/>
                </a:solidFill>
                <a:latin typeface="Arial"/>
                <a:ea typeface="Arial"/>
                <a:cs typeface="Arial"/>
              </a:rPr>
              <a:t>Evidence and valuation dates</a:t>
            </a:r>
          </a:p>
        </p:txBody>
      </p:sp>
      <p:sp>
        <p:nvSpPr>
          <p:cNvPr id="2" name="">
            <a:extLst xmlns:a="http://schemas.openxmlformats.org/drawingml/2006/main">
              <a:ext uri="{FF2B5EF4-FFF2-40B4-BE49-F238E27FC236}">
                <a16:creationId xmlns:a16="http://schemas.microsoft.com/office/drawing/2014/main" id="{6D6EA065-C9A5-4BC1-BBD8-2550AE592A96}"/>
              </a:ext>
            </a:extLst>
          </p:cNvPr>
          <p:cNvSpPr>
            <a:spLocks xmlns:a="http://schemas.openxmlformats.org/drawingml/2006/main" noGrp="1"/>
          </p:cNvSpPr>
          <p:nvPr/>
        </p:nvSpPr>
        <p:spPr>
          <a:xfrm xmlns:a="http://schemas.openxmlformats.org/drawingml/2006/main">
            <a:off x="609600" y="6324600"/>
            <a:ext cx="933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977"/>
                </a:solidFill>
                <a:latin typeface="Arial"/>
                <a:ea typeface="Arial"/>
                <a:cs typeface="Arial"/>
              </a:defRPr>
            </a:defPPr>
            <a:lvl1pPr>
              <a:defRPr sz="1125" b="0">
                <a:solidFill>
                  <a:srgbClr val="526977"/>
                </a:solidFill>
                <a:latin typeface="Arial"/>
                <a:ea typeface="Arial"/>
                <a:cs typeface="Arial"/>
              </a:defRPr>
            </a:lvl1pPr>
            <a:lvl2pPr>
              <a:defRPr sz="1125" b="0">
                <a:solidFill>
                  <a:srgbClr val="526977"/>
                </a:solidFill>
                <a:latin typeface="Arial"/>
                <a:ea typeface="Arial"/>
                <a:cs typeface="Arial"/>
              </a:defRPr>
            </a:lvl2pPr>
            <a:lvl3pPr>
              <a:defRPr sz="1125" b="0">
                <a:solidFill>
                  <a:srgbClr val="526977"/>
                </a:solidFill>
                <a:latin typeface="Arial"/>
                <a:ea typeface="Arial"/>
                <a:cs typeface="Arial"/>
              </a:defRPr>
            </a:lvl3pPr>
            <a:lvl4pPr>
              <a:defRPr sz="1125" b="0">
                <a:solidFill>
                  <a:srgbClr val="526977"/>
                </a:solidFill>
                <a:latin typeface="Arial"/>
                <a:ea typeface="Arial"/>
                <a:cs typeface="Arial"/>
              </a:defRPr>
            </a:lvl4pPr>
            <a:lvl5pPr>
              <a:defRPr sz="1125" b="0">
                <a:solidFill>
                  <a:srgbClr val="526977"/>
                </a:solidFill>
                <a:latin typeface="Arial"/>
                <a:ea typeface="Arial"/>
                <a:cs typeface="Arial"/>
              </a:defRPr>
            </a:lvl5pPr>
            <a:lvl6pPr>
              <a:defRPr sz="1125" b="0">
                <a:solidFill>
                  <a:srgbClr val="526977"/>
                </a:solidFill>
                <a:latin typeface="Arial"/>
                <a:ea typeface="Arial"/>
                <a:cs typeface="Arial"/>
              </a:defRPr>
            </a:lvl6pPr>
            <a:lvl7pPr>
              <a:defRPr sz="1125" b="0">
                <a:solidFill>
                  <a:srgbClr val="526977"/>
                </a:solidFill>
                <a:latin typeface="Arial"/>
                <a:ea typeface="Arial"/>
                <a:cs typeface="Arial"/>
              </a:defRPr>
            </a:lvl7pPr>
            <a:lvl8pPr>
              <a:defRPr sz="1125" b="0">
                <a:solidFill>
                  <a:srgbClr val="526977"/>
                </a:solidFill>
                <a:latin typeface="Arial"/>
                <a:ea typeface="Arial"/>
                <a:cs typeface="Arial"/>
              </a:defRPr>
            </a:lvl8pPr>
            <a:lvl9pPr>
              <a:defRPr sz="1125" b="0">
                <a:solidFill>
                  <a:srgbClr val="526977"/>
                </a:solidFill>
                <a:latin typeface="Arial"/>
                <a:ea typeface="Arial"/>
                <a:cs typeface="Arial"/>
              </a:defRPr>
            </a:lvl9pPr>
          </a:lstStyle>
          <a:p xmlns:a="http://schemas.openxmlformats.org/drawingml/2006/main">
            <a:pPr>
              <a:defRPr sz="1125" b="0">
                <a:solidFill>
                  <a:srgbClr val="526977"/>
                </a:solidFill>
                <a:latin typeface="Arial"/>
                <a:ea typeface="Arial"/>
                <a:cs typeface="Arial"/>
              </a:defRPr>
            </a:pPr>
            <a:r>
              <a:rPr sz="1125" b="0">
                <a:solidFill>
                  <a:srgbClr val="526977"/>
                </a:solidFill>
                <a:latin typeface="Arial"/>
                <a:ea typeface="Arial"/>
                <a:cs typeface="Arial"/>
              </a:rPr>
              <a:t>RALVEN 5.0 / BMRI / 25 Oct 2026</a:t>
            </a:r>
          </a:p>
        </p:txBody>
      </p:sp>
      <p:sp>
        <p:nvSpPr>
          <p:cNvPr id="3" name="">
            <a:extLst xmlns:a="http://schemas.openxmlformats.org/drawingml/2006/main">
              <a:ext uri="{FF2B5EF4-FFF2-40B4-BE49-F238E27FC236}">
                <a16:creationId xmlns:a16="http://schemas.microsoft.com/office/drawing/2014/main" id="{FCCD4C51-75B0-4B93-B167-6C7D08CC29A6}"/>
              </a:ext>
            </a:extLst>
          </p:cNvPr>
          <p:cNvSpPr>
            <a:spLocks xmlns:a="http://schemas.openxmlformats.org/drawingml/2006/main" noGrp="1"/>
          </p:cNvSpPr>
          <p:nvPr/>
        </p:nvSpPr>
        <p:spPr>
          <a:xfrm xmlns:a="http://schemas.openxmlformats.org/drawingml/2006/main">
            <a:off x="11001375" y="63246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977"/>
                </a:solidFill>
                <a:latin typeface="Arial"/>
                <a:ea typeface="Arial"/>
                <a:cs typeface="Arial"/>
              </a:defRPr>
            </a:defPPr>
            <a:lvl1pPr>
              <a:defRPr sz="1125" b="0">
                <a:solidFill>
                  <a:srgbClr val="526977"/>
                </a:solidFill>
                <a:latin typeface="Arial"/>
                <a:ea typeface="Arial"/>
                <a:cs typeface="Arial"/>
              </a:defRPr>
            </a:lvl1pPr>
            <a:lvl2pPr>
              <a:defRPr sz="1125" b="0">
                <a:solidFill>
                  <a:srgbClr val="526977"/>
                </a:solidFill>
                <a:latin typeface="Arial"/>
                <a:ea typeface="Arial"/>
                <a:cs typeface="Arial"/>
              </a:defRPr>
            </a:lvl2pPr>
            <a:lvl3pPr>
              <a:defRPr sz="1125" b="0">
                <a:solidFill>
                  <a:srgbClr val="526977"/>
                </a:solidFill>
                <a:latin typeface="Arial"/>
                <a:ea typeface="Arial"/>
                <a:cs typeface="Arial"/>
              </a:defRPr>
            </a:lvl3pPr>
            <a:lvl4pPr>
              <a:defRPr sz="1125" b="0">
                <a:solidFill>
                  <a:srgbClr val="526977"/>
                </a:solidFill>
                <a:latin typeface="Arial"/>
                <a:ea typeface="Arial"/>
                <a:cs typeface="Arial"/>
              </a:defRPr>
            </a:lvl4pPr>
            <a:lvl5pPr>
              <a:defRPr sz="1125" b="0">
                <a:solidFill>
                  <a:srgbClr val="526977"/>
                </a:solidFill>
                <a:latin typeface="Arial"/>
                <a:ea typeface="Arial"/>
                <a:cs typeface="Arial"/>
              </a:defRPr>
            </a:lvl5pPr>
            <a:lvl6pPr>
              <a:defRPr sz="1125" b="0">
                <a:solidFill>
                  <a:srgbClr val="526977"/>
                </a:solidFill>
                <a:latin typeface="Arial"/>
                <a:ea typeface="Arial"/>
                <a:cs typeface="Arial"/>
              </a:defRPr>
            </a:lvl6pPr>
            <a:lvl7pPr>
              <a:defRPr sz="1125" b="0">
                <a:solidFill>
                  <a:srgbClr val="526977"/>
                </a:solidFill>
                <a:latin typeface="Arial"/>
                <a:ea typeface="Arial"/>
                <a:cs typeface="Arial"/>
              </a:defRPr>
            </a:lvl7pPr>
            <a:lvl8pPr>
              <a:defRPr sz="1125" b="0">
                <a:solidFill>
                  <a:srgbClr val="526977"/>
                </a:solidFill>
                <a:latin typeface="Arial"/>
                <a:ea typeface="Arial"/>
                <a:cs typeface="Arial"/>
              </a:defRPr>
            </a:lvl8pPr>
            <a:lvl9pPr>
              <a:defRPr sz="1125" b="0">
                <a:solidFill>
                  <a:srgbClr val="526977"/>
                </a:solidFill>
                <a:latin typeface="Arial"/>
                <a:ea typeface="Arial"/>
                <a:cs typeface="Arial"/>
              </a:defRPr>
            </a:lvl9pPr>
          </a:lstStyle>
          <a:p xmlns:a="http://schemas.openxmlformats.org/drawingml/2006/main">
            <a:pPr>
              <a:defRPr sz="1125" b="0">
                <a:solidFill>
                  <a:srgbClr val="526977"/>
                </a:solidFill>
                <a:latin typeface="Arial"/>
                <a:ea typeface="Arial"/>
                <a:cs typeface="Arial"/>
              </a:defRPr>
            </a:pPr>
            <a:r>
              <a:rPr sz="1125" b="0">
                <a:solidFill>
                  <a:srgbClr val="526977"/>
                </a:solidFill>
                <a:latin typeface="Arial"/>
                <a:ea typeface="Arial"/>
                <a:cs typeface="Arial"/>
              </a:rPr>
              <a:t>3</a:t>
            </a:r>
          </a:p>
        </p:txBody>
      </p:sp>
      <p:graphicFrame>
        <p:nvGraphicFramePr>
          <p:cNvPr id="4" name="">
            <a:extLst xmlns:a="http://schemas.openxmlformats.org/drawingml/2006/main">
              <a:ext uri="{FF2B5EF4-FFF2-40B4-BE49-F238E27FC236}">
                <a16:creationId xmlns:a16="http://schemas.microsoft.com/office/drawing/2014/main" id="{3A420764-D3A4-4B58-AA8D-1B7697233098}"/>
              </a:ext>
            </a:extLst>
          </p:cNvPr>
          <p:cNvGraphicFramePr/>
          <p:nvPr/>
        </p:nvGraphicFramePr>
        <p:xfrm>
          <a:off xmlns:a="http://schemas.openxmlformats.org/drawingml/2006/main" x="609600" y="1952625"/>
          <a:ext xmlns:a="http://schemas.openxmlformats.org/drawingml/2006/main" cx="10972800" cy="3714750"/>
        </p:xfrm>
        <a:graphic xmlns:a="http://schemas.openxmlformats.org/drawingml/2006/main">
          <a:graphicData uri="http://schemas.openxmlformats.org/drawingml/2006/table">
            <a:tbl>
              <a:tblPr/>
              <a:tblGrid>
                <a:gridCol w="5486400"/>
                <a:gridCol w="5486400"/>
              </a:tblGrid>
              <a:tr h="530679">
                <a:tc>
                  <a:txBody>
                    <a:bodyPr/>
                    <a:lstStyle/>
                    <a:p>
                      <a:r>
                        <a:rPr sz="1650" b="1">
                          <a:solidFill>
                            <a:srgbClr val="FFFFFF"/>
                          </a:solidFill>
                          <a:latin typeface="Arial"/>
                          <a:ea typeface="Arial"/>
                          <a:cs typeface="Arial"/>
                        </a:rPr>
                        <a:t>Item</a:t>
                      </a:r>
                    </a:p>
                  </a:txBody>
                  <a:tcPr marL="91440" marR="91440" marT="45720" marB="45720">
                    <a:lnL w="9525">
                      <a:solidFill>
                        <a:srgbClr val="DEE7E9"/>
                      </a:solidFill>
                      <a:prstDash val="solid"/>
                    </a:lnL>
                    <a:lnR w="9525">
                      <a:solidFill>
                        <a:srgbClr val="DEE7E9"/>
                      </a:solidFill>
                      <a:prstDash val="solid"/>
                    </a:lnR>
                    <a:lnT w="9525">
                      <a:solidFill>
                        <a:srgbClr val="DEE7E9"/>
                      </a:solidFill>
                      <a:prstDash val="solid"/>
                    </a:lnT>
                    <a:lnB w="9525">
                      <a:solidFill>
                        <a:srgbClr val="DEE7E9"/>
                      </a:solidFill>
                      <a:prstDash val="solid"/>
                    </a:lnB>
                    <a:solidFill>
                      <a:srgbClr val="1C303B"/>
                    </a:solidFill>
                  </a:tcPr>
                </a:tc>
                <a:tc>
                  <a:txBody>
                    <a:bodyPr/>
                    <a:lstStyle/>
                    <a:p>
                      <a:r>
                        <a:rPr sz="1650" b="1">
                          <a:solidFill>
                            <a:srgbClr val="FFFFFF"/>
                          </a:solidFill>
                          <a:latin typeface="Arial"/>
                          <a:ea typeface="Arial"/>
                          <a:cs typeface="Arial"/>
                        </a:rPr>
                        <a:t>Basis</a:t>
                      </a:r>
                    </a:p>
                  </a:txBody>
                  <a:tcPr marL="91440" marR="91440" marT="45720" marB="45720">
                    <a:lnR w="9525">
                      <a:solidFill>
                        <a:srgbClr val="DEE7E9"/>
                      </a:solidFill>
                      <a:prstDash val="solid"/>
                    </a:lnR>
                    <a:lnT w="9525">
                      <a:solidFill>
                        <a:srgbClr val="DEE7E9"/>
                      </a:solidFill>
                      <a:prstDash val="solid"/>
                    </a:lnT>
                    <a:lnB w="9525">
                      <a:solidFill>
                        <a:srgbClr val="DEE7E9"/>
                      </a:solidFill>
                      <a:prstDash val="solid"/>
                    </a:lnB>
                    <a:solidFill>
                      <a:srgbClr val="1C303B"/>
                    </a:solidFill>
                  </a:tcPr>
                </a:tc>
              </a:tr>
              <a:tr h="530679">
                <a:tc>
                  <a:txBody>
                    <a:bodyPr/>
                    <a:lstStyle/>
                    <a:p>
                      <a:r>
                        <a:rPr sz="1650" b="0">
                          <a:solidFill>
                            <a:srgbClr val="1C303B"/>
                          </a:solidFill>
                          <a:latin typeface="Arial"/>
                          <a:ea typeface="Arial"/>
                          <a:cs typeface="Arial"/>
                        </a:rPr>
                        <a:t>Valuation date</a:t>
                      </a:r>
                    </a:p>
                  </a:txBody>
                  <a:tcPr marL="91440" marR="91440" marT="45720" marB="45720">
                    <a:lnL w="9525">
                      <a:solidFill>
                        <a:srgbClr val="DEE7E9"/>
                      </a:solidFill>
                      <a:prstDash val="solid"/>
                    </a:lnL>
                    <a:lnR w="9525">
                      <a:solidFill>
                        <a:srgbClr val="DEE7E9"/>
                      </a:solidFill>
                      <a:prstDash val="solid"/>
                    </a:lnR>
                    <a:lnB w="9525">
                      <a:solidFill>
                        <a:srgbClr val="DEE7E9"/>
                      </a:solidFill>
                      <a:prstDash val="solid"/>
                    </a:lnB>
                    <a:solidFill>
                      <a:srgbClr val="EFF5F4"/>
                    </a:solidFill>
                  </a:tcPr>
                </a:tc>
                <a:tc>
                  <a:txBody>
                    <a:bodyPr/>
                    <a:lstStyle/>
                    <a:p>
                      <a:r>
                        <a:rPr sz="1650" b="0">
                          <a:solidFill>
                            <a:srgbClr val="1C303B"/>
                          </a:solidFill>
                          <a:latin typeface="Arial"/>
                          <a:ea typeface="Arial"/>
                          <a:cs typeface="Arial"/>
                        </a:rPr>
                        <a:t>25 October 2026</a:t>
                      </a:r>
                    </a:p>
                  </a:txBody>
                  <a:tcPr marL="91440" marR="91440" marT="45720" marB="45720">
                    <a:lnR w="9525">
                      <a:solidFill>
                        <a:srgbClr val="DEE7E9"/>
                      </a:solidFill>
                      <a:prstDash val="solid"/>
                    </a:lnR>
                    <a:lnB w="9525">
                      <a:solidFill>
                        <a:srgbClr val="DEE7E9"/>
                      </a:solidFill>
                      <a:prstDash val="solid"/>
                    </a:lnB>
                    <a:solidFill>
                      <a:srgbClr val="EFF5F4"/>
                    </a:solidFill>
                  </a:tcPr>
                </a:tc>
              </a:tr>
              <a:tr h="530679">
                <a:tc>
                  <a:txBody>
                    <a:bodyPr/>
                    <a:lstStyle/>
                    <a:p>
                      <a:r>
                        <a:rPr sz="1650" b="0">
                          <a:solidFill>
                            <a:srgbClr val="1C303B"/>
                          </a:solidFill>
                          <a:latin typeface="Arial"/>
                          <a:ea typeface="Arial"/>
                          <a:cs typeface="Arial"/>
                        </a:rPr>
                        <a:t>Observed quote</a:t>
                      </a:r>
                    </a:p>
                  </a:txBody>
                  <a:tcPr marL="91440" marR="91440" marT="45720" marB="45720">
                    <a:lnL w="9525">
                      <a:solidFill>
                        <a:srgbClr val="DEE7E9"/>
                      </a:solidFill>
                      <a:prstDash val="solid"/>
                    </a:lnL>
                    <a:lnR w="9525">
                      <a:solidFill>
                        <a:srgbClr val="DEE7E9"/>
                      </a:solidFill>
                      <a:prstDash val="solid"/>
                    </a:lnR>
                    <a:lnB w="9525">
                      <a:solidFill>
                        <a:srgbClr val="DEE7E9"/>
                      </a:solidFill>
                      <a:prstDash val="solid"/>
                    </a:lnB>
                    <a:solidFill>
                      <a:srgbClr val="FCFDFC"/>
                    </a:solidFill>
                  </a:tcPr>
                </a:tc>
                <a:tc>
                  <a:txBody>
                    <a:bodyPr/>
                    <a:lstStyle/>
                    <a:p>
                      <a:r>
                        <a:rPr sz="1650" b="0">
                          <a:solidFill>
                            <a:srgbClr val="1C303B"/>
                          </a:solidFill>
                          <a:latin typeface="Arial"/>
                          <a:ea typeface="Arial"/>
                          <a:cs typeface="Arial"/>
                        </a:rPr>
                        <a:t>2026-10-23 / Rp 3,900</a:t>
                      </a:r>
                    </a:p>
                  </a:txBody>
                  <a:tcPr marL="91440" marR="91440" marT="45720" marB="45720">
                    <a:lnR w="9525">
                      <a:solidFill>
                        <a:srgbClr val="DEE7E9"/>
                      </a:solidFill>
                      <a:prstDash val="solid"/>
                    </a:lnR>
                    <a:lnB w="9525">
                      <a:solidFill>
                        <a:srgbClr val="DEE7E9"/>
                      </a:solidFill>
                      <a:prstDash val="solid"/>
                    </a:lnB>
                    <a:solidFill>
                      <a:srgbClr val="FCFDFC"/>
                    </a:solidFill>
                  </a:tcPr>
                </a:tc>
              </a:tr>
              <a:tr h="530679">
                <a:tc>
                  <a:txBody>
                    <a:bodyPr/>
                    <a:lstStyle/>
                    <a:p>
                      <a:r>
                        <a:rPr sz="1650" b="0">
                          <a:solidFill>
                            <a:srgbClr val="1C303B"/>
                          </a:solidFill>
                          <a:latin typeface="Arial"/>
                          <a:ea typeface="Arial"/>
                          <a:cs typeface="Arial"/>
                        </a:rPr>
                        <a:t>Selected financial basis</a:t>
                      </a:r>
                    </a:p>
                  </a:txBody>
                  <a:tcPr marL="91440" marR="91440" marT="45720" marB="45720">
                    <a:lnL w="9525">
                      <a:solidFill>
                        <a:srgbClr val="DEE7E9"/>
                      </a:solidFill>
                      <a:prstDash val="solid"/>
                    </a:lnL>
                    <a:lnR w="9525">
                      <a:solidFill>
                        <a:srgbClr val="DEE7E9"/>
                      </a:solidFill>
                      <a:prstDash val="solid"/>
                    </a:lnR>
                    <a:lnB w="9525">
                      <a:solidFill>
                        <a:srgbClr val="DEE7E9"/>
                      </a:solidFill>
                      <a:prstDash val="solid"/>
                    </a:lnB>
                    <a:solidFill>
                      <a:srgbClr val="EFF5F4"/>
                    </a:solidFill>
                  </a:tcPr>
                </a:tc>
                <a:tc>
                  <a:txBody>
                    <a:bodyPr/>
                    <a:lstStyle/>
                    <a:p>
                      <a:r>
                        <a:rPr sz="1650" b="0">
                          <a:solidFill>
                            <a:srgbClr val="1C303B"/>
                          </a:solidFill>
                          <a:latin typeface="Arial"/>
                          <a:ea typeface="Arial"/>
                          <a:cs typeface="Arial"/>
                        </a:rPr>
                        <a:t>TTM / 2026-06-30</a:t>
                      </a:r>
                    </a:p>
                  </a:txBody>
                  <a:tcPr marL="91440" marR="91440" marT="45720" marB="45720">
                    <a:lnR w="9525">
                      <a:solidFill>
                        <a:srgbClr val="DEE7E9"/>
                      </a:solidFill>
                      <a:prstDash val="solid"/>
                    </a:lnR>
                    <a:lnB w="9525">
                      <a:solidFill>
                        <a:srgbClr val="DEE7E9"/>
                      </a:solidFill>
                      <a:prstDash val="solid"/>
                    </a:lnB>
                    <a:solidFill>
                      <a:srgbClr val="EFF5F4"/>
                    </a:solidFill>
                  </a:tcPr>
                </a:tc>
              </a:tr>
              <a:tr h="530679">
                <a:tc>
                  <a:txBody>
                    <a:bodyPr/>
                    <a:lstStyle/>
                    <a:p>
                      <a:r>
                        <a:rPr sz="1650" b="0">
                          <a:solidFill>
                            <a:srgbClr val="1C303B"/>
                          </a:solidFill>
                          <a:latin typeface="Arial"/>
                          <a:ea typeface="Arial"/>
                          <a:cs typeface="Arial"/>
                        </a:rPr>
                        <a:t>Primary evidence</a:t>
                      </a:r>
                    </a:p>
                  </a:txBody>
                  <a:tcPr marL="91440" marR="91440" marT="45720" marB="45720">
                    <a:lnL w="9525">
                      <a:solidFill>
                        <a:srgbClr val="DEE7E9"/>
                      </a:solidFill>
                      <a:prstDash val="solid"/>
                    </a:lnL>
                    <a:lnR w="9525">
                      <a:solidFill>
                        <a:srgbClr val="DEE7E9"/>
                      </a:solidFill>
                      <a:prstDash val="solid"/>
                    </a:lnR>
                    <a:lnB w="9525">
                      <a:solidFill>
                        <a:srgbClr val="DEE7E9"/>
                      </a:solidFill>
                      <a:prstDash val="solid"/>
                    </a:lnB>
                    <a:solidFill>
                      <a:srgbClr val="FCFDFC"/>
                    </a:solidFill>
                  </a:tcPr>
                </a:tc>
                <a:tc>
                  <a:txBody>
                    <a:bodyPr/>
                    <a:lstStyle/>
                    <a:p>
                      <a:r>
                        <a:rPr sz="1650" b="0">
                          <a:solidFill>
                            <a:srgbClr val="1C303B"/>
                          </a:solidFill>
                          <a:latin typeface="Arial"/>
                          <a:ea typeface="Arial"/>
                          <a:cs typeface="Arial"/>
                        </a:rPr>
                        <a:t>IDX consolidated XBRL / issuer filings</a:t>
                      </a:r>
                    </a:p>
                  </a:txBody>
                  <a:tcPr marL="91440" marR="91440" marT="45720" marB="45720">
                    <a:lnR w="9525">
                      <a:solidFill>
                        <a:srgbClr val="DEE7E9"/>
                      </a:solidFill>
                      <a:prstDash val="solid"/>
                    </a:lnR>
                    <a:lnB w="9525">
                      <a:solidFill>
                        <a:srgbClr val="DEE7E9"/>
                      </a:solidFill>
                      <a:prstDash val="solid"/>
                    </a:lnB>
                    <a:solidFill>
                      <a:srgbClr val="FCFDFC"/>
                    </a:solidFill>
                  </a:tcPr>
                </a:tc>
              </a:tr>
              <a:tr h="530679">
                <a:tc>
                  <a:txBody>
                    <a:bodyPr/>
                    <a:lstStyle/>
                    <a:p>
                      <a:r>
                        <a:rPr sz="1650" b="0">
                          <a:solidFill>
                            <a:srgbClr val="1C303B"/>
                          </a:solidFill>
                          <a:latin typeface="Arial"/>
                          <a:ea typeface="Arial"/>
                          <a:cs typeface="Arial"/>
                        </a:rPr>
                        <a:t>Secondary market/fundamental input</a:t>
                      </a:r>
                    </a:p>
                  </a:txBody>
                  <a:tcPr marL="91440" marR="91440" marT="45720" marB="45720">
                    <a:lnL w="9525">
                      <a:solidFill>
                        <a:srgbClr val="DEE7E9"/>
                      </a:solidFill>
                      <a:prstDash val="solid"/>
                    </a:lnL>
                    <a:lnR w="9525">
                      <a:solidFill>
                        <a:srgbClr val="DEE7E9"/>
                      </a:solidFill>
                      <a:prstDash val="solid"/>
                    </a:lnR>
                    <a:lnB w="9525">
                      <a:solidFill>
                        <a:srgbClr val="DEE7E9"/>
                      </a:solidFill>
                      <a:prstDash val="solid"/>
                    </a:lnB>
                    <a:solidFill>
                      <a:srgbClr val="EFF5F4"/>
                    </a:solidFill>
                  </a:tcPr>
                </a:tc>
                <a:tc>
                  <a:txBody>
                    <a:bodyPr/>
                    <a:lstStyle/>
                    <a:p>
                      <a:r>
                        <a:rPr sz="1650" b="0">
                          <a:solidFill>
                            <a:srgbClr val="1C303B"/>
                          </a:solidFill>
                          <a:latin typeface="Arial"/>
                          <a:ea typeface="Arial"/>
                          <a:cs typeface="Arial"/>
                        </a:rPr>
                        <a:t>Yahoo Finance observations; definitions reconciled</a:t>
                      </a:r>
                    </a:p>
                  </a:txBody>
                  <a:tcPr marL="91440" marR="91440" marT="45720" marB="45720">
                    <a:lnR w="9525">
                      <a:solidFill>
                        <a:srgbClr val="DEE7E9"/>
                      </a:solidFill>
                      <a:prstDash val="solid"/>
                    </a:lnR>
                    <a:lnB w="9525">
                      <a:solidFill>
                        <a:srgbClr val="DEE7E9"/>
                      </a:solidFill>
                      <a:prstDash val="solid"/>
                    </a:lnB>
                    <a:solidFill>
                      <a:srgbClr val="EFF5F4"/>
                    </a:solidFill>
                  </a:tcPr>
                </a:tc>
              </a:tr>
              <a:tr h="530679">
                <a:tc>
                  <a:txBody>
                    <a:bodyPr/>
                    <a:lstStyle/>
                    <a:p>
                      <a:r>
                        <a:rPr sz="1650" b="0">
                          <a:solidFill>
                            <a:srgbClr val="1C303B"/>
                          </a:solidFill>
                          <a:latin typeface="Arial"/>
                          <a:ea typeface="Arial"/>
                          <a:cs typeface="Arial"/>
                        </a:rPr>
                        <a:t>Source snapshot</a:t>
                      </a:r>
                    </a:p>
                  </a:txBody>
                  <a:tcPr marL="91440" marR="91440" marT="45720" marB="45720">
                    <a:lnL w="9525">
                      <a:solidFill>
                        <a:srgbClr val="DEE7E9"/>
                      </a:solidFill>
                      <a:prstDash val="solid"/>
                    </a:lnL>
                    <a:lnR w="9525">
                      <a:solidFill>
                        <a:srgbClr val="DEE7E9"/>
                      </a:solidFill>
                      <a:prstDash val="solid"/>
                    </a:lnR>
                    <a:lnB w="9525">
                      <a:solidFill>
                        <a:srgbClr val="DEE7E9"/>
                      </a:solidFill>
                      <a:prstDash val="solid"/>
                    </a:lnB>
                    <a:solidFill>
                      <a:srgbClr val="FCFDFC"/>
                    </a:solidFill>
                  </a:tcPr>
                </a:tc>
                <a:tc>
                  <a:txBody>
                    <a:bodyPr/>
                    <a:lstStyle/>
                    <a:p>
                      <a:r>
                        <a:rPr sz="1650" b="0">
                          <a:solidFill>
                            <a:srgbClr val="1C303B"/>
                          </a:solidFill>
                          <a:latin typeface="Arial"/>
                          <a:ea typeface="Arial"/>
                          <a:cs typeface="Arial"/>
                        </a:rPr>
                        <a:t>rv5-d6d3731642bdf004</a:t>
                      </a:r>
                    </a:p>
                  </a:txBody>
                  <a:tcPr marL="91440" marR="91440" marT="45720" marB="45720">
                    <a:lnR w="9525">
                      <a:solidFill>
                        <a:srgbClr val="DEE7E9"/>
                      </a:solidFill>
                      <a:prstDash val="solid"/>
                    </a:lnR>
                    <a:lnB w="9525">
                      <a:solidFill>
                        <a:srgbClr val="DEE7E9"/>
                      </a:solidFill>
                      <a:prstDash val="solid"/>
                    </a:lnB>
                    <a:solidFill>
                      <a:srgbClr val="FCFDFC"/>
                    </a:solidFill>
                  </a:tcPr>
                </a:tc>
              </a:tr>
            </a:tbl>
          </a:graphicData>
        </a:graphic>
      </p:graphicFrame>
    </p:spTree>
    <p:extLst>
      <p:ext uri="{BB962C8B-B14F-4D97-AF65-F5344CB8AC3E}">
        <p14:creationId xmlns:p14="http://schemas.microsoft.com/office/powerpoint/2010/main" val="243322111"/>
      </p:ext>
    </p:extLst>
  </p:cSld>
</p:sld>
</file>

<file path=ppt/slides/slide4.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099CF07-074C-440B-A2D5-FB4EBAA3C4E6}"/>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C303B"/>
                </a:solidFill>
                <a:latin typeface="Arial"/>
                <a:ea typeface="Arial"/>
                <a:cs typeface="Arial"/>
              </a:defRPr>
            </a:defPPr>
            <a:lvl1pPr>
              <a:defRPr sz="3225" b="1">
                <a:solidFill>
                  <a:srgbClr val="1C303B"/>
                </a:solidFill>
                <a:latin typeface="Arial"/>
                <a:ea typeface="Arial"/>
                <a:cs typeface="Arial"/>
              </a:defRPr>
            </a:lvl1pPr>
            <a:lvl2pPr>
              <a:defRPr sz="3225" b="1">
                <a:solidFill>
                  <a:srgbClr val="1C303B"/>
                </a:solidFill>
                <a:latin typeface="Arial"/>
                <a:ea typeface="Arial"/>
                <a:cs typeface="Arial"/>
              </a:defRPr>
            </a:lvl2pPr>
            <a:lvl3pPr>
              <a:defRPr sz="3225" b="1">
                <a:solidFill>
                  <a:srgbClr val="1C303B"/>
                </a:solidFill>
                <a:latin typeface="Arial"/>
                <a:ea typeface="Arial"/>
                <a:cs typeface="Arial"/>
              </a:defRPr>
            </a:lvl3pPr>
            <a:lvl4pPr>
              <a:defRPr sz="3225" b="1">
                <a:solidFill>
                  <a:srgbClr val="1C303B"/>
                </a:solidFill>
                <a:latin typeface="Arial"/>
                <a:ea typeface="Arial"/>
                <a:cs typeface="Arial"/>
              </a:defRPr>
            </a:lvl4pPr>
            <a:lvl5pPr>
              <a:defRPr sz="3225" b="1">
                <a:solidFill>
                  <a:srgbClr val="1C303B"/>
                </a:solidFill>
                <a:latin typeface="Arial"/>
                <a:ea typeface="Arial"/>
                <a:cs typeface="Arial"/>
              </a:defRPr>
            </a:lvl5pPr>
            <a:lvl6pPr>
              <a:defRPr sz="3225" b="1">
                <a:solidFill>
                  <a:srgbClr val="1C303B"/>
                </a:solidFill>
                <a:latin typeface="Arial"/>
                <a:ea typeface="Arial"/>
                <a:cs typeface="Arial"/>
              </a:defRPr>
            </a:lvl6pPr>
            <a:lvl7pPr>
              <a:defRPr sz="3225" b="1">
                <a:solidFill>
                  <a:srgbClr val="1C303B"/>
                </a:solidFill>
                <a:latin typeface="Arial"/>
                <a:ea typeface="Arial"/>
                <a:cs typeface="Arial"/>
              </a:defRPr>
            </a:lvl7pPr>
            <a:lvl8pPr>
              <a:defRPr sz="3225" b="1">
                <a:solidFill>
                  <a:srgbClr val="1C303B"/>
                </a:solidFill>
                <a:latin typeface="Arial"/>
                <a:ea typeface="Arial"/>
                <a:cs typeface="Arial"/>
              </a:defRPr>
            </a:lvl8pPr>
            <a:lvl9pPr>
              <a:defRPr sz="3225" b="1">
                <a:solidFill>
                  <a:srgbClr val="1C303B"/>
                </a:solidFill>
                <a:latin typeface="Arial"/>
                <a:ea typeface="Arial"/>
                <a:cs typeface="Arial"/>
              </a:defRPr>
            </a:lvl9pPr>
          </a:lstStyle>
          <a:p xmlns:a="http://schemas.openxmlformats.org/drawingml/2006/main">
            <a:pPr>
              <a:defRPr sz="3225" b="1">
                <a:solidFill>
                  <a:srgbClr val="1C303B"/>
                </a:solidFill>
                <a:latin typeface="Arial"/>
                <a:ea typeface="Arial"/>
                <a:cs typeface="Arial"/>
              </a:defRPr>
            </a:pPr>
            <a:r>
              <a:rPr sz="3225" b="1">
                <a:solidFill>
                  <a:srgbClr val="1C303B"/>
                </a:solidFill>
                <a:latin typeface="Arial"/>
                <a:ea typeface="Arial"/>
                <a:cs typeface="Arial"/>
              </a:rPr>
              <a:t>Reported historical performance</a:t>
            </a:r>
          </a:p>
        </p:txBody>
      </p:sp>
      <p:sp>
        <p:nvSpPr>
          <p:cNvPr id="2" name="">
            <a:extLst xmlns:a="http://schemas.openxmlformats.org/drawingml/2006/main">
              <a:ext uri="{FF2B5EF4-FFF2-40B4-BE49-F238E27FC236}">
                <a16:creationId xmlns:a16="http://schemas.microsoft.com/office/drawing/2014/main" id="{2F2EB729-D7F1-4EFF-983A-A4E404EA0DD7}"/>
              </a:ext>
            </a:extLst>
          </p:cNvPr>
          <p:cNvSpPr>
            <a:spLocks xmlns:a="http://schemas.openxmlformats.org/drawingml/2006/main" noGrp="1"/>
          </p:cNvSpPr>
          <p:nvPr/>
        </p:nvSpPr>
        <p:spPr>
          <a:xfrm xmlns:a="http://schemas.openxmlformats.org/drawingml/2006/main">
            <a:off x="609600" y="6324600"/>
            <a:ext cx="933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977"/>
                </a:solidFill>
                <a:latin typeface="Arial"/>
                <a:ea typeface="Arial"/>
                <a:cs typeface="Arial"/>
              </a:defRPr>
            </a:defPPr>
            <a:lvl1pPr>
              <a:defRPr sz="1125" b="0">
                <a:solidFill>
                  <a:srgbClr val="526977"/>
                </a:solidFill>
                <a:latin typeface="Arial"/>
                <a:ea typeface="Arial"/>
                <a:cs typeface="Arial"/>
              </a:defRPr>
            </a:lvl1pPr>
            <a:lvl2pPr>
              <a:defRPr sz="1125" b="0">
                <a:solidFill>
                  <a:srgbClr val="526977"/>
                </a:solidFill>
                <a:latin typeface="Arial"/>
                <a:ea typeface="Arial"/>
                <a:cs typeface="Arial"/>
              </a:defRPr>
            </a:lvl2pPr>
            <a:lvl3pPr>
              <a:defRPr sz="1125" b="0">
                <a:solidFill>
                  <a:srgbClr val="526977"/>
                </a:solidFill>
                <a:latin typeface="Arial"/>
                <a:ea typeface="Arial"/>
                <a:cs typeface="Arial"/>
              </a:defRPr>
            </a:lvl3pPr>
            <a:lvl4pPr>
              <a:defRPr sz="1125" b="0">
                <a:solidFill>
                  <a:srgbClr val="526977"/>
                </a:solidFill>
                <a:latin typeface="Arial"/>
                <a:ea typeface="Arial"/>
                <a:cs typeface="Arial"/>
              </a:defRPr>
            </a:lvl4pPr>
            <a:lvl5pPr>
              <a:defRPr sz="1125" b="0">
                <a:solidFill>
                  <a:srgbClr val="526977"/>
                </a:solidFill>
                <a:latin typeface="Arial"/>
                <a:ea typeface="Arial"/>
                <a:cs typeface="Arial"/>
              </a:defRPr>
            </a:lvl5pPr>
            <a:lvl6pPr>
              <a:defRPr sz="1125" b="0">
                <a:solidFill>
                  <a:srgbClr val="526977"/>
                </a:solidFill>
                <a:latin typeface="Arial"/>
                <a:ea typeface="Arial"/>
                <a:cs typeface="Arial"/>
              </a:defRPr>
            </a:lvl6pPr>
            <a:lvl7pPr>
              <a:defRPr sz="1125" b="0">
                <a:solidFill>
                  <a:srgbClr val="526977"/>
                </a:solidFill>
                <a:latin typeface="Arial"/>
                <a:ea typeface="Arial"/>
                <a:cs typeface="Arial"/>
              </a:defRPr>
            </a:lvl7pPr>
            <a:lvl8pPr>
              <a:defRPr sz="1125" b="0">
                <a:solidFill>
                  <a:srgbClr val="526977"/>
                </a:solidFill>
                <a:latin typeface="Arial"/>
                <a:ea typeface="Arial"/>
                <a:cs typeface="Arial"/>
              </a:defRPr>
            </a:lvl8pPr>
            <a:lvl9pPr>
              <a:defRPr sz="1125" b="0">
                <a:solidFill>
                  <a:srgbClr val="526977"/>
                </a:solidFill>
                <a:latin typeface="Arial"/>
                <a:ea typeface="Arial"/>
                <a:cs typeface="Arial"/>
              </a:defRPr>
            </a:lvl9pPr>
          </a:lstStyle>
          <a:p xmlns:a="http://schemas.openxmlformats.org/drawingml/2006/main">
            <a:pPr>
              <a:defRPr sz="1125" b="0">
                <a:solidFill>
                  <a:srgbClr val="526977"/>
                </a:solidFill>
                <a:latin typeface="Arial"/>
                <a:ea typeface="Arial"/>
                <a:cs typeface="Arial"/>
              </a:defRPr>
            </a:pPr>
            <a:r>
              <a:rPr sz="1125" b="0">
                <a:solidFill>
                  <a:srgbClr val="526977"/>
                </a:solidFill>
                <a:latin typeface="Arial"/>
                <a:ea typeface="Arial"/>
                <a:cs typeface="Arial"/>
              </a:rPr>
              <a:t>RALVEN 5.0 / BMRI / 25 Oct 2026</a:t>
            </a:r>
          </a:p>
        </p:txBody>
      </p:sp>
      <p:sp>
        <p:nvSpPr>
          <p:cNvPr id="3" name="">
            <a:extLst xmlns:a="http://schemas.openxmlformats.org/drawingml/2006/main">
              <a:ext uri="{FF2B5EF4-FFF2-40B4-BE49-F238E27FC236}">
                <a16:creationId xmlns:a16="http://schemas.microsoft.com/office/drawing/2014/main" id="{183DADCF-009E-42FD-B514-DE8EA5319226}"/>
              </a:ext>
            </a:extLst>
          </p:cNvPr>
          <p:cNvSpPr>
            <a:spLocks xmlns:a="http://schemas.openxmlformats.org/drawingml/2006/main" noGrp="1"/>
          </p:cNvSpPr>
          <p:nvPr/>
        </p:nvSpPr>
        <p:spPr>
          <a:xfrm xmlns:a="http://schemas.openxmlformats.org/drawingml/2006/main">
            <a:off x="11001375" y="63246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977"/>
                </a:solidFill>
                <a:latin typeface="Arial"/>
                <a:ea typeface="Arial"/>
                <a:cs typeface="Arial"/>
              </a:defRPr>
            </a:defPPr>
            <a:lvl1pPr>
              <a:defRPr sz="1125" b="0">
                <a:solidFill>
                  <a:srgbClr val="526977"/>
                </a:solidFill>
                <a:latin typeface="Arial"/>
                <a:ea typeface="Arial"/>
                <a:cs typeface="Arial"/>
              </a:defRPr>
            </a:lvl1pPr>
            <a:lvl2pPr>
              <a:defRPr sz="1125" b="0">
                <a:solidFill>
                  <a:srgbClr val="526977"/>
                </a:solidFill>
                <a:latin typeface="Arial"/>
                <a:ea typeface="Arial"/>
                <a:cs typeface="Arial"/>
              </a:defRPr>
            </a:lvl2pPr>
            <a:lvl3pPr>
              <a:defRPr sz="1125" b="0">
                <a:solidFill>
                  <a:srgbClr val="526977"/>
                </a:solidFill>
                <a:latin typeface="Arial"/>
                <a:ea typeface="Arial"/>
                <a:cs typeface="Arial"/>
              </a:defRPr>
            </a:lvl3pPr>
            <a:lvl4pPr>
              <a:defRPr sz="1125" b="0">
                <a:solidFill>
                  <a:srgbClr val="526977"/>
                </a:solidFill>
                <a:latin typeface="Arial"/>
                <a:ea typeface="Arial"/>
                <a:cs typeface="Arial"/>
              </a:defRPr>
            </a:lvl4pPr>
            <a:lvl5pPr>
              <a:defRPr sz="1125" b="0">
                <a:solidFill>
                  <a:srgbClr val="526977"/>
                </a:solidFill>
                <a:latin typeface="Arial"/>
                <a:ea typeface="Arial"/>
                <a:cs typeface="Arial"/>
              </a:defRPr>
            </a:lvl5pPr>
            <a:lvl6pPr>
              <a:defRPr sz="1125" b="0">
                <a:solidFill>
                  <a:srgbClr val="526977"/>
                </a:solidFill>
                <a:latin typeface="Arial"/>
                <a:ea typeface="Arial"/>
                <a:cs typeface="Arial"/>
              </a:defRPr>
            </a:lvl6pPr>
            <a:lvl7pPr>
              <a:defRPr sz="1125" b="0">
                <a:solidFill>
                  <a:srgbClr val="526977"/>
                </a:solidFill>
                <a:latin typeface="Arial"/>
                <a:ea typeface="Arial"/>
                <a:cs typeface="Arial"/>
              </a:defRPr>
            </a:lvl7pPr>
            <a:lvl8pPr>
              <a:defRPr sz="1125" b="0">
                <a:solidFill>
                  <a:srgbClr val="526977"/>
                </a:solidFill>
                <a:latin typeface="Arial"/>
                <a:ea typeface="Arial"/>
                <a:cs typeface="Arial"/>
              </a:defRPr>
            </a:lvl8pPr>
            <a:lvl9pPr>
              <a:defRPr sz="1125" b="0">
                <a:solidFill>
                  <a:srgbClr val="526977"/>
                </a:solidFill>
                <a:latin typeface="Arial"/>
                <a:ea typeface="Arial"/>
                <a:cs typeface="Arial"/>
              </a:defRPr>
            </a:lvl9pPr>
          </a:lstStyle>
          <a:p xmlns:a="http://schemas.openxmlformats.org/drawingml/2006/main">
            <a:pPr>
              <a:defRPr sz="1125" b="0">
                <a:solidFill>
                  <a:srgbClr val="526977"/>
                </a:solidFill>
                <a:latin typeface="Arial"/>
                <a:ea typeface="Arial"/>
                <a:cs typeface="Arial"/>
              </a:defRPr>
            </a:pPr>
            <a:r>
              <a:rPr sz="1125" b="0">
                <a:solidFill>
                  <a:srgbClr val="526977"/>
                </a:solidFill>
                <a:latin typeface="Arial"/>
                <a:ea typeface="Arial"/>
                <a:cs typeface="Arial"/>
              </a:rPr>
              <a:t>4</a:t>
            </a:r>
          </a:p>
        </p:txBody>
      </p:sp>
      <p:graphicFrame>
        <p:nvGraphicFramePr>
          <p:cNvPr id="4" name="Chart">
            <a:extLst xmlns:a="http://schemas.openxmlformats.org/drawingml/2006/main">
              <a:ext uri="{FF2B5EF4-FFF2-40B4-BE49-F238E27FC236}">
                <a16:creationId xmlns:a16="http://schemas.microsoft.com/office/drawing/2014/main" id="{89AACF07-E2B6-4E5C-BC54-465FE1FA5D62}"/>
              </a:ext>
            </a:extLst>
          </p:cNvPr>
          <p:cNvGraphicFramePr/>
          <p:nvPr/>
        </p:nvGraphicFramePr>
        <p:xfrm>
          <a:off xmlns:a="http://schemas.openxmlformats.org/drawingml/2006/main" x="609600" y="1952625"/>
          <a:ext xmlns:a="http://schemas.openxmlformats.org/drawingml/2006/main" cx="10972800" cy="3476625"/>
        </p:xfrm>
        <a:graphic xmlns:a="http://schemas.openxmlformats.org/drawingml/2006/main">
          <a:graphicData uri="http://schemas.openxmlformats.org/drawingml/2006/chart">
            <c:chart xmlns:r="http://schemas.openxmlformats.org/officeDocument/2006/relationships" xmlns:c="http://schemas.openxmlformats.org/drawingml/2006/chart" r:id="R6a99b9f1fc3d4bd0"/>
          </a:graphicData>
        </a:graphic>
      </p:graphicFrame>
      <p:sp>
        <p:nvSpPr>
          <p:cNvPr id="5" name="">
            <a:extLst xmlns:a="http://schemas.openxmlformats.org/drawingml/2006/main">
              <a:ext uri="{FF2B5EF4-FFF2-40B4-BE49-F238E27FC236}">
                <a16:creationId xmlns:a16="http://schemas.microsoft.com/office/drawing/2014/main" id="{57D7290E-546C-4AA5-B56A-E6099CF4E632}"/>
              </a:ext>
            </a:extLst>
          </p:cNvPr>
          <p:cNvSpPr>
            <a:spLocks xmlns:a="http://schemas.openxmlformats.org/drawingml/2006/main" noGrp="1"/>
          </p:cNvSpPr>
          <p:nvPr/>
        </p:nvSpPr>
        <p:spPr>
          <a:xfrm xmlns:a="http://schemas.openxmlformats.org/drawingml/2006/main">
            <a:off x="609600" y="568642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977"/>
                </a:solidFill>
                <a:latin typeface="Arial"/>
                <a:ea typeface="Arial"/>
                <a:cs typeface="Arial"/>
              </a:defRPr>
            </a:defPPr>
            <a:lvl1pPr>
              <a:defRPr sz="1725" b="0">
                <a:solidFill>
                  <a:srgbClr val="526977"/>
                </a:solidFill>
                <a:latin typeface="Arial"/>
                <a:ea typeface="Arial"/>
                <a:cs typeface="Arial"/>
              </a:defRPr>
            </a:lvl1pPr>
            <a:lvl2pPr>
              <a:defRPr sz="1725" b="0">
                <a:solidFill>
                  <a:srgbClr val="526977"/>
                </a:solidFill>
                <a:latin typeface="Arial"/>
                <a:ea typeface="Arial"/>
                <a:cs typeface="Arial"/>
              </a:defRPr>
            </a:lvl2pPr>
            <a:lvl3pPr>
              <a:defRPr sz="1725" b="0">
                <a:solidFill>
                  <a:srgbClr val="526977"/>
                </a:solidFill>
                <a:latin typeface="Arial"/>
                <a:ea typeface="Arial"/>
                <a:cs typeface="Arial"/>
              </a:defRPr>
            </a:lvl3pPr>
            <a:lvl4pPr>
              <a:defRPr sz="1725" b="0">
                <a:solidFill>
                  <a:srgbClr val="526977"/>
                </a:solidFill>
                <a:latin typeface="Arial"/>
                <a:ea typeface="Arial"/>
                <a:cs typeface="Arial"/>
              </a:defRPr>
            </a:lvl4pPr>
            <a:lvl5pPr>
              <a:defRPr sz="1725" b="0">
                <a:solidFill>
                  <a:srgbClr val="526977"/>
                </a:solidFill>
                <a:latin typeface="Arial"/>
                <a:ea typeface="Arial"/>
                <a:cs typeface="Arial"/>
              </a:defRPr>
            </a:lvl5pPr>
            <a:lvl6pPr>
              <a:defRPr sz="1725" b="0">
                <a:solidFill>
                  <a:srgbClr val="526977"/>
                </a:solidFill>
                <a:latin typeface="Arial"/>
                <a:ea typeface="Arial"/>
                <a:cs typeface="Arial"/>
              </a:defRPr>
            </a:lvl6pPr>
            <a:lvl7pPr>
              <a:defRPr sz="1725" b="0">
                <a:solidFill>
                  <a:srgbClr val="526977"/>
                </a:solidFill>
                <a:latin typeface="Arial"/>
                <a:ea typeface="Arial"/>
                <a:cs typeface="Arial"/>
              </a:defRPr>
            </a:lvl7pPr>
            <a:lvl8pPr>
              <a:defRPr sz="1725" b="0">
                <a:solidFill>
                  <a:srgbClr val="526977"/>
                </a:solidFill>
                <a:latin typeface="Arial"/>
                <a:ea typeface="Arial"/>
                <a:cs typeface="Arial"/>
              </a:defRPr>
            </a:lvl8pPr>
            <a:lvl9pPr>
              <a:defRPr sz="1725" b="0">
                <a:solidFill>
                  <a:srgbClr val="526977"/>
                </a:solidFill>
                <a:latin typeface="Arial"/>
                <a:ea typeface="Arial"/>
                <a:cs typeface="Arial"/>
              </a:defRPr>
            </a:lvl9pPr>
          </a:lstStyle>
          <a:p xmlns:a="http://schemas.openxmlformats.org/drawingml/2006/main">
            <a:pPr>
              <a:defRPr sz="1725" b="0">
                <a:solidFill>
                  <a:srgbClr val="526977"/>
                </a:solidFill>
                <a:latin typeface="Arial"/>
                <a:ea typeface="Arial"/>
                <a:cs typeface="Arial"/>
              </a:defRPr>
            </a:pPr>
            <a:r>
              <a:rPr sz="1725" b="0">
                <a:solidFill>
                  <a:srgbClr val="526977"/>
                </a:solidFill>
                <a:latin typeface="Arial"/>
                <a:ea typeface="Arial"/>
                <a:cs typeface="Arial"/>
              </a:rPr>
              <a:t>Reported annual figures. The selected current TTM basis is separate from the annual history.</a:t>
            </a:r>
          </a:p>
        </p:txBody>
      </p:sp>
    </p:spTree>
    <p:extLst>
      <p:ext uri="{BB962C8B-B14F-4D97-AF65-F5344CB8AC3E}">
        <p14:creationId xmlns:p14="http://schemas.microsoft.com/office/powerpoint/2010/main" val="1771080129"/>
      </p:ext>
    </p:extLst>
  </p:cSld>
</p:sld>
</file>

<file path=ppt/slides/slide5.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0216A09-22AF-4258-B3A1-FFED4C56285B}"/>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C303B"/>
                </a:solidFill>
                <a:latin typeface="Arial"/>
                <a:ea typeface="Arial"/>
                <a:cs typeface="Arial"/>
              </a:defRPr>
            </a:defPPr>
            <a:lvl1pPr>
              <a:defRPr sz="3225" b="1">
                <a:solidFill>
                  <a:srgbClr val="1C303B"/>
                </a:solidFill>
                <a:latin typeface="Arial"/>
                <a:ea typeface="Arial"/>
                <a:cs typeface="Arial"/>
              </a:defRPr>
            </a:lvl1pPr>
            <a:lvl2pPr>
              <a:defRPr sz="3225" b="1">
                <a:solidFill>
                  <a:srgbClr val="1C303B"/>
                </a:solidFill>
                <a:latin typeface="Arial"/>
                <a:ea typeface="Arial"/>
                <a:cs typeface="Arial"/>
              </a:defRPr>
            </a:lvl2pPr>
            <a:lvl3pPr>
              <a:defRPr sz="3225" b="1">
                <a:solidFill>
                  <a:srgbClr val="1C303B"/>
                </a:solidFill>
                <a:latin typeface="Arial"/>
                <a:ea typeface="Arial"/>
                <a:cs typeface="Arial"/>
              </a:defRPr>
            </a:lvl3pPr>
            <a:lvl4pPr>
              <a:defRPr sz="3225" b="1">
                <a:solidFill>
                  <a:srgbClr val="1C303B"/>
                </a:solidFill>
                <a:latin typeface="Arial"/>
                <a:ea typeface="Arial"/>
                <a:cs typeface="Arial"/>
              </a:defRPr>
            </a:lvl4pPr>
            <a:lvl5pPr>
              <a:defRPr sz="3225" b="1">
                <a:solidFill>
                  <a:srgbClr val="1C303B"/>
                </a:solidFill>
                <a:latin typeface="Arial"/>
                <a:ea typeface="Arial"/>
                <a:cs typeface="Arial"/>
              </a:defRPr>
            </a:lvl5pPr>
            <a:lvl6pPr>
              <a:defRPr sz="3225" b="1">
                <a:solidFill>
                  <a:srgbClr val="1C303B"/>
                </a:solidFill>
                <a:latin typeface="Arial"/>
                <a:ea typeface="Arial"/>
                <a:cs typeface="Arial"/>
              </a:defRPr>
            </a:lvl6pPr>
            <a:lvl7pPr>
              <a:defRPr sz="3225" b="1">
                <a:solidFill>
                  <a:srgbClr val="1C303B"/>
                </a:solidFill>
                <a:latin typeface="Arial"/>
                <a:ea typeface="Arial"/>
                <a:cs typeface="Arial"/>
              </a:defRPr>
            </a:lvl7pPr>
            <a:lvl8pPr>
              <a:defRPr sz="3225" b="1">
                <a:solidFill>
                  <a:srgbClr val="1C303B"/>
                </a:solidFill>
                <a:latin typeface="Arial"/>
                <a:ea typeface="Arial"/>
                <a:cs typeface="Arial"/>
              </a:defRPr>
            </a:lvl8pPr>
            <a:lvl9pPr>
              <a:defRPr sz="3225" b="1">
                <a:solidFill>
                  <a:srgbClr val="1C303B"/>
                </a:solidFill>
                <a:latin typeface="Arial"/>
                <a:ea typeface="Arial"/>
                <a:cs typeface="Arial"/>
              </a:defRPr>
            </a:lvl9pPr>
          </a:lstStyle>
          <a:p xmlns:a="http://schemas.openxmlformats.org/drawingml/2006/main">
            <a:pPr>
              <a:defRPr sz="3225" b="1">
                <a:solidFill>
                  <a:srgbClr val="1C303B"/>
                </a:solidFill>
                <a:latin typeface="Arial"/>
                <a:ea typeface="Arial"/>
                <a:cs typeface="Arial"/>
              </a:defRPr>
            </a:pPr>
            <a:r>
              <a:rPr sz="3225" b="1">
                <a:solidFill>
                  <a:srgbClr val="1C303B"/>
                </a:solidFill>
                <a:latin typeface="Arial"/>
                <a:ea typeface="Arial"/>
                <a:cs typeface="Arial"/>
              </a:rPr>
              <a:t>Forecast drivers and provenance</a:t>
            </a:r>
          </a:p>
        </p:txBody>
      </p:sp>
      <p:sp>
        <p:nvSpPr>
          <p:cNvPr id="2" name="">
            <a:extLst xmlns:a="http://schemas.openxmlformats.org/drawingml/2006/main">
              <a:ext uri="{FF2B5EF4-FFF2-40B4-BE49-F238E27FC236}">
                <a16:creationId xmlns:a16="http://schemas.microsoft.com/office/drawing/2014/main" id="{D1729016-CA8A-4AFC-9167-F415B7EF55B2}"/>
              </a:ext>
            </a:extLst>
          </p:cNvPr>
          <p:cNvSpPr>
            <a:spLocks xmlns:a="http://schemas.openxmlformats.org/drawingml/2006/main" noGrp="1"/>
          </p:cNvSpPr>
          <p:nvPr/>
        </p:nvSpPr>
        <p:spPr>
          <a:xfrm xmlns:a="http://schemas.openxmlformats.org/drawingml/2006/main">
            <a:off x="609600" y="6324600"/>
            <a:ext cx="933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977"/>
                </a:solidFill>
                <a:latin typeface="Arial"/>
                <a:ea typeface="Arial"/>
                <a:cs typeface="Arial"/>
              </a:defRPr>
            </a:defPPr>
            <a:lvl1pPr>
              <a:defRPr sz="1125" b="0">
                <a:solidFill>
                  <a:srgbClr val="526977"/>
                </a:solidFill>
                <a:latin typeface="Arial"/>
                <a:ea typeface="Arial"/>
                <a:cs typeface="Arial"/>
              </a:defRPr>
            </a:lvl1pPr>
            <a:lvl2pPr>
              <a:defRPr sz="1125" b="0">
                <a:solidFill>
                  <a:srgbClr val="526977"/>
                </a:solidFill>
                <a:latin typeface="Arial"/>
                <a:ea typeface="Arial"/>
                <a:cs typeface="Arial"/>
              </a:defRPr>
            </a:lvl2pPr>
            <a:lvl3pPr>
              <a:defRPr sz="1125" b="0">
                <a:solidFill>
                  <a:srgbClr val="526977"/>
                </a:solidFill>
                <a:latin typeface="Arial"/>
                <a:ea typeface="Arial"/>
                <a:cs typeface="Arial"/>
              </a:defRPr>
            </a:lvl3pPr>
            <a:lvl4pPr>
              <a:defRPr sz="1125" b="0">
                <a:solidFill>
                  <a:srgbClr val="526977"/>
                </a:solidFill>
                <a:latin typeface="Arial"/>
                <a:ea typeface="Arial"/>
                <a:cs typeface="Arial"/>
              </a:defRPr>
            </a:lvl4pPr>
            <a:lvl5pPr>
              <a:defRPr sz="1125" b="0">
                <a:solidFill>
                  <a:srgbClr val="526977"/>
                </a:solidFill>
                <a:latin typeface="Arial"/>
                <a:ea typeface="Arial"/>
                <a:cs typeface="Arial"/>
              </a:defRPr>
            </a:lvl5pPr>
            <a:lvl6pPr>
              <a:defRPr sz="1125" b="0">
                <a:solidFill>
                  <a:srgbClr val="526977"/>
                </a:solidFill>
                <a:latin typeface="Arial"/>
                <a:ea typeface="Arial"/>
                <a:cs typeface="Arial"/>
              </a:defRPr>
            </a:lvl6pPr>
            <a:lvl7pPr>
              <a:defRPr sz="1125" b="0">
                <a:solidFill>
                  <a:srgbClr val="526977"/>
                </a:solidFill>
                <a:latin typeface="Arial"/>
                <a:ea typeface="Arial"/>
                <a:cs typeface="Arial"/>
              </a:defRPr>
            </a:lvl7pPr>
            <a:lvl8pPr>
              <a:defRPr sz="1125" b="0">
                <a:solidFill>
                  <a:srgbClr val="526977"/>
                </a:solidFill>
                <a:latin typeface="Arial"/>
                <a:ea typeface="Arial"/>
                <a:cs typeface="Arial"/>
              </a:defRPr>
            </a:lvl8pPr>
            <a:lvl9pPr>
              <a:defRPr sz="1125" b="0">
                <a:solidFill>
                  <a:srgbClr val="526977"/>
                </a:solidFill>
                <a:latin typeface="Arial"/>
                <a:ea typeface="Arial"/>
                <a:cs typeface="Arial"/>
              </a:defRPr>
            </a:lvl9pPr>
          </a:lstStyle>
          <a:p xmlns:a="http://schemas.openxmlformats.org/drawingml/2006/main">
            <a:pPr>
              <a:defRPr sz="1125" b="0">
                <a:solidFill>
                  <a:srgbClr val="526977"/>
                </a:solidFill>
                <a:latin typeface="Arial"/>
                <a:ea typeface="Arial"/>
                <a:cs typeface="Arial"/>
              </a:defRPr>
            </a:pPr>
            <a:r>
              <a:rPr sz="1125" b="0">
                <a:solidFill>
                  <a:srgbClr val="526977"/>
                </a:solidFill>
                <a:latin typeface="Arial"/>
                <a:ea typeface="Arial"/>
                <a:cs typeface="Arial"/>
              </a:rPr>
              <a:t>RALVEN 5.0 / BMRI / 25 Oct 2026</a:t>
            </a:r>
          </a:p>
        </p:txBody>
      </p:sp>
      <p:sp>
        <p:nvSpPr>
          <p:cNvPr id="3" name="">
            <a:extLst xmlns:a="http://schemas.openxmlformats.org/drawingml/2006/main">
              <a:ext uri="{FF2B5EF4-FFF2-40B4-BE49-F238E27FC236}">
                <a16:creationId xmlns:a16="http://schemas.microsoft.com/office/drawing/2014/main" id="{B2ED76BF-EC0C-482F-A585-CCDA06B49566}"/>
              </a:ext>
            </a:extLst>
          </p:cNvPr>
          <p:cNvSpPr>
            <a:spLocks xmlns:a="http://schemas.openxmlformats.org/drawingml/2006/main" noGrp="1"/>
          </p:cNvSpPr>
          <p:nvPr/>
        </p:nvSpPr>
        <p:spPr>
          <a:xfrm xmlns:a="http://schemas.openxmlformats.org/drawingml/2006/main">
            <a:off x="11001375" y="63246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977"/>
                </a:solidFill>
                <a:latin typeface="Arial"/>
                <a:ea typeface="Arial"/>
                <a:cs typeface="Arial"/>
              </a:defRPr>
            </a:defPPr>
            <a:lvl1pPr>
              <a:defRPr sz="1125" b="0">
                <a:solidFill>
                  <a:srgbClr val="526977"/>
                </a:solidFill>
                <a:latin typeface="Arial"/>
                <a:ea typeface="Arial"/>
                <a:cs typeface="Arial"/>
              </a:defRPr>
            </a:lvl1pPr>
            <a:lvl2pPr>
              <a:defRPr sz="1125" b="0">
                <a:solidFill>
                  <a:srgbClr val="526977"/>
                </a:solidFill>
                <a:latin typeface="Arial"/>
                <a:ea typeface="Arial"/>
                <a:cs typeface="Arial"/>
              </a:defRPr>
            </a:lvl2pPr>
            <a:lvl3pPr>
              <a:defRPr sz="1125" b="0">
                <a:solidFill>
                  <a:srgbClr val="526977"/>
                </a:solidFill>
                <a:latin typeface="Arial"/>
                <a:ea typeface="Arial"/>
                <a:cs typeface="Arial"/>
              </a:defRPr>
            </a:lvl3pPr>
            <a:lvl4pPr>
              <a:defRPr sz="1125" b="0">
                <a:solidFill>
                  <a:srgbClr val="526977"/>
                </a:solidFill>
                <a:latin typeface="Arial"/>
                <a:ea typeface="Arial"/>
                <a:cs typeface="Arial"/>
              </a:defRPr>
            </a:lvl4pPr>
            <a:lvl5pPr>
              <a:defRPr sz="1125" b="0">
                <a:solidFill>
                  <a:srgbClr val="526977"/>
                </a:solidFill>
                <a:latin typeface="Arial"/>
                <a:ea typeface="Arial"/>
                <a:cs typeface="Arial"/>
              </a:defRPr>
            </a:lvl5pPr>
            <a:lvl6pPr>
              <a:defRPr sz="1125" b="0">
                <a:solidFill>
                  <a:srgbClr val="526977"/>
                </a:solidFill>
                <a:latin typeface="Arial"/>
                <a:ea typeface="Arial"/>
                <a:cs typeface="Arial"/>
              </a:defRPr>
            </a:lvl6pPr>
            <a:lvl7pPr>
              <a:defRPr sz="1125" b="0">
                <a:solidFill>
                  <a:srgbClr val="526977"/>
                </a:solidFill>
                <a:latin typeface="Arial"/>
                <a:ea typeface="Arial"/>
                <a:cs typeface="Arial"/>
              </a:defRPr>
            </a:lvl7pPr>
            <a:lvl8pPr>
              <a:defRPr sz="1125" b="0">
                <a:solidFill>
                  <a:srgbClr val="526977"/>
                </a:solidFill>
                <a:latin typeface="Arial"/>
                <a:ea typeface="Arial"/>
                <a:cs typeface="Arial"/>
              </a:defRPr>
            </a:lvl8pPr>
            <a:lvl9pPr>
              <a:defRPr sz="1125" b="0">
                <a:solidFill>
                  <a:srgbClr val="526977"/>
                </a:solidFill>
                <a:latin typeface="Arial"/>
                <a:ea typeface="Arial"/>
                <a:cs typeface="Arial"/>
              </a:defRPr>
            </a:lvl9pPr>
          </a:lstStyle>
          <a:p xmlns:a="http://schemas.openxmlformats.org/drawingml/2006/main">
            <a:pPr>
              <a:defRPr sz="1125" b="0">
                <a:solidFill>
                  <a:srgbClr val="526977"/>
                </a:solidFill>
                <a:latin typeface="Arial"/>
                <a:ea typeface="Arial"/>
                <a:cs typeface="Arial"/>
              </a:defRPr>
            </a:pPr>
            <a:r>
              <a:rPr sz="1125" b="0">
                <a:solidFill>
                  <a:srgbClr val="526977"/>
                </a:solidFill>
                <a:latin typeface="Arial"/>
                <a:ea typeface="Arial"/>
                <a:cs typeface="Arial"/>
              </a:rPr>
              <a:t>5</a:t>
            </a:r>
          </a:p>
        </p:txBody>
      </p:sp>
      <p:graphicFrame>
        <p:nvGraphicFramePr>
          <p:cNvPr id="4" name="">
            <a:extLst xmlns:a="http://schemas.openxmlformats.org/drawingml/2006/main">
              <a:ext uri="{FF2B5EF4-FFF2-40B4-BE49-F238E27FC236}">
                <a16:creationId xmlns:a16="http://schemas.microsoft.com/office/drawing/2014/main" id="{0C0E71AB-75DB-4EF4-97DA-52DFDB94B4F3}"/>
              </a:ext>
            </a:extLst>
          </p:cNvPr>
          <p:cNvGraphicFramePr/>
          <p:nvPr/>
        </p:nvGraphicFramePr>
        <p:xfrm>
          <a:off xmlns:a="http://schemas.openxmlformats.org/drawingml/2006/main" x="609600" y="1952625"/>
          <a:ext xmlns:a="http://schemas.openxmlformats.org/drawingml/2006/main" cx="10972800" cy="3714750"/>
        </p:xfrm>
        <a:graphic xmlns:a="http://schemas.openxmlformats.org/drawingml/2006/main">
          <a:graphicData uri="http://schemas.openxmlformats.org/drawingml/2006/table">
            <a:tbl>
              <a:tblPr/>
              <a:tblGrid>
                <a:gridCol w="3657600"/>
                <a:gridCol w="3657600"/>
                <a:gridCol w="3657600"/>
              </a:tblGrid>
              <a:tr h="530679">
                <a:tc>
                  <a:txBody>
                    <a:bodyPr/>
                    <a:lstStyle/>
                    <a:p>
                      <a:r>
                        <a:rPr sz="1650" b="1">
                          <a:solidFill>
                            <a:srgbClr val="FFFFFF"/>
                          </a:solidFill>
                          <a:latin typeface="Arial"/>
                          <a:ea typeface="Arial"/>
                          <a:cs typeface="Arial"/>
                        </a:rPr>
                        <a:t>Assumption</a:t>
                      </a:r>
                    </a:p>
                  </a:txBody>
                  <a:tcPr marL="91440" marR="91440" marT="45720" marB="45720">
                    <a:lnL w="9525">
                      <a:solidFill>
                        <a:srgbClr val="DEE7E9"/>
                      </a:solidFill>
                      <a:prstDash val="solid"/>
                    </a:lnL>
                    <a:lnR w="9525">
                      <a:solidFill>
                        <a:srgbClr val="DEE7E9"/>
                      </a:solidFill>
                      <a:prstDash val="solid"/>
                    </a:lnR>
                    <a:lnT w="9525">
                      <a:solidFill>
                        <a:srgbClr val="DEE7E9"/>
                      </a:solidFill>
                      <a:prstDash val="solid"/>
                    </a:lnT>
                    <a:lnB w="9525">
                      <a:solidFill>
                        <a:srgbClr val="DEE7E9"/>
                      </a:solidFill>
                      <a:prstDash val="solid"/>
                    </a:lnB>
                    <a:solidFill>
                      <a:srgbClr val="1C303B"/>
                    </a:solidFill>
                  </a:tcPr>
                </a:tc>
                <a:tc>
                  <a:txBody>
                    <a:bodyPr/>
                    <a:lstStyle/>
                    <a:p>
                      <a:r>
                        <a:rPr sz="1650" b="1">
                          <a:solidFill>
                            <a:srgbClr val="FFFFFF"/>
                          </a:solidFill>
                          <a:latin typeface="Arial"/>
                          <a:ea typeface="Arial"/>
                          <a:cs typeface="Arial"/>
                        </a:rPr>
                        <a:t>Base</a:t>
                      </a:r>
                    </a:p>
                  </a:txBody>
                  <a:tcPr marL="91440" marR="91440" marT="45720" marB="45720">
                    <a:lnR w="9525">
                      <a:solidFill>
                        <a:srgbClr val="DEE7E9"/>
                      </a:solidFill>
                      <a:prstDash val="solid"/>
                    </a:lnR>
                    <a:lnT w="9525">
                      <a:solidFill>
                        <a:srgbClr val="DEE7E9"/>
                      </a:solidFill>
                      <a:prstDash val="solid"/>
                    </a:lnT>
                    <a:lnB w="9525">
                      <a:solidFill>
                        <a:srgbClr val="DEE7E9"/>
                      </a:solidFill>
                      <a:prstDash val="solid"/>
                    </a:lnB>
                    <a:solidFill>
                      <a:srgbClr val="1C303B"/>
                    </a:solidFill>
                  </a:tcPr>
                </a:tc>
                <a:tc>
                  <a:txBody>
                    <a:bodyPr/>
                    <a:lstStyle/>
                    <a:p>
                      <a:r>
                        <a:rPr sz="1650" b="1">
                          <a:solidFill>
                            <a:srgbClr val="FFFFFF"/>
                          </a:solidFill>
                          <a:latin typeface="Arial"/>
                          <a:ea typeface="Arial"/>
                          <a:cs typeface="Arial"/>
                        </a:rPr>
                        <a:t>Interpretation</a:t>
                      </a:r>
                    </a:p>
                  </a:txBody>
                  <a:tcPr marL="91440" marR="91440" marT="45720" marB="45720">
                    <a:lnR w="9525">
                      <a:solidFill>
                        <a:srgbClr val="DEE7E9"/>
                      </a:solidFill>
                      <a:prstDash val="solid"/>
                    </a:lnR>
                    <a:lnT w="9525">
                      <a:solidFill>
                        <a:srgbClr val="DEE7E9"/>
                      </a:solidFill>
                      <a:prstDash val="solid"/>
                    </a:lnT>
                    <a:lnB w="9525">
                      <a:solidFill>
                        <a:srgbClr val="DEE7E9"/>
                      </a:solidFill>
                      <a:prstDash val="solid"/>
                    </a:lnB>
                    <a:solidFill>
                      <a:srgbClr val="1C303B"/>
                    </a:solidFill>
                  </a:tcPr>
                </a:tc>
              </a:tr>
              <a:tr h="530679">
                <a:tc>
                  <a:txBody>
                    <a:bodyPr/>
                    <a:lstStyle/>
                    <a:p>
                      <a:r>
                        <a:rPr sz="1650" b="0">
                          <a:solidFill>
                            <a:srgbClr val="1C303B"/>
                          </a:solidFill>
                          <a:latin typeface="Arial"/>
                          <a:ea typeface="Arial"/>
                          <a:cs typeface="Arial"/>
                        </a:rPr>
                        <a:t>Earnings growth</a:t>
                      </a:r>
                    </a:p>
                  </a:txBody>
                  <a:tcPr marL="91440" marR="91440" marT="45720" marB="45720">
                    <a:lnL w="9525">
                      <a:solidFill>
                        <a:srgbClr val="DEE7E9"/>
                      </a:solidFill>
                      <a:prstDash val="solid"/>
                    </a:lnL>
                    <a:lnR w="9525">
                      <a:solidFill>
                        <a:srgbClr val="DEE7E9"/>
                      </a:solidFill>
                      <a:prstDash val="solid"/>
                    </a:lnR>
                    <a:lnB w="9525">
                      <a:solidFill>
                        <a:srgbClr val="DEE7E9"/>
                      </a:solidFill>
                      <a:prstDash val="solid"/>
                    </a:lnB>
                    <a:solidFill>
                      <a:srgbClr val="EFF5F4"/>
                    </a:solidFill>
                  </a:tcPr>
                </a:tc>
                <a:tc>
                  <a:txBody>
                    <a:bodyPr/>
                    <a:lstStyle/>
                    <a:p>
                      <a:r>
                        <a:rPr sz="1650" b="0">
                          <a:solidFill>
                            <a:srgbClr val="1C303B"/>
                          </a:solidFill>
                          <a:latin typeface="Arial"/>
                          <a:ea typeface="Arial"/>
                          <a:cs typeface="Arial"/>
                        </a:rPr>
                        <a:t>6%</a:t>
                      </a:r>
                    </a:p>
                  </a:txBody>
                  <a:tcPr marL="91440" marR="91440" marT="45720" marB="45720">
                    <a:lnR w="9525">
                      <a:solidFill>
                        <a:srgbClr val="DEE7E9"/>
                      </a:solidFill>
                      <a:prstDash val="solid"/>
                    </a:lnR>
                    <a:lnB w="9525">
                      <a:solidFill>
                        <a:srgbClr val="DEE7E9"/>
                      </a:solidFill>
                      <a:prstDash val="solid"/>
                    </a:lnB>
                    <a:solidFill>
                      <a:srgbClr val="EFF5F4"/>
                    </a:solidFill>
                  </a:tcPr>
                </a:tc>
                <a:tc>
                  <a:txBody>
                    <a:bodyPr/>
                    <a:lstStyle/>
                    <a:p>
                      <a:r>
                        <a:rPr sz="1650" b="0">
                          <a:solidFill>
                            <a:srgbClr val="1C303B"/>
                          </a:solidFill>
                          <a:latin typeface="Arial"/>
                          <a:ea typeface="Arial"/>
                          <a:cs typeface="Arial"/>
                        </a:rPr>
                        <a:t>Analyst estimate; not issuer guidance</a:t>
                      </a:r>
                    </a:p>
                  </a:txBody>
                  <a:tcPr marL="91440" marR="91440" marT="45720" marB="45720">
                    <a:lnR w="9525">
                      <a:solidFill>
                        <a:srgbClr val="DEE7E9"/>
                      </a:solidFill>
                      <a:prstDash val="solid"/>
                    </a:lnR>
                    <a:lnB w="9525">
                      <a:solidFill>
                        <a:srgbClr val="DEE7E9"/>
                      </a:solidFill>
                      <a:prstDash val="solid"/>
                    </a:lnB>
                    <a:solidFill>
                      <a:srgbClr val="EFF5F4"/>
                    </a:solidFill>
                  </a:tcPr>
                </a:tc>
              </a:tr>
              <a:tr h="530679">
                <a:tc>
                  <a:txBody>
                    <a:bodyPr/>
                    <a:lstStyle/>
                    <a:p>
                      <a:r>
                        <a:rPr sz="1650" b="0">
                          <a:solidFill>
                            <a:srgbClr val="1C303B"/>
                          </a:solidFill>
                          <a:latin typeface="Arial"/>
                          <a:ea typeface="Arial"/>
                          <a:cs typeface="Arial"/>
                        </a:rPr>
                        <a:t>Payout ratio</a:t>
                      </a:r>
                    </a:p>
                  </a:txBody>
                  <a:tcPr marL="91440" marR="91440" marT="45720" marB="45720">
                    <a:lnL w="9525">
                      <a:solidFill>
                        <a:srgbClr val="DEE7E9"/>
                      </a:solidFill>
                      <a:prstDash val="solid"/>
                    </a:lnL>
                    <a:lnR w="9525">
                      <a:solidFill>
                        <a:srgbClr val="DEE7E9"/>
                      </a:solidFill>
                      <a:prstDash val="solid"/>
                    </a:lnR>
                    <a:lnB w="9525">
                      <a:solidFill>
                        <a:srgbClr val="DEE7E9"/>
                      </a:solidFill>
                      <a:prstDash val="solid"/>
                    </a:lnB>
                    <a:solidFill>
                      <a:srgbClr val="FCFDFC"/>
                    </a:solidFill>
                  </a:tcPr>
                </a:tc>
                <a:tc>
                  <a:txBody>
                    <a:bodyPr/>
                    <a:lstStyle/>
                    <a:p>
                      <a:r>
                        <a:rPr sz="1650" b="0">
                          <a:solidFill>
                            <a:srgbClr val="1C303B"/>
                          </a:solidFill>
                          <a:latin typeface="Arial"/>
                          <a:ea typeface="Arial"/>
                          <a:cs typeface="Arial"/>
                        </a:rPr>
                        <a:t>65%</a:t>
                      </a:r>
                    </a:p>
                  </a:txBody>
                  <a:tcPr marL="91440" marR="91440" marT="45720" marB="45720">
                    <a:lnR w="9525">
                      <a:solidFill>
                        <a:srgbClr val="DEE7E9"/>
                      </a:solidFill>
                      <a:prstDash val="solid"/>
                    </a:lnR>
                    <a:lnB w="9525">
                      <a:solidFill>
                        <a:srgbClr val="DEE7E9"/>
                      </a:solidFill>
                      <a:prstDash val="solid"/>
                    </a:lnB>
                    <a:solidFill>
                      <a:srgbClr val="FCFDFC"/>
                    </a:solidFill>
                  </a:tcPr>
                </a:tc>
                <a:tc>
                  <a:txBody>
                    <a:bodyPr/>
                    <a:lstStyle/>
                    <a:p>
                      <a:r>
                        <a:rPr sz="1650" b="0">
                          <a:solidFill>
                            <a:srgbClr val="1C303B"/>
                          </a:solidFill>
                          <a:latin typeface="Arial"/>
                          <a:ea typeface="Arial"/>
                          <a:cs typeface="Arial"/>
                        </a:rPr>
                        <a:t>Review regulatory distributable capacity</a:t>
                      </a:r>
                    </a:p>
                  </a:txBody>
                  <a:tcPr marL="91440" marR="91440" marT="45720" marB="45720">
                    <a:lnR w="9525">
                      <a:solidFill>
                        <a:srgbClr val="DEE7E9"/>
                      </a:solidFill>
                      <a:prstDash val="solid"/>
                    </a:lnR>
                    <a:lnB w="9525">
                      <a:solidFill>
                        <a:srgbClr val="DEE7E9"/>
                      </a:solidFill>
                      <a:prstDash val="solid"/>
                    </a:lnB>
                    <a:solidFill>
                      <a:srgbClr val="FCFDFC"/>
                    </a:solidFill>
                  </a:tcPr>
                </a:tc>
              </a:tr>
              <a:tr h="530679">
                <a:tc>
                  <a:txBody>
                    <a:bodyPr/>
                    <a:lstStyle/>
                    <a:p>
                      <a:r>
                        <a:rPr sz="1650" b="0">
                          <a:solidFill>
                            <a:srgbClr val="1C303B"/>
                          </a:solidFill>
                          <a:latin typeface="Arial"/>
                          <a:ea typeface="Arial"/>
                          <a:cs typeface="Arial"/>
                        </a:rPr>
                        <a:t>Risk-free rate</a:t>
                      </a:r>
                    </a:p>
                  </a:txBody>
                  <a:tcPr marL="91440" marR="91440" marT="45720" marB="45720">
                    <a:lnL w="9525">
                      <a:solidFill>
                        <a:srgbClr val="DEE7E9"/>
                      </a:solidFill>
                      <a:prstDash val="solid"/>
                    </a:lnL>
                    <a:lnR w="9525">
                      <a:solidFill>
                        <a:srgbClr val="DEE7E9"/>
                      </a:solidFill>
                      <a:prstDash val="solid"/>
                    </a:lnR>
                    <a:lnB w="9525">
                      <a:solidFill>
                        <a:srgbClr val="DEE7E9"/>
                      </a:solidFill>
                      <a:prstDash val="solid"/>
                    </a:lnB>
                    <a:solidFill>
                      <a:srgbClr val="EFF5F4"/>
                    </a:solidFill>
                  </a:tcPr>
                </a:tc>
                <a:tc>
                  <a:txBody>
                    <a:bodyPr/>
                    <a:lstStyle/>
                    <a:p>
                      <a:r>
                        <a:rPr sz="1650" b="0">
                          <a:solidFill>
                            <a:srgbClr val="1C303B"/>
                          </a:solidFill>
                          <a:latin typeface="Arial"/>
                          <a:ea typeface="Arial"/>
                          <a:cs typeface="Arial"/>
                        </a:rPr>
                        <a:t>6.5%</a:t>
                      </a:r>
                    </a:p>
                  </a:txBody>
                  <a:tcPr marL="91440" marR="91440" marT="45720" marB="45720">
                    <a:lnR w="9525">
                      <a:solidFill>
                        <a:srgbClr val="DEE7E9"/>
                      </a:solidFill>
                      <a:prstDash val="solid"/>
                    </a:lnR>
                    <a:lnB w="9525">
                      <a:solidFill>
                        <a:srgbClr val="DEE7E9"/>
                      </a:solidFill>
                      <a:prstDash val="solid"/>
                    </a:lnB>
                    <a:solidFill>
                      <a:srgbClr val="EFF5F4"/>
                    </a:solidFill>
                  </a:tcPr>
                </a:tc>
                <a:tc>
                  <a:txBody>
                    <a:bodyPr/>
                    <a:lstStyle/>
                    <a:p>
                      <a:r>
                        <a:rPr sz="1650" b="0">
                          <a:solidFill>
                            <a:srgbClr val="1C303B"/>
                          </a:solidFill>
                          <a:latin typeface="Arial"/>
                          <a:ea typeface="Arial"/>
                          <a:cs typeface="Arial"/>
                        </a:rPr>
                        <a:t>IDR classroom market assumption</a:t>
                      </a:r>
                    </a:p>
                  </a:txBody>
                  <a:tcPr marL="91440" marR="91440" marT="45720" marB="45720">
                    <a:lnR w="9525">
                      <a:solidFill>
                        <a:srgbClr val="DEE7E9"/>
                      </a:solidFill>
                      <a:prstDash val="solid"/>
                    </a:lnR>
                    <a:lnB w="9525">
                      <a:solidFill>
                        <a:srgbClr val="DEE7E9"/>
                      </a:solidFill>
                      <a:prstDash val="solid"/>
                    </a:lnB>
                    <a:solidFill>
                      <a:srgbClr val="EFF5F4"/>
                    </a:solidFill>
                  </a:tcPr>
                </a:tc>
              </a:tr>
              <a:tr h="530679">
                <a:tc>
                  <a:txBody>
                    <a:bodyPr/>
                    <a:lstStyle/>
                    <a:p>
                      <a:r>
                        <a:rPr sz="1650" b="0">
                          <a:solidFill>
                            <a:srgbClr val="1C303B"/>
                          </a:solidFill>
                          <a:latin typeface="Arial"/>
                          <a:ea typeface="Arial"/>
                          <a:cs typeface="Arial"/>
                        </a:rPr>
                        <a:t>Levered beta</a:t>
                      </a:r>
                    </a:p>
                  </a:txBody>
                  <a:tcPr marL="91440" marR="91440" marT="45720" marB="45720">
                    <a:lnL w="9525">
                      <a:solidFill>
                        <a:srgbClr val="DEE7E9"/>
                      </a:solidFill>
                      <a:prstDash val="solid"/>
                    </a:lnL>
                    <a:lnR w="9525">
                      <a:solidFill>
                        <a:srgbClr val="DEE7E9"/>
                      </a:solidFill>
                      <a:prstDash val="solid"/>
                    </a:lnR>
                    <a:lnB w="9525">
                      <a:solidFill>
                        <a:srgbClr val="DEE7E9"/>
                      </a:solidFill>
                      <a:prstDash val="solid"/>
                    </a:lnB>
                    <a:solidFill>
                      <a:srgbClr val="FCFDFC"/>
                    </a:solidFill>
                  </a:tcPr>
                </a:tc>
                <a:tc>
                  <a:txBody>
                    <a:bodyPr/>
                    <a:lstStyle/>
                    <a:p>
                      <a:r>
                        <a:rPr sz="1650" b="0">
                          <a:solidFill>
                            <a:srgbClr val="1C303B"/>
                          </a:solidFill>
                          <a:latin typeface="Arial"/>
                          <a:ea typeface="Arial"/>
                          <a:cs typeface="Arial"/>
                        </a:rPr>
                        <a:t>0.9x</a:t>
                      </a:r>
                    </a:p>
                  </a:txBody>
                  <a:tcPr marL="91440" marR="91440" marT="45720" marB="45720">
                    <a:lnR w="9525">
                      <a:solidFill>
                        <a:srgbClr val="DEE7E9"/>
                      </a:solidFill>
                      <a:prstDash val="solid"/>
                    </a:lnR>
                    <a:lnB w="9525">
                      <a:solidFill>
                        <a:srgbClr val="DEE7E9"/>
                      </a:solidFill>
                      <a:prstDash val="solid"/>
                    </a:lnB>
                    <a:solidFill>
                      <a:srgbClr val="FCFDFC"/>
                    </a:solidFill>
                  </a:tcPr>
                </a:tc>
                <a:tc>
                  <a:txBody>
                    <a:bodyPr/>
                    <a:lstStyle/>
                    <a:p>
                      <a:r>
                        <a:rPr sz="1650" b="0">
                          <a:solidFill>
                            <a:srgbClr val="1C303B"/>
                          </a:solidFill>
                          <a:latin typeface="Arial"/>
                          <a:ea typeface="Arial"/>
                          <a:cs typeface="Arial"/>
                        </a:rPr>
                        <a:t>Analyst input</a:t>
                      </a:r>
                    </a:p>
                  </a:txBody>
                  <a:tcPr marL="91440" marR="91440" marT="45720" marB="45720">
                    <a:lnR w="9525">
                      <a:solidFill>
                        <a:srgbClr val="DEE7E9"/>
                      </a:solidFill>
                      <a:prstDash val="solid"/>
                    </a:lnR>
                    <a:lnB w="9525">
                      <a:solidFill>
                        <a:srgbClr val="DEE7E9"/>
                      </a:solidFill>
                      <a:prstDash val="solid"/>
                    </a:lnB>
                    <a:solidFill>
                      <a:srgbClr val="FCFDFC"/>
                    </a:solidFill>
                  </a:tcPr>
                </a:tc>
              </a:tr>
              <a:tr h="530679">
                <a:tc>
                  <a:txBody>
                    <a:bodyPr/>
                    <a:lstStyle/>
                    <a:p>
                      <a:r>
                        <a:rPr sz="1650" b="0">
                          <a:solidFill>
                            <a:srgbClr val="1C303B"/>
                          </a:solidFill>
                          <a:latin typeface="Arial"/>
                          <a:ea typeface="Arial"/>
                          <a:cs typeface="Arial"/>
                        </a:rPr>
                        <a:t>Total equity risk premium</a:t>
                      </a:r>
                    </a:p>
                  </a:txBody>
                  <a:tcPr marL="91440" marR="91440" marT="45720" marB="45720">
                    <a:lnL w="9525">
                      <a:solidFill>
                        <a:srgbClr val="DEE7E9"/>
                      </a:solidFill>
                      <a:prstDash val="solid"/>
                    </a:lnL>
                    <a:lnR w="9525">
                      <a:solidFill>
                        <a:srgbClr val="DEE7E9"/>
                      </a:solidFill>
                      <a:prstDash val="solid"/>
                    </a:lnR>
                    <a:lnB w="9525">
                      <a:solidFill>
                        <a:srgbClr val="DEE7E9"/>
                      </a:solidFill>
                      <a:prstDash val="solid"/>
                    </a:lnB>
                    <a:solidFill>
                      <a:srgbClr val="EFF5F4"/>
                    </a:solidFill>
                  </a:tcPr>
                </a:tc>
                <a:tc>
                  <a:txBody>
                    <a:bodyPr/>
                    <a:lstStyle/>
                    <a:p>
                      <a:r>
                        <a:rPr sz="1650" b="0">
                          <a:solidFill>
                            <a:srgbClr val="1C303B"/>
                          </a:solidFill>
                          <a:latin typeface="Arial"/>
                          <a:ea typeface="Arial"/>
                          <a:cs typeface="Arial"/>
                        </a:rPr>
                        <a:t>6.5%</a:t>
                      </a:r>
                    </a:p>
                  </a:txBody>
                  <a:tcPr marL="91440" marR="91440" marT="45720" marB="45720">
                    <a:lnR w="9525">
                      <a:solidFill>
                        <a:srgbClr val="DEE7E9"/>
                      </a:solidFill>
                      <a:prstDash val="solid"/>
                    </a:lnR>
                    <a:lnB w="9525">
                      <a:solidFill>
                        <a:srgbClr val="DEE7E9"/>
                      </a:solidFill>
                      <a:prstDash val="solid"/>
                    </a:lnB>
                    <a:solidFill>
                      <a:srgbClr val="EFF5F4"/>
                    </a:solidFill>
                  </a:tcPr>
                </a:tc>
                <a:tc>
                  <a:txBody>
                    <a:bodyPr/>
                    <a:lstStyle/>
                    <a:p>
                      <a:r>
                        <a:rPr sz="1650" b="0">
                          <a:solidFill>
                            <a:srgbClr val="1C303B"/>
                          </a:solidFill>
                          <a:latin typeface="Arial"/>
                          <a:ea typeface="Arial"/>
                          <a:cs typeface="Arial"/>
                        </a:rPr>
                        <a:t>Avoid double-counting country risk</a:t>
                      </a:r>
                    </a:p>
                  </a:txBody>
                  <a:tcPr marL="91440" marR="91440" marT="45720" marB="45720">
                    <a:lnR w="9525">
                      <a:solidFill>
                        <a:srgbClr val="DEE7E9"/>
                      </a:solidFill>
                      <a:prstDash val="solid"/>
                    </a:lnR>
                    <a:lnB w="9525">
                      <a:solidFill>
                        <a:srgbClr val="DEE7E9"/>
                      </a:solidFill>
                      <a:prstDash val="solid"/>
                    </a:lnB>
                    <a:solidFill>
                      <a:srgbClr val="EFF5F4"/>
                    </a:solidFill>
                  </a:tcPr>
                </a:tc>
              </a:tr>
              <a:tr h="530679">
                <a:tc>
                  <a:txBody>
                    <a:bodyPr/>
                    <a:lstStyle/>
                    <a:p>
                      <a:r>
                        <a:rPr sz="1650" b="0">
                          <a:solidFill>
                            <a:srgbClr val="1C303B"/>
                          </a:solidFill>
                          <a:latin typeface="Arial"/>
                          <a:ea typeface="Arial"/>
                          <a:cs typeface="Arial"/>
                        </a:rPr>
                        <a:t>Terminal growth / ROE</a:t>
                      </a:r>
                    </a:p>
                  </a:txBody>
                  <a:tcPr marL="91440" marR="91440" marT="45720" marB="45720">
                    <a:lnL w="9525">
                      <a:solidFill>
                        <a:srgbClr val="DEE7E9"/>
                      </a:solidFill>
                      <a:prstDash val="solid"/>
                    </a:lnL>
                    <a:lnR w="9525">
                      <a:solidFill>
                        <a:srgbClr val="DEE7E9"/>
                      </a:solidFill>
                      <a:prstDash val="solid"/>
                    </a:lnR>
                    <a:lnB w="9525">
                      <a:solidFill>
                        <a:srgbClr val="DEE7E9"/>
                      </a:solidFill>
                      <a:prstDash val="solid"/>
                    </a:lnB>
                    <a:solidFill>
                      <a:srgbClr val="FCFDFC"/>
                    </a:solidFill>
                  </a:tcPr>
                </a:tc>
                <a:tc>
                  <a:txBody>
                    <a:bodyPr/>
                    <a:lstStyle/>
                    <a:p>
                      <a:r>
                        <a:rPr sz="1650" b="0">
                          <a:solidFill>
                            <a:srgbClr val="1C303B"/>
                          </a:solidFill>
                          <a:latin typeface="Arial"/>
                          <a:ea typeface="Arial"/>
                          <a:cs typeface="Arial"/>
                        </a:rPr>
                        <a:t>3.5% / 16%</a:t>
                      </a:r>
                    </a:p>
                  </a:txBody>
                  <a:tcPr marL="91440" marR="91440" marT="45720" marB="45720">
                    <a:lnR w="9525">
                      <a:solidFill>
                        <a:srgbClr val="DEE7E9"/>
                      </a:solidFill>
                      <a:prstDash val="solid"/>
                    </a:lnR>
                    <a:lnB w="9525">
                      <a:solidFill>
                        <a:srgbClr val="DEE7E9"/>
                      </a:solidFill>
                      <a:prstDash val="solid"/>
                    </a:lnB>
                    <a:solidFill>
                      <a:srgbClr val="FCFDFC"/>
                    </a:solidFill>
                  </a:tcPr>
                </a:tc>
                <a:tc>
                  <a:txBody>
                    <a:bodyPr/>
                    <a:lstStyle/>
                    <a:p>
                      <a:r>
                        <a:rPr sz="1650" b="0">
                          <a:solidFill>
                            <a:srgbClr val="1C303B"/>
                          </a:solidFill>
                          <a:latin typeface="Arial"/>
                          <a:ea typeface="Arial"/>
                          <a:cs typeface="Arial"/>
                        </a:rPr>
                        <a:t>Sustainable terminal retention</a:t>
                      </a:r>
                    </a:p>
                  </a:txBody>
                  <a:tcPr marL="91440" marR="91440" marT="45720" marB="45720">
                    <a:lnR w="9525">
                      <a:solidFill>
                        <a:srgbClr val="DEE7E9"/>
                      </a:solidFill>
                      <a:prstDash val="solid"/>
                    </a:lnR>
                    <a:lnB w="9525">
                      <a:solidFill>
                        <a:srgbClr val="DEE7E9"/>
                      </a:solidFill>
                      <a:prstDash val="solid"/>
                    </a:lnB>
                    <a:solidFill>
                      <a:srgbClr val="FCFDFC"/>
                    </a:solidFill>
                  </a:tcPr>
                </a:tc>
              </a:tr>
            </a:tbl>
          </a:graphicData>
        </a:graphic>
      </p:graphicFrame>
    </p:spTree>
    <p:extLst>
      <p:ext uri="{BB962C8B-B14F-4D97-AF65-F5344CB8AC3E}">
        <p14:creationId xmlns:p14="http://schemas.microsoft.com/office/powerpoint/2010/main" val="1252626266"/>
      </p:ext>
    </p:extLst>
  </p:cSld>
</p:sld>
</file>

<file path=ppt/slides/slide6.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5B3C886-BD9F-49EB-BE32-6AB72DCF2290}"/>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C303B"/>
                </a:solidFill>
                <a:latin typeface="Arial"/>
                <a:ea typeface="Arial"/>
                <a:cs typeface="Arial"/>
              </a:defRPr>
            </a:defPPr>
            <a:lvl1pPr>
              <a:defRPr sz="3225" b="1">
                <a:solidFill>
                  <a:srgbClr val="1C303B"/>
                </a:solidFill>
                <a:latin typeface="Arial"/>
                <a:ea typeface="Arial"/>
                <a:cs typeface="Arial"/>
              </a:defRPr>
            </a:lvl1pPr>
            <a:lvl2pPr>
              <a:defRPr sz="3225" b="1">
                <a:solidFill>
                  <a:srgbClr val="1C303B"/>
                </a:solidFill>
                <a:latin typeface="Arial"/>
                <a:ea typeface="Arial"/>
                <a:cs typeface="Arial"/>
              </a:defRPr>
            </a:lvl2pPr>
            <a:lvl3pPr>
              <a:defRPr sz="3225" b="1">
                <a:solidFill>
                  <a:srgbClr val="1C303B"/>
                </a:solidFill>
                <a:latin typeface="Arial"/>
                <a:ea typeface="Arial"/>
                <a:cs typeface="Arial"/>
              </a:defRPr>
            </a:lvl3pPr>
            <a:lvl4pPr>
              <a:defRPr sz="3225" b="1">
                <a:solidFill>
                  <a:srgbClr val="1C303B"/>
                </a:solidFill>
                <a:latin typeface="Arial"/>
                <a:ea typeface="Arial"/>
                <a:cs typeface="Arial"/>
              </a:defRPr>
            </a:lvl4pPr>
            <a:lvl5pPr>
              <a:defRPr sz="3225" b="1">
                <a:solidFill>
                  <a:srgbClr val="1C303B"/>
                </a:solidFill>
                <a:latin typeface="Arial"/>
                <a:ea typeface="Arial"/>
                <a:cs typeface="Arial"/>
              </a:defRPr>
            </a:lvl5pPr>
            <a:lvl6pPr>
              <a:defRPr sz="3225" b="1">
                <a:solidFill>
                  <a:srgbClr val="1C303B"/>
                </a:solidFill>
                <a:latin typeface="Arial"/>
                <a:ea typeface="Arial"/>
                <a:cs typeface="Arial"/>
              </a:defRPr>
            </a:lvl6pPr>
            <a:lvl7pPr>
              <a:defRPr sz="3225" b="1">
                <a:solidFill>
                  <a:srgbClr val="1C303B"/>
                </a:solidFill>
                <a:latin typeface="Arial"/>
                <a:ea typeface="Arial"/>
                <a:cs typeface="Arial"/>
              </a:defRPr>
            </a:lvl7pPr>
            <a:lvl8pPr>
              <a:defRPr sz="3225" b="1">
                <a:solidFill>
                  <a:srgbClr val="1C303B"/>
                </a:solidFill>
                <a:latin typeface="Arial"/>
                <a:ea typeface="Arial"/>
                <a:cs typeface="Arial"/>
              </a:defRPr>
            </a:lvl8pPr>
            <a:lvl9pPr>
              <a:defRPr sz="3225" b="1">
                <a:solidFill>
                  <a:srgbClr val="1C303B"/>
                </a:solidFill>
                <a:latin typeface="Arial"/>
                <a:ea typeface="Arial"/>
                <a:cs typeface="Arial"/>
              </a:defRPr>
            </a:lvl9pPr>
          </a:lstStyle>
          <a:p xmlns:a="http://schemas.openxmlformats.org/drawingml/2006/main">
            <a:pPr>
              <a:defRPr sz="3225" b="1">
                <a:solidFill>
                  <a:srgbClr val="1C303B"/>
                </a:solidFill>
                <a:latin typeface="Arial"/>
                <a:ea typeface="Arial"/>
                <a:cs typeface="Arial"/>
              </a:defRPr>
            </a:pPr>
            <a:r>
              <a:rPr sz="3225" b="1">
                <a:solidFill>
                  <a:srgbClr val="1C303B"/>
                </a:solidFill>
                <a:latin typeface="Arial"/>
                <a:ea typeface="Arial"/>
                <a:cs typeface="Arial"/>
              </a:rPr>
              <a:t>Model structure and updates</a:t>
            </a:r>
          </a:p>
        </p:txBody>
      </p:sp>
      <p:sp>
        <p:nvSpPr>
          <p:cNvPr id="2" name="">
            <a:extLst xmlns:a="http://schemas.openxmlformats.org/drawingml/2006/main">
              <a:ext uri="{FF2B5EF4-FFF2-40B4-BE49-F238E27FC236}">
                <a16:creationId xmlns:a16="http://schemas.microsoft.com/office/drawing/2014/main" id="{F16131A5-9AF4-4249-A1A5-3DF627D9A6FA}"/>
              </a:ext>
            </a:extLst>
          </p:cNvPr>
          <p:cNvSpPr>
            <a:spLocks xmlns:a="http://schemas.openxmlformats.org/drawingml/2006/main" noGrp="1"/>
          </p:cNvSpPr>
          <p:nvPr/>
        </p:nvSpPr>
        <p:spPr>
          <a:xfrm xmlns:a="http://schemas.openxmlformats.org/drawingml/2006/main">
            <a:off x="609600" y="6324600"/>
            <a:ext cx="933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977"/>
                </a:solidFill>
                <a:latin typeface="Arial"/>
                <a:ea typeface="Arial"/>
                <a:cs typeface="Arial"/>
              </a:defRPr>
            </a:defPPr>
            <a:lvl1pPr>
              <a:defRPr sz="1125" b="0">
                <a:solidFill>
                  <a:srgbClr val="526977"/>
                </a:solidFill>
                <a:latin typeface="Arial"/>
                <a:ea typeface="Arial"/>
                <a:cs typeface="Arial"/>
              </a:defRPr>
            </a:lvl1pPr>
            <a:lvl2pPr>
              <a:defRPr sz="1125" b="0">
                <a:solidFill>
                  <a:srgbClr val="526977"/>
                </a:solidFill>
                <a:latin typeface="Arial"/>
                <a:ea typeface="Arial"/>
                <a:cs typeface="Arial"/>
              </a:defRPr>
            </a:lvl2pPr>
            <a:lvl3pPr>
              <a:defRPr sz="1125" b="0">
                <a:solidFill>
                  <a:srgbClr val="526977"/>
                </a:solidFill>
                <a:latin typeface="Arial"/>
                <a:ea typeface="Arial"/>
                <a:cs typeface="Arial"/>
              </a:defRPr>
            </a:lvl3pPr>
            <a:lvl4pPr>
              <a:defRPr sz="1125" b="0">
                <a:solidFill>
                  <a:srgbClr val="526977"/>
                </a:solidFill>
                <a:latin typeface="Arial"/>
                <a:ea typeface="Arial"/>
                <a:cs typeface="Arial"/>
              </a:defRPr>
            </a:lvl4pPr>
            <a:lvl5pPr>
              <a:defRPr sz="1125" b="0">
                <a:solidFill>
                  <a:srgbClr val="526977"/>
                </a:solidFill>
                <a:latin typeface="Arial"/>
                <a:ea typeface="Arial"/>
                <a:cs typeface="Arial"/>
              </a:defRPr>
            </a:lvl5pPr>
            <a:lvl6pPr>
              <a:defRPr sz="1125" b="0">
                <a:solidFill>
                  <a:srgbClr val="526977"/>
                </a:solidFill>
                <a:latin typeface="Arial"/>
                <a:ea typeface="Arial"/>
                <a:cs typeface="Arial"/>
              </a:defRPr>
            </a:lvl6pPr>
            <a:lvl7pPr>
              <a:defRPr sz="1125" b="0">
                <a:solidFill>
                  <a:srgbClr val="526977"/>
                </a:solidFill>
                <a:latin typeface="Arial"/>
                <a:ea typeface="Arial"/>
                <a:cs typeface="Arial"/>
              </a:defRPr>
            </a:lvl7pPr>
            <a:lvl8pPr>
              <a:defRPr sz="1125" b="0">
                <a:solidFill>
                  <a:srgbClr val="526977"/>
                </a:solidFill>
                <a:latin typeface="Arial"/>
                <a:ea typeface="Arial"/>
                <a:cs typeface="Arial"/>
              </a:defRPr>
            </a:lvl8pPr>
            <a:lvl9pPr>
              <a:defRPr sz="1125" b="0">
                <a:solidFill>
                  <a:srgbClr val="526977"/>
                </a:solidFill>
                <a:latin typeface="Arial"/>
                <a:ea typeface="Arial"/>
                <a:cs typeface="Arial"/>
              </a:defRPr>
            </a:lvl9pPr>
          </a:lstStyle>
          <a:p xmlns:a="http://schemas.openxmlformats.org/drawingml/2006/main">
            <a:pPr>
              <a:defRPr sz="1125" b="0">
                <a:solidFill>
                  <a:srgbClr val="526977"/>
                </a:solidFill>
                <a:latin typeface="Arial"/>
                <a:ea typeface="Arial"/>
                <a:cs typeface="Arial"/>
              </a:defRPr>
            </a:pPr>
            <a:r>
              <a:rPr sz="1125" b="0">
                <a:solidFill>
                  <a:srgbClr val="526977"/>
                </a:solidFill>
                <a:latin typeface="Arial"/>
                <a:ea typeface="Arial"/>
                <a:cs typeface="Arial"/>
              </a:rPr>
              <a:t>RALVEN 5.0 / BMRI / 25 Oct 2026</a:t>
            </a:r>
          </a:p>
        </p:txBody>
      </p:sp>
      <p:sp>
        <p:nvSpPr>
          <p:cNvPr id="3" name="">
            <a:extLst xmlns:a="http://schemas.openxmlformats.org/drawingml/2006/main">
              <a:ext uri="{FF2B5EF4-FFF2-40B4-BE49-F238E27FC236}">
                <a16:creationId xmlns:a16="http://schemas.microsoft.com/office/drawing/2014/main" id="{B967B186-9D71-4372-A3FE-2993587CEFD1}"/>
              </a:ext>
            </a:extLst>
          </p:cNvPr>
          <p:cNvSpPr>
            <a:spLocks xmlns:a="http://schemas.openxmlformats.org/drawingml/2006/main" noGrp="1"/>
          </p:cNvSpPr>
          <p:nvPr/>
        </p:nvSpPr>
        <p:spPr>
          <a:xfrm xmlns:a="http://schemas.openxmlformats.org/drawingml/2006/main">
            <a:off x="11001375" y="63246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977"/>
                </a:solidFill>
                <a:latin typeface="Arial"/>
                <a:ea typeface="Arial"/>
                <a:cs typeface="Arial"/>
              </a:defRPr>
            </a:defPPr>
            <a:lvl1pPr>
              <a:defRPr sz="1125" b="0">
                <a:solidFill>
                  <a:srgbClr val="526977"/>
                </a:solidFill>
                <a:latin typeface="Arial"/>
                <a:ea typeface="Arial"/>
                <a:cs typeface="Arial"/>
              </a:defRPr>
            </a:lvl1pPr>
            <a:lvl2pPr>
              <a:defRPr sz="1125" b="0">
                <a:solidFill>
                  <a:srgbClr val="526977"/>
                </a:solidFill>
                <a:latin typeface="Arial"/>
                <a:ea typeface="Arial"/>
                <a:cs typeface="Arial"/>
              </a:defRPr>
            </a:lvl2pPr>
            <a:lvl3pPr>
              <a:defRPr sz="1125" b="0">
                <a:solidFill>
                  <a:srgbClr val="526977"/>
                </a:solidFill>
                <a:latin typeface="Arial"/>
                <a:ea typeface="Arial"/>
                <a:cs typeface="Arial"/>
              </a:defRPr>
            </a:lvl3pPr>
            <a:lvl4pPr>
              <a:defRPr sz="1125" b="0">
                <a:solidFill>
                  <a:srgbClr val="526977"/>
                </a:solidFill>
                <a:latin typeface="Arial"/>
                <a:ea typeface="Arial"/>
                <a:cs typeface="Arial"/>
              </a:defRPr>
            </a:lvl4pPr>
            <a:lvl5pPr>
              <a:defRPr sz="1125" b="0">
                <a:solidFill>
                  <a:srgbClr val="526977"/>
                </a:solidFill>
                <a:latin typeface="Arial"/>
                <a:ea typeface="Arial"/>
                <a:cs typeface="Arial"/>
              </a:defRPr>
            </a:lvl5pPr>
            <a:lvl6pPr>
              <a:defRPr sz="1125" b="0">
                <a:solidFill>
                  <a:srgbClr val="526977"/>
                </a:solidFill>
                <a:latin typeface="Arial"/>
                <a:ea typeface="Arial"/>
                <a:cs typeface="Arial"/>
              </a:defRPr>
            </a:lvl6pPr>
            <a:lvl7pPr>
              <a:defRPr sz="1125" b="0">
                <a:solidFill>
                  <a:srgbClr val="526977"/>
                </a:solidFill>
                <a:latin typeface="Arial"/>
                <a:ea typeface="Arial"/>
                <a:cs typeface="Arial"/>
              </a:defRPr>
            </a:lvl7pPr>
            <a:lvl8pPr>
              <a:defRPr sz="1125" b="0">
                <a:solidFill>
                  <a:srgbClr val="526977"/>
                </a:solidFill>
                <a:latin typeface="Arial"/>
                <a:ea typeface="Arial"/>
                <a:cs typeface="Arial"/>
              </a:defRPr>
            </a:lvl8pPr>
            <a:lvl9pPr>
              <a:defRPr sz="1125" b="0">
                <a:solidFill>
                  <a:srgbClr val="526977"/>
                </a:solidFill>
                <a:latin typeface="Arial"/>
                <a:ea typeface="Arial"/>
                <a:cs typeface="Arial"/>
              </a:defRPr>
            </a:lvl9pPr>
          </a:lstStyle>
          <a:p xmlns:a="http://schemas.openxmlformats.org/drawingml/2006/main">
            <a:pPr>
              <a:defRPr sz="1125" b="0">
                <a:solidFill>
                  <a:srgbClr val="526977"/>
                </a:solidFill>
                <a:latin typeface="Arial"/>
                <a:ea typeface="Arial"/>
                <a:cs typeface="Arial"/>
              </a:defRPr>
            </a:pPr>
            <a:r>
              <a:rPr sz="1125" b="0">
                <a:solidFill>
                  <a:srgbClr val="526977"/>
                </a:solidFill>
                <a:latin typeface="Arial"/>
                <a:ea typeface="Arial"/>
                <a:cs typeface="Arial"/>
              </a:rPr>
              <a:t>6</a:t>
            </a:r>
          </a:p>
        </p:txBody>
      </p:sp>
      <p:sp>
        <p:nvSpPr>
          <p:cNvPr id="4" name="">
            <a:extLst xmlns:a="http://schemas.openxmlformats.org/drawingml/2006/main">
              <a:ext uri="{FF2B5EF4-FFF2-40B4-BE49-F238E27FC236}">
                <a16:creationId xmlns:a16="http://schemas.microsoft.com/office/drawing/2014/main" id="{2B0A27F6-C20F-479F-AAAE-56C5D553C788}"/>
              </a:ext>
            </a:extLst>
          </p:cNvPr>
          <p:cNvSpPr>
            <a:spLocks xmlns:a="http://schemas.openxmlformats.org/drawingml/2006/main" noGrp="1"/>
          </p:cNvSpPr>
          <p:nvPr/>
        </p:nvSpPr>
        <p:spPr>
          <a:xfrm xmlns:a="http://schemas.openxmlformats.org/drawingml/2006/main">
            <a:off x="609600" y="19526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C303B"/>
                </a:solidFill>
                <a:latin typeface="Arial"/>
                <a:ea typeface="Arial"/>
                <a:cs typeface="Arial"/>
              </a:defRPr>
            </a:defPPr>
            <a:lvl1pPr>
              <a:defRPr sz="2175" b="1">
                <a:solidFill>
                  <a:srgbClr val="1C303B"/>
                </a:solidFill>
                <a:latin typeface="Arial"/>
                <a:ea typeface="Arial"/>
                <a:cs typeface="Arial"/>
              </a:defRPr>
            </a:lvl1pPr>
            <a:lvl2pPr>
              <a:defRPr sz="2175" b="1">
                <a:solidFill>
                  <a:srgbClr val="1C303B"/>
                </a:solidFill>
                <a:latin typeface="Arial"/>
                <a:ea typeface="Arial"/>
                <a:cs typeface="Arial"/>
              </a:defRPr>
            </a:lvl2pPr>
            <a:lvl3pPr>
              <a:defRPr sz="2175" b="1">
                <a:solidFill>
                  <a:srgbClr val="1C303B"/>
                </a:solidFill>
                <a:latin typeface="Arial"/>
                <a:ea typeface="Arial"/>
                <a:cs typeface="Arial"/>
              </a:defRPr>
            </a:lvl3pPr>
            <a:lvl4pPr>
              <a:defRPr sz="2175" b="1">
                <a:solidFill>
                  <a:srgbClr val="1C303B"/>
                </a:solidFill>
                <a:latin typeface="Arial"/>
                <a:ea typeface="Arial"/>
                <a:cs typeface="Arial"/>
              </a:defRPr>
            </a:lvl4pPr>
            <a:lvl5pPr>
              <a:defRPr sz="2175" b="1">
                <a:solidFill>
                  <a:srgbClr val="1C303B"/>
                </a:solidFill>
                <a:latin typeface="Arial"/>
                <a:ea typeface="Arial"/>
                <a:cs typeface="Arial"/>
              </a:defRPr>
            </a:lvl5pPr>
            <a:lvl6pPr>
              <a:defRPr sz="2175" b="1">
                <a:solidFill>
                  <a:srgbClr val="1C303B"/>
                </a:solidFill>
                <a:latin typeface="Arial"/>
                <a:ea typeface="Arial"/>
                <a:cs typeface="Arial"/>
              </a:defRPr>
            </a:lvl6pPr>
            <a:lvl7pPr>
              <a:defRPr sz="2175" b="1">
                <a:solidFill>
                  <a:srgbClr val="1C303B"/>
                </a:solidFill>
                <a:latin typeface="Arial"/>
                <a:ea typeface="Arial"/>
                <a:cs typeface="Arial"/>
              </a:defRPr>
            </a:lvl7pPr>
            <a:lvl8pPr>
              <a:defRPr sz="2175" b="1">
                <a:solidFill>
                  <a:srgbClr val="1C303B"/>
                </a:solidFill>
                <a:latin typeface="Arial"/>
                <a:ea typeface="Arial"/>
                <a:cs typeface="Arial"/>
              </a:defRPr>
            </a:lvl8pPr>
            <a:lvl9pPr>
              <a:defRPr sz="2175" b="1">
                <a:solidFill>
                  <a:srgbClr val="1C303B"/>
                </a:solidFill>
                <a:latin typeface="Arial"/>
                <a:ea typeface="Arial"/>
                <a:cs typeface="Arial"/>
              </a:defRPr>
            </a:lvl9pPr>
          </a:lstStyle>
          <a:p xmlns:a="http://schemas.openxmlformats.org/drawingml/2006/main">
            <a:pPr>
              <a:defRPr sz="2175" b="1">
                <a:solidFill>
                  <a:srgbClr val="1C303B"/>
                </a:solidFill>
                <a:latin typeface="Arial"/>
                <a:ea typeface="Arial"/>
                <a:cs typeface="Arial"/>
              </a:defRPr>
            </a:pPr>
            <a:r>
              <a:rPr sz="2175" b="1">
                <a:solidFill>
                  <a:srgbClr val="1C303B"/>
                </a:solidFill>
                <a:latin typeface="Arial"/>
                <a:ea typeface="Arial"/>
                <a:cs typeface="Arial"/>
              </a:rPr>
              <a:t>Inputs, assumptions, logic and outputs</a:t>
            </a:r>
          </a:p>
        </p:txBody>
      </p:sp>
      <p:sp>
        <p:nvSpPr>
          <p:cNvPr id="5" name="">
            <a:extLst xmlns:a="http://schemas.openxmlformats.org/drawingml/2006/main">
              <a:ext uri="{FF2B5EF4-FFF2-40B4-BE49-F238E27FC236}">
                <a16:creationId xmlns:a16="http://schemas.microsoft.com/office/drawing/2014/main" id="{F79DAF9D-64A4-4B5B-AE92-B9D4AAA68953}"/>
              </a:ext>
            </a:extLst>
          </p:cNvPr>
          <p:cNvSpPr>
            <a:spLocks xmlns:a="http://schemas.openxmlformats.org/drawingml/2006/main" noGrp="1"/>
          </p:cNvSpPr>
          <p:nvPr/>
        </p:nvSpPr>
        <p:spPr>
          <a:xfrm xmlns:a="http://schemas.openxmlformats.org/drawingml/2006/main">
            <a:off x="609600" y="2476500"/>
            <a:ext cx="10972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977"/>
                </a:solidFill>
                <a:latin typeface="Arial"/>
                <a:ea typeface="Arial"/>
                <a:cs typeface="Arial"/>
              </a:defRPr>
            </a:defPPr>
            <a:lvl1pPr>
              <a:defRPr sz="1875" b="0">
                <a:solidFill>
                  <a:srgbClr val="526977"/>
                </a:solidFill>
                <a:latin typeface="Arial"/>
                <a:ea typeface="Arial"/>
                <a:cs typeface="Arial"/>
              </a:defRPr>
            </a:lvl1pPr>
            <a:lvl2pPr>
              <a:defRPr sz="1875" b="0">
                <a:solidFill>
                  <a:srgbClr val="526977"/>
                </a:solidFill>
                <a:latin typeface="Arial"/>
                <a:ea typeface="Arial"/>
                <a:cs typeface="Arial"/>
              </a:defRPr>
            </a:lvl2pPr>
            <a:lvl3pPr>
              <a:defRPr sz="1875" b="0">
                <a:solidFill>
                  <a:srgbClr val="526977"/>
                </a:solidFill>
                <a:latin typeface="Arial"/>
                <a:ea typeface="Arial"/>
                <a:cs typeface="Arial"/>
              </a:defRPr>
            </a:lvl3pPr>
            <a:lvl4pPr>
              <a:defRPr sz="1875" b="0">
                <a:solidFill>
                  <a:srgbClr val="526977"/>
                </a:solidFill>
                <a:latin typeface="Arial"/>
                <a:ea typeface="Arial"/>
                <a:cs typeface="Arial"/>
              </a:defRPr>
            </a:lvl4pPr>
            <a:lvl5pPr>
              <a:defRPr sz="1875" b="0">
                <a:solidFill>
                  <a:srgbClr val="526977"/>
                </a:solidFill>
                <a:latin typeface="Arial"/>
                <a:ea typeface="Arial"/>
                <a:cs typeface="Arial"/>
              </a:defRPr>
            </a:lvl5pPr>
            <a:lvl6pPr>
              <a:defRPr sz="1875" b="0">
                <a:solidFill>
                  <a:srgbClr val="526977"/>
                </a:solidFill>
                <a:latin typeface="Arial"/>
                <a:ea typeface="Arial"/>
                <a:cs typeface="Arial"/>
              </a:defRPr>
            </a:lvl6pPr>
            <a:lvl7pPr>
              <a:defRPr sz="1875" b="0">
                <a:solidFill>
                  <a:srgbClr val="526977"/>
                </a:solidFill>
                <a:latin typeface="Arial"/>
                <a:ea typeface="Arial"/>
                <a:cs typeface="Arial"/>
              </a:defRPr>
            </a:lvl7pPr>
            <a:lvl8pPr>
              <a:defRPr sz="1875" b="0">
                <a:solidFill>
                  <a:srgbClr val="526977"/>
                </a:solidFill>
                <a:latin typeface="Arial"/>
                <a:ea typeface="Arial"/>
                <a:cs typeface="Arial"/>
              </a:defRPr>
            </a:lvl8pPr>
            <a:lvl9pPr>
              <a:defRPr sz="1875" b="0">
                <a:solidFill>
                  <a:srgbClr val="526977"/>
                </a:solidFill>
                <a:latin typeface="Arial"/>
                <a:ea typeface="Arial"/>
                <a:cs typeface="Arial"/>
              </a:defRPr>
            </a:lvl9pPr>
          </a:lstStyle>
          <a:p xmlns:a="http://schemas.openxmlformats.org/drawingml/2006/main">
            <a:pPr>
              <a:defRPr sz="1875" b="0">
                <a:solidFill>
                  <a:srgbClr val="526977"/>
                </a:solidFill>
                <a:latin typeface="Arial"/>
                <a:ea typeface="Arial"/>
                <a:cs typeface="Arial"/>
              </a:defRPr>
            </a:pPr>
            <a:r>
              <a:rPr sz="1875" b="0">
                <a:solidFill>
                  <a:srgbClr val="526977"/>
                </a:solidFill>
                <a:latin typeface="Arial"/>
                <a:ea typeface="Arial"/>
                <a:cs typeface="Arial"/>
              </a:rPr>
              <a:t>Ticker snapshots or documented Excel imports feed deterministic calculations. Review Data evidence, Forecast drivers and Peers membership before interpreting a rating.</a:t>
            </a:r>
          </a:p>
        </p:txBody>
      </p:sp>
      <p:sp>
        <p:nvSpPr>
          <p:cNvPr id="6" name="">
            <a:extLst xmlns:a="http://schemas.openxmlformats.org/drawingml/2006/main">
              <a:ext uri="{FF2B5EF4-FFF2-40B4-BE49-F238E27FC236}">
                <a16:creationId xmlns:a16="http://schemas.microsoft.com/office/drawing/2014/main" id="{CF8890D3-267B-46B9-B9A2-661251682953}"/>
              </a:ext>
            </a:extLst>
          </p:cNvPr>
          <p:cNvSpPr>
            <a:spLocks xmlns:a="http://schemas.openxmlformats.org/drawingml/2006/main" noGrp="1"/>
          </p:cNvSpPr>
          <p:nvPr/>
        </p:nvSpPr>
        <p:spPr>
          <a:xfrm xmlns:a="http://schemas.openxmlformats.org/drawingml/2006/main">
            <a:off x="609600" y="38100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C303B"/>
                </a:solidFill>
                <a:latin typeface="Arial"/>
                <a:ea typeface="Arial"/>
                <a:cs typeface="Arial"/>
              </a:defRPr>
            </a:defPPr>
            <a:lvl1pPr>
              <a:defRPr sz="2175" b="1">
                <a:solidFill>
                  <a:srgbClr val="1C303B"/>
                </a:solidFill>
                <a:latin typeface="Arial"/>
                <a:ea typeface="Arial"/>
                <a:cs typeface="Arial"/>
              </a:defRPr>
            </a:lvl1pPr>
            <a:lvl2pPr>
              <a:defRPr sz="2175" b="1">
                <a:solidFill>
                  <a:srgbClr val="1C303B"/>
                </a:solidFill>
                <a:latin typeface="Arial"/>
                <a:ea typeface="Arial"/>
                <a:cs typeface="Arial"/>
              </a:defRPr>
            </a:lvl2pPr>
            <a:lvl3pPr>
              <a:defRPr sz="2175" b="1">
                <a:solidFill>
                  <a:srgbClr val="1C303B"/>
                </a:solidFill>
                <a:latin typeface="Arial"/>
                <a:ea typeface="Arial"/>
                <a:cs typeface="Arial"/>
              </a:defRPr>
            </a:lvl3pPr>
            <a:lvl4pPr>
              <a:defRPr sz="2175" b="1">
                <a:solidFill>
                  <a:srgbClr val="1C303B"/>
                </a:solidFill>
                <a:latin typeface="Arial"/>
                <a:ea typeface="Arial"/>
                <a:cs typeface="Arial"/>
              </a:defRPr>
            </a:lvl4pPr>
            <a:lvl5pPr>
              <a:defRPr sz="2175" b="1">
                <a:solidFill>
                  <a:srgbClr val="1C303B"/>
                </a:solidFill>
                <a:latin typeface="Arial"/>
                <a:ea typeface="Arial"/>
                <a:cs typeface="Arial"/>
              </a:defRPr>
            </a:lvl5pPr>
            <a:lvl6pPr>
              <a:defRPr sz="2175" b="1">
                <a:solidFill>
                  <a:srgbClr val="1C303B"/>
                </a:solidFill>
                <a:latin typeface="Arial"/>
                <a:ea typeface="Arial"/>
                <a:cs typeface="Arial"/>
              </a:defRPr>
            </a:lvl6pPr>
            <a:lvl7pPr>
              <a:defRPr sz="2175" b="1">
                <a:solidFill>
                  <a:srgbClr val="1C303B"/>
                </a:solidFill>
                <a:latin typeface="Arial"/>
                <a:ea typeface="Arial"/>
                <a:cs typeface="Arial"/>
              </a:defRPr>
            </a:lvl7pPr>
            <a:lvl8pPr>
              <a:defRPr sz="2175" b="1">
                <a:solidFill>
                  <a:srgbClr val="1C303B"/>
                </a:solidFill>
                <a:latin typeface="Arial"/>
                <a:ea typeface="Arial"/>
                <a:cs typeface="Arial"/>
              </a:defRPr>
            </a:lvl8pPr>
            <a:lvl9pPr>
              <a:defRPr sz="2175" b="1">
                <a:solidFill>
                  <a:srgbClr val="1C303B"/>
                </a:solidFill>
                <a:latin typeface="Arial"/>
                <a:ea typeface="Arial"/>
                <a:cs typeface="Arial"/>
              </a:defRPr>
            </a:lvl9pPr>
          </a:lstStyle>
          <a:p xmlns:a="http://schemas.openxmlformats.org/drawingml/2006/main">
            <a:pPr>
              <a:defRPr sz="2175" b="1">
                <a:solidFill>
                  <a:srgbClr val="1C303B"/>
                </a:solidFill>
                <a:latin typeface="Arial"/>
                <a:ea typeface="Arial"/>
                <a:cs typeface="Arial"/>
              </a:defRPr>
            </a:pPr>
            <a:r>
              <a:rPr sz="2175" b="1">
                <a:solidFill>
                  <a:srgbClr val="1C303B"/>
                </a:solidFill>
                <a:latin typeface="Arial"/>
                <a:ea typeface="Arial"/>
                <a:cs typeface="Arial"/>
              </a:rPr>
              <a:t>Repeatable workflow</a:t>
            </a:r>
          </a:p>
        </p:txBody>
      </p:sp>
      <p:sp>
        <p:nvSpPr>
          <p:cNvPr id="7" name="">
            <a:extLst xmlns:a="http://schemas.openxmlformats.org/drawingml/2006/main">
              <a:ext uri="{FF2B5EF4-FFF2-40B4-BE49-F238E27FC236}">
                <a16:creationId xmlns:a16="http://schemas.microsoft.com/office/drawing/2014/main" id="{BDA16F8E-6A60-44FB-990F-A2537F33FB5D}"/>
              </a:ext>
            </a:extLst>
          </p:cNvPr>
          <p:cNvSpPr>
            <a:spLocks xmlns:a="http://schemas.openxmlformats.org/drawingml/2006/main" noGrp="1"/>
          </p:cNvSpPr>
          <p:nvPr/>
        </p:nvSpPr>
        <p:spPr>
          <a:xfrm xmlns:a="http://schemas.openxmlformats.org/drawingml/2006/main">
            <a:off x="609600" y="4333875"/>
            <a:ext cx="10972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977"/>
                </a:solidFill>
                <a:latin typeface="Arial"/>
                <a:ea typeface="Arial"/>
                <a:cs typeface="Arial"/>
              </a:defRPr>
            </a:defPPr>
            <a:lvl1pPr>
              <a:defRPr sz="1875" b="0">
                <a:solidFill>
                  <a:srgbClr val="526977"/>
                </a:solidFill>
                <a:latin typeface="Arial"/>
                <a:ea typeface="Arial"/>
                <a:cs typeface="Arial"/>
              </a:defRPr>
            </a:lvl1pPr>
            <a:lvl2pPr>
              <a:defRPr sz="1875" b="0">
                <a:solidFill>
                  <a:srgbClr val="526977"/>
                </a:solidFill>
                <a:latin typeface="Arial"/>
                <a:ea typeface="Arial"/>
                <a:cs typeface="Arial"/>
              </a:defRPr>
            </a:lvl2pPr>
            <a:lvl3pPr>
              <a:defRPr sz="1875" b="0">
                <a:solidFill>
                  <a:srgbClr val="526977"/>
                </a:solidFill>
                <a:latin typeface="Arial"/>
                <a:ea typeface="Arial"/>
                <a:cs typeface="Arial"/>
              </a:defRPr>
            </a:lvl3pPr>
            <a:lvl4pPr>
              <a:defRPr sz="1875" b="0">
                <a:solidFill>
                  <a:srgbClr val="526977"/>
                </a:solidFill>
                <a:latin typeface="Arial"/>
                <a:ea typeface="Arial"/>
                <a:cs typeface="Arial"/>
              </a:defRPr>
            </a:lvl4pPr>
            <a:lvl5pPr>
              <a:defRPr sz="1875" b="0">
                <a:solidFill>
                  <a:srgbClr val="526977"/>
                </a:solidFill>
                <a:latin typeface="Arial"/>
                <a:ea typeface="Arial"/>
                <a:cs typeface="Arial"/>
              </a:defRPr>
            </a:lvl5pPr>
            <a:lvl6pPr>
              <a:defRPr sz="1875" b="0">
                <a:solidFill>
                  <a:srgbClr val="526977"/>
                </a:solidFill>
                <a:latin typeface="Arial"/>
                <a:ea typeface="Arial"/>
                <a:cs typeface="Arial"/>
              </a:defRPr>
            </a:lvl6pPr>
            <a:lvl7pPr>
              <a:defRPr sz="1875" b="0">
                <a:solidFill>
                  <a:srgbClr val="526977"/>
                </a:solidFill>
                <a:latin typeface="Arial"/>
                <a:ea typeface="Arial"/>
                <a:cs typeface="Arial"/>
              </a:defRPr>
            </a:lvl7pPr>
            <a:lvl8pPr>
              <a:defRPr sz="1875" b="0">
                <a:solidFill>
                  <a:srgbClr val="526977"/>
                </a:solidFill>
                <a:latin typeface="Arial"/>
                <a:ea typeface="Arial"/>
                <a:cs typeface="Arial"/>
              </a:defRPr>
            </a:lvl8pPr>
            <a:lvl9pPr>
              <a:defRPr sz="1875" b="0">
                <a:solidFill>
                  <a:srgbClr val="526977"/>
                </a:solidFill>
                <a:latin typeface="Arial"/>
                <a:ea typeface="Arial"/>
                <a:cs typeface="Arial"/>
              </a:defRPr>
            </a:lvl9pPr>
          </a:lstStyle>
          <a:p xmlns:a="http://schemas.openxmlformats.org/drawingml/2006/main">
            <a:pPr>
              <a:defRPr sz="1875" b="0">
                <a:solidFill>
                  <a:srgbClr val="526977"/>
                </a:solidFill>
                <a:latin typeface="Arial"/>
                <a:ea typeface="Arial"/>
                <a:cs typeface="Arial"/>
              </a:defRPr>
            </a:pPr>
            <a:r>
              <a:rPr sz="1875" b="0">
                <a:solidFill>
                  <a:srgbClr val="526977"/>
                </a:solidFill>
                <a:latin typeface="Arial"/>
                <a:ea typeface="Arial"/>
                <a:cs typeface="Arial"/>
              </a:rPr>
              <a:t>Refresh sources; reconcile periods, units and definitions; edit annual paths or named scenarios; recalculate; save JSON and export the matching workbook and PDF.</a:t>
            </a:r>
          </a:p>
        </p:txBody>
      </p:sp>
    </p:spTree>
    <p:extLst>
      <p:ext uri="{BB962C8B-B14F-4D97-AF65-F5344CB8AC3E}">
        <p14:creationId xmlns:p14="http://schemas.microsoft.com/office/powerpoint/2010/main" val="1421059566"/>
      </p:ext>
    </p:extLst>
  </p:cSld>
</p:sld>
</file>

<file path=ppt/slides/slide7.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E8EFF9D-C34F-4466-AEBB-0253122A3541}"/>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C303B"/>
                </a:solidFill>
                <a:latin typeface="Arial"/>
                <a:ea typeface="Arial"/>
                <a:cs typeface="Arial"/>
              </a:defRPr>
            </a:defPPr>
            <a:lvl1pPr>
              <a:defRPr sz="3225" b="1">
                <a:solidFill>
                  <a:srgbClr val="1C303B"/>
                </a:solidFill>
                <a:latin typeface="Arial"/>
                <a:ea typeface="Arial"/>
                <a:cs typeface="Arial"/>
              </a:defRPr>
            </a:lvl1pPr>
            <a:lvl2pPr>
              <a:defRPr sz="3225" b="1">
                <a:solidFill>
                  <a:srgbClr val="1C303B"/>
                </a:solidFill>
                <a:latin typeface="Arial"/>
                <a:ea typeface="Arial"/>
                <a:cs typeface="Arial"/>
              </a:defRPr>
            </a:lvl2pPr>
            <a:lvl3pPr>
              <a:defRPr sz="3225" b="1">
                <a:solidFill>
                  <a:srgbClr val="1C303B"/>
                </a:solidFill>
                <a:latin typeface="Arial"/>
                <a:ea typeface="Arial"/>
                <a:cs typeface="Arial"/>
              </a:defRPr>
            </a:lvl3pPr>
            <a:lvl4pPr>
              <a:defRPr sz="3225" b="1">
                <a:solidFill>
                  <a:srgbClr val="1C303B"/>
                </a:solidFill>
                <a:latin typeface="Arial"/>
                <a:ea typeface="Arial"/>
                <a:cs typeface="Arial"/>
              </a:defRPr>
            </a:lvl4pPr>
            <a:lvl5pPr>
              <a:defRPr sz="3225" b="1">
                <a:solidFill>
                  <a:srgbClr val="1C303B"/>
                </a:solidFill>
                <a:latin typeface="Arial"/>
                <a:ea typeface="Arial"/>
                <a:cs typeface="Arial"/>
              </a:defRPr>
            </a:lvl5pPr>
            <a:lvl6pPr>
              <a:defRPr sz="3225" b="1">
                <a:solidFill>
                  <a:srgbClr val="1C303B"/>
                </a:solidFill>
                <a:latin typeface="Arial"/>
                <a:ea typeface="Arial"/>
                <a:cs typeface="Arial"/>
              </a:defRPr>
            </a:lvl6pPr>
            <a:lvl7pPr>
              <a:defRPr sz="3225" b="1">
                <a:solidFill>
                  <a:srgbClr val="1C303B"/>
                </a:solidFill>
                <a:latin typeface="Arial"/>
                <a:ea typeface="Arial"/>
                <a:cs typeface="Arial"/>
              </a:defRPr>
            </a:lvl7pPr>
            <a:lvl8pPr>
              <a:defRPr sz="3225" b="1">
                <a:solidFill>
                  <a:srgbClr val="1C303B"/>
                </a:solidFill>
                <a:latin typeface="Arial"/>
                <a:ea typeface="Arial"/>
                <a:cs typeface="Arial"/>
              </a:defRPr>
            </a:lvl8pPr>
            <a:lvl9pPr>
              <a:defRPr sz="3225" b="1">
                <a:solidFill>
                  <a:srgbClr val="1C303B"/>
                </a:solidFill>
                <a:latin typeface="Arial"/>
                <a:ea typeface="Arial"/>
                <a:cs typeface="Arial"/>
              </a:defRPr>
            </a:lvl9pPr>
          </a:lstStyle>
          <a:p xmlns:a="http://schemas.openxmlformats.org/drawingml/2006/main">
            <a:pPr>
              <a:defRPr sz="3225" b="1">
                <a:solidFill>
                  <a:srgbClr val="1C303B"/>
                </a:solidFill>
                <a:latin typeface="Arial"/>
                <a:ea typeface="Arial"/>
                <a:cs typeface="Arial"/>
              </a:defRPr>
            </a:pPr>
            <a:r>
              <a:rPr sz="3225" b="1">
                <a:solidFill>
                  <a:srgbClr val="1C303B"/>
                </a:solidFill>
                <a:latin typeface="Arial"/>
                <a:ea typeface="Arial"/>
                <a:cs typeface="Arial"/>
              </a:rPr>
              <a:t>Observed equity market value</a:t>
            </a:r>
          </a:p>
        </p:txBody>
      </p:sp>
      <p:sp>
        <p:nvSpPr>
          <p:cNvPr id="2" name="">
            <a:extLst xmlns:a="http://schemas.openxmlformats.org/drawingml/2006/main">
              <a:ext uri="{FF2B5EF4-FFF2-40B4-BE49-F238E27FC236}">
                <a16:creationId xmlns:a16="http://schemas.microsoft.com/office/drawing/2014/main" id="{38456908-CF6F-4554-963E-C3557DAFA14C}"/>
              </a:ext>
            </a:extLst>
          </p:cNvPr>
          <p:cNvSpPr>
            <a:spLocks xmlns:a="http://schemas.openxmlformats.org/drawingml/2006/main" noGrp="1"/>
          </p:cNvSpPr>
          <p:nvPr/>
        </p:nvSpPr>
        <p:spPr>
          <a:xfrm xmlns:a="http://schemas.openxmlformats.org/drawingml/2006/main">
            <a:off x="609600" y="6324600"/>
            <a:ext cx="933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977"/>
                </a:solidFill>
                <a:latin typeface="Arial"/>
                <a:ea typeface="Arial"/>
                <a:cs typeface="Arial"/>
              </a:defRPr>
            </a:defPPr>
            <a:lvl1pPr>
              <a:defRPr sz="1125" b="0">
                <a:solidFill>
                  <a:srgbClr val="526977"/>
                </a:solidFill>
                <a:latin typeface="Arial"/>
                <a:ea typeface="Arial"/>
                <a:cs typeface="Arial"/>
              </a:defRPr>
            </a:lvl1pPr>
            <a:lvl2pPr>
              <a:defRPr sz="1125" b="0">
                <a:solidFill>
                  <a:srgbClr val="526977"/>
                </a:solidFill>
                <a:latin typeface="Arial"/>
                <a:ea typeface="Arial"/>
                <a:cs typeface="Arial"/>
              </a:defRPr>
            </a:lvl2pPr>
            <a:lvl3pPr>
              <a:defRPr sz="1125" b="0">
                <a:solidFill>
                  <a:srgbClr val="526977"/>
                </a:solidFill>
                <a:latin typeface="Arial"/>
                <a:ea typeface="Arial"/>
                <a:cs typeface="Arial"/>
              </a:defRPr>
            </a:lvl3pPr>
            <a:lvl4pPr>
              <a:defRPr sz="1125" b="0">
                <a:solidFill>
                  <a:srgbClr val="526977"/>
                </a:solidFill>
                <a:latin typeface="Arial"/>
                <a:ea typeface="Arial"/>
                <a:cs typeface="Arial"/>
              </a:defRPr>
            </a:lvl4pPr>
            <a:lvl5pPr>
              <a:defRPr sz="1125" b="0">
                <a:solidFill>
                  <a:srgbClr val="526977"/>
                </a:solidFill>
                <a:latin typeface="Arial"/>
                <a:ea typeface="Arial"/>
                <a:cs typeface="Arial"/>
              </a:defRPr>
            </a:lvl5pPr>
            <a:lvl6pPr>
              <a:defRPr sz="1125" b="0">
                <a:solidFill>
                  <a:srgbClr val="526977"/>
                </a:solidFill>
                <a:latin typeface="Arial"/>
                <a:ea typeface="Arial"/>
                <a:cs typeface="Arial"/>
              </a:defRPr>
            </a:lvl6pPr>
            <a:lvl7pPr>
              <a:defRPr sz="1125" b="0">
                <a:solidFill>
                  <a:srgbClr val="526977"/>
                </a:solidFill>
                <a:latin typeface="Arial"/>
                <a:ea typeface="Arial"/>
                <a:cs typeface="Arial"/>
              </a:defRPr>
            </a:lvl7pPr>
            <a:lvl8pPr>
              <a:defRPr sz="1125" b="0">
                <a:solidFill>
                  <a:srgbClr val="526977"/>
                </a:solidFill>
                <a:latin typeface="Arial"/>
                <a:ea typeface="Arial"/>
                <a:cs typeface="Arial"/>
              </a:defRPr>
            </a:lvl8pPr>
            <a:lvl9pPr>
              <a:defRPr sz="1125" b="0">
                <a:solidFill>
                  <a:srgbClr val="526977"/>
                </a:solidFill>
                <a:latin typeface="Arial"/>
                <a:ea typeface="Arial"/>
                <a:cs typeface="Arial"/>
              </a:defRPr>
            </a:lvl9pPr>
          </a:lstStyle>
          <a:p xmlns:a="http://schemas.openxmlformats.org/drawingml/2006/main">
            <a:pPr>
              <a:defRPr sz="1125" b="0">
                <a:solidFill>
                  <a:srgbClr val="526977"/>
                </a:solidFill>
                <a:latin typeface="Arial"/>
                <a:ea typeface="Arial"/>
                <a:cs typeface="Arial"/>
              </a:defRPr>
            </a:pPr>
            <a:r>
              <a:rPr sz="1125" b="0">
                <a:solidFill>
                  <a:srgbClr val="526977"/>
                </a:solidFill>
                <a:latin typeface="Arial"/>
                <a:ea typeface="Arial"/>
                <a:cs typeface="Arial"/>
              </a:rPr>
              <a:t>RALVEN 5.0 / BMRI / 25 Oct 2026</a:t>
            </a:r>
          </a:p>
        </p:txBody>
      </p:sp>
      <p:sp>
        <p:nvSpPr>
          <p:cNvPr id="3" name="">
            <a:extLst xmlns:a="http://schemas.openxmlformats.org/drawingml/2006/main">
              <a:ext uri="{FF2B5EF4-FFF2-40B4-BE49-F238E27FC236}">
                <a16:creationId xmlns:a16="http://schemas.microsoft.com/office/drawing/2014/main" id="{E96D85DD-2895-49C6-85E8-D98459C6A269}"/>
              </a:ext>
            </a:extLst>
          </p:cNvPr>
          <p:cNvSpPr>
            <a:spLocks xmlns:a="http://schemas.openxmlformats.org/drawingml/2006/main" noGrp="1"/>
          </p:cNvSpPr>
          <p:nvPr/>
        </p:nvSpPr>
        <p:spPr>
          <a:xfrm xmlns:a="http://schemas.openxmlformats.org/drawingml/2006/main">
            <a:off x="11001375" y="63246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977"/>
                </a:solidFill>
                <a:latin typeface="Arial"/>
                <a:ea typeface="Arial"/>
                <a:cs typeface="Arial"/>
              </a:defRPr>
            </a:defPPr>
            <a:lvl1pPr>
              <a:defRPr sz="1125" b="0">
                <a:solidFill>
                  <a:srgbClr val="526977"/>
                </a:solidFill>
                <a:latin typeface="Arial"/>
                <a:ea typeface="Arial"/>
                <a:cs typeface="Arial"/>
              </a:defRPr>
            </a:lvl1pPr>
            <a:lvl2pPr>
              <a:defRPr sz="1125" b="0">
                <a:solidFill>
                  <a:srgbClr val="526977"/>
                </a:solidFill>
                <a:latin typeface="Arial"/>
                <a:ea typeface="Arial"/>
                <a:cs typeface="Arial"/>
              </a:defRPr>
            </a:lvl2pPr>
            <a:lvl3pPr>
              <a:defRPr sz="1125" b="0">
                <a:solidFill>
                  <a:srgbClr val="526977"/>
                </a:solidFill>
                <a:latin typeface="Arial"/>
                <a:ea typeface="Arial"/>
                <a:cs typeface="Arial"/>
              </a:defRPr>
            </a:lvl3pPr>
            <a:lvl4pPr>
              <a:defRPr sz="1125" b="0">
                <a:solidFill>
                  <a:srgbClr val="526977"/>
                </a:solidFill>
                <a:latin typeface="Arial"/>
                <a:ea typeface="Arial"/>
                <a:cs typeface="Arial"/>
              </a:defRPr>
            </a:lvl4pPr>
            <a:lvl5pPr>
              <a:defRPr sz="1125" b="0">
                <a:solidFill>
                  <a:srgbClr val="526977"/>
                </a:solidFill>
                <a:latin typeface="Arial"/>
                <a:ea typeface="Arial"/>
                <a:cs typeface="Arial"/>
              </a:defRPr>
            </a:lvl5pPr>
            <a:lvl6pPr>
              <a:defRPr sz="1125" b="0">
                <a:solidFill>
                  <a:srgbClr val="526977"/>
                </a:solidFill>
                <a:latin typeface="Arial"/>
                <a:ea typeface="Arial"/>
                <a:cs typeface="Arial"/>
              </a:defRPr>
            </a:lvl6pPr>
            <a:lvl7pPr>
              <a:defRPr sz="1125" b="0">
                <a:solidFill>
                  <a:srgbClr val="526977"/>
                </a:solidFill>
                <a:latin typeface="Arial"/>
                <a:ea typeface="Arial"/>
                <a:cs typeface="Arial"/>
              </a:defRPr>
            </a:lvl7pPr>
            <a:lvl8pPr>
              <a:defRPr sz="1125" b="0">
                <a:solidFill>
                  <a:srgbClr val="526977"/>
                </a:solidFill>
                <a:latin typeface="Arial"/>
                <a:ea typeface="Arial"/>
                <a:cs typeface="Arial"/>
              </a:defRPr>
            </a:lvl8pPr>
            <a:lvl9pPr>
              <a:defRPr sz="1125" b="0">
                <a:solidFill>
                  <a:srgbClr val="526977"/>
                </a:solidFill>
                <a:latin typeface="Arial"/>
                <a:ea typeface="Arial"/>
                <a:cs typeface="Arial"/>
              </a:defRPr>
            </a:lvl9pPr>
          </a:lstStyle>
          <a:p xmlns:a="http://schemas.openxmlformats.org/drawingml/2006/main">
            <a:pPr>
              <a:defRPr sz="1125" b="0">
                <a:solidFill>
                  <a:srgbClr val="526977"/>
                </a:solidFill>
                <a:latin typeface="Arial"/>
                <a:ea typeface="Arial"/>
                <a:cs typeface="Arial"/>
              </a:defRPr>
            </a:pPr>
            <a:r>
              <a:rPr sz="1125" b="0">
                <a:solidFill>
                  <a:srgbClr val="526977"/>
                </a:solidFill>
                <a:latin typeface="Arial"/>
                <a:ea typeface="Arial"/>
                <a:cs typeface="Arial"/>
              </a:rPr>
              <a:t>7</a:t>
            </a:r>
          </a:p>
        </p:txBody>
      </p:sp>
      <p:sp>
        <p:nvSpPr>
          <p:cNvPr id="4" name="">
            <a:extLst xmlns:a="http://schemas.openxmlformats.org/drawingml/2006/main">
              <a:ext uri="{FF2B5EF4-FFF2-40B4-BE49-F238E27FC236}">
                <a16:creationId xmlns:a16="http://schemas.microsoft.com/office/drawing/2014/main" id="{1BEF6553-A4A5-486B-B97A-83E48E53F94E}"/>
              </a:ext>
            </a:extLst>
          </p:cNvPr>
          <p:cNvSpPr>
            <a:spLocks xmlns:a="http://schemas.openxmlformats.org/drawingml/2006/main" noGrp="1"/>
          </p:cNvSpPr>
          <p:nvPr/>
        </p:nvSpPr>
        <p:spPr>
          <a:xfrm xmlns:a="http://schemas.openxmlformats.org/drawingml/2006/main">
            <a:off x="609600" y="2019300"/>
            <a:ext cx="8572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550" b="1">
                <a:solidFill>
                  <a:srgbClr val="1C303B"/>
                </a:solidFill>
                <a:latin typeface="Arial"/>
                <a:ea typeface="Arial"/>
                <a:cs typeface="Arial"/>
              </a:defRPr>
            </a:defPPr>
            <a:lvl1pPr>
              <a:defRPr sz="5550" b="1">
                <a:solidFill>
                  <a:srgbClr val="1C303B"/>
                </a:solidFill>
                <a:latin typeface="Arial"/>
                <a:ea typeface="Arial"/>
                <a:cs typeface="Arial"/>
              </a:defRPr>
            </a:lvl1pPr>
            <a:lvl2pPr>
              <a:defRPr sz="5550" b="1">
                <a:solidFill>
                  <a:srgbClr val="1C303B"/>
                </a:solidFill>
                <a:latin typeface="Arial"/>
                <a:ea typeface="Arial"/>
                <a:cs typeface="Arial"/>
              </a:defRPr>
            </a:lvl2pPr>
            <a:lvl3pPr>
              <a:defRPr sz="5550" b="1">
                <a:solidFill>
                  <a:srgbClr val="1C303B"/>
                </a:solidFill>
                <a:latin typeface="Arial"/>
                <a:ea typeface="Arial"/>
                <a:cs typeface="Arial"/>
              </a:defRPr>
            </a:lvl3pPr>
            <a:lvl4pPr>
              <a:defRPr sz="5550" b="1">
                <a:solidFill>
                  <a:srgbClr val="1C303B"/>
                </a:solidFill>
                <a:latin typeface="Arial"/>
                <a:ea typeface="Arial"/>
                <a:cs typeface="Arial"/>
              </a:defRPr>
            </a:lvl4pPr>
            <a:lvl5pPr>
              <a:defRPr sz="5550" b="1">
                <a:solidFill>
                  <a:srgbClr val="1C303B"/>
                </a:solidFill>
                <a:latin typeface="Arial"/>
                <a:ea typeface="Arial"/>
                <a:cs typeface="Arial"/>
              </a:defRPr>
            </a:lvl5pPr>
            <a:lvl6pPr>
              <a:defRPr sz="5550" b="1">
                <a:solidFill>
                  <a:srgbClr val="1C303B"/>
                </a:solidFill>
                <a:latin typeface="Arial"/>
                <a:ea typeface="Arial"/>
                <a:cs typeface="Arial"/>
              </a:defRPr>
            </a:lvl6pPr>
            <a:lvl7pPr>
              <a:defRPr sz="5550" b="1">
                <a:solidFill>
                  <a:srgbClr val="1C303B"/>
                </a:solidFill>
                <a:latin typeface="Arial"/>
                <a:ea typeface="Arial"/>
                <a:cs typeface="Arial"/>
              </a:defRPr>
            </a:lvl7pPr>
            <a:lvl8pPr>
              <a:defRPr sz="5550" b="1">
                <a:solidFill>
                  <a:srgbClr val="1C303B"/>
                </a:solidFill>
                <a:latin typeface="Arial"/>
                <a:ea typeface="Arial"/>
                <a:cs typeface="Arial"/>
              </a:defRPr>
            </a:lvl8pPr>
            <a:lvl9pPr>
              <a:defRPr sz="5550" b="1">
                <a:solidFill>
                  <a:srgbClr val="1C303B"/>
                </a:solidFill>
                <a:latin typeface="Arial"/>
                <a:ea typeface="Arial"/>
                <a:cs typeface="Arial"/>
              </a:defRPr>
            </a:lvl9pPr>
          </a:lstStyle>
          <a:p xmlns:a="http://schemas.openxmlformats.org/drawingml/2006/main">
            <a:pPr>
              <a:defRPr sz="5550" b="1">
                <a:solidFill>
                  <a:srgbClr val="1C303B"/>
                </a:solidFill>
                <a:latin typeface="Arial"/>
                <a:ea typeface="Arial"/>
                <a:cs typeface="Arial"/>
              </a:defRPr>
            </a:pPr>
            <a:r>
              <a:rPr sz="5550" b="1">
                <a:solidFill>
                  <a:srgbClr val="1C303B"/>
                </a:solidFill>
                <a:latin typeface="Arial"/>
                <a:ea typeface="Arial"/>
                <a:cs typeface="Arial"/>
              </a:rPr>
              <a:t>Rp 3,900</a:t>
            </a:r>
          </a:p>
        </p:txBody>
      </p:sp>
      <p:sp>
        <p:nvSpPr>
          <p:cNvPr id="5" name="">
            <a:extLst xmlns:a="http://schemas.openxmlformats.org/drawingml/2006/main">
              <a:ext uri="{FF2B5EF4-FFF2-40B4-BE49-F238E27FC236}">
                <a16:creationId xmlns:a16="http://schemas.microsoft.com/office/drawing/2014/main" id="{558C1FB3-AF5F-4CD4-BD74-95993D532BF6}"/>
              </a:ext>
            </a:extLst>
          </p:cNvPr>
          <p:cNvSpPr>
            <a:spLocks xmlns:a="http://schemas.openxmlformats.org/drawingml/2006/main" noGrp="1"/>
          </p:cNvSpPr>
          <p:nvPr/>
        </p:nvSpPr>
        <p:spPr>
          <a:xfrm xmlns:a="http://schemas.openxmlformats.org/drawingml/2006/main">
            <a:off x="628650" y="30003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26977"/>
                </a:solidFill>
                <a:latin typeface="Arial"/>
                <a:ea typeface="Arial"/>
                <a:cs typeface="Arial"/>
              </a:defRPr>
            </a:defPPr>
            <a:lvl1pPr>
              <a:defRPr sz="1950" b="0">
                <a:solidFill>
                  <a:srgbClr val="526977"/>
                </a:solidFill>
                <a:latin typeface="Arial"/>
                <a:ea typeface="Arial"/>
                <a:cs typeface="Arial"/>
              </a:defRPr>
            </a:lvl1pPr>
            <a:lvl2pPr>
              <a:defRPr sz="1950" b="0">
                <a:solidFill>
                  <a:srgbClr val="526977"/>
                </a:solidFill>
                <a:latin typeface="Arial"/>
                <a:ea typeface="Arial"/>
                <a:cs typeface="Arial"/>
              </a:defRPr>
            </a:lvl2pPr>
            <a:lvl3pPr>
              <a:defRPr sz="1950" b="0">
                <a:solidFill>
                  <a:srgbClr val="526977"/>
                </a:solidFill>
                <a:latin typeface="Arial"/>
                <a:ea typeface="Arial"/>
                <a:cs typeface="Arial"/>
              </a:defRPr>
            </a:lvl3pPr>
            <a:lvl4pPr>
              <a:defRPr sz="1950" b="0">
                <a:solidFill>
                  <a:srgbClr val="526977"/>
                </a:solidFill>
                <a:latin typeface="Arial"/>
                <a:ea typeface="Arial"/>
                <a:cs typeface="Arial"/>
              </a:defRPr>
            </a:lvl4pPr>
            <a:lvl5pPr>
              <a:defRPr sz="1950" b="0">
                <a:solidFill>
                  <a:srgbClr val="526977"/>
                </a:solidFill>
                <a:latin typeface="Arial"/>
                <a:ea typeface="Arial"/>
                <a:cs typeface="Arial"/>
              </a:defRPr>
            </a:lvl5pPr>
            <a:lvl6pPr>
              <a:defRPr sz="1950" b="0">
                <a:solidFill>
                  <a:srgbClr val="526977"/>
                </a:solidFill>
                <a:latin typeface="Arial"/>
                <a:ea typeface="Arial"/>
                <a:cs typeface="Arial"/>
              </a:defRPr>
            </a:lvl6pPr>
            <a:lvl7pPr>
              <a:defRPr sz="1950" b="0">
                <a:solidFill>
                  <a:srgbClr val="526977"/>
                </a:solidFill>
                <a:latin typeface="Arial"/>
                <a:ea typeface="Arial"/>
                <a:cs typeface="Arial"/>
              </a:defRPr>
            </a:lvl7pPr>
            <a:lvl8pPr>
              <a:defRPr sz="1950" b="0">
                <a:solidFill>
                  <a:srgbClr val="526977"/>
                </a:solidFill>
                <a:latin typeface="Arial"/>
                <a:ea typeface="Arial"/>
                <a:cs typeface="Arial"/>
              </a:defRPr>
            </a:lvl8pPr>
            <a:lvl9pPr>
              <a:defRPr sz="1950" b="0">
                <a:solidFill>
                  <a:srgbClr val="526977"/>
                </a:solidFill>
                <a:latin typeface="Arial"/>
                <a:ea typeface="Arial"/>
                <a:cs typeface="Arial"/>
              </a:defRPr>
            </a:lvl9pPr>
          </a:lstStyle>
          <a:p xmlns:a="http://schemas.openxmlformats.org/drawingml/2006/main">
            <a:pPr>
              <a:defRPr sz="1950" b="0">
                <a:solidFill>
                  <a:srgbClr val="526977"/>
                </a:solidFill>
                <a:latin typeface="Arial"/>
                <a:ea typeface="Arial"/>
                <a:cs typeface="Arial"/>
              </a:defRPr>
            </a:pPr>
            <a:r>
              <a:rPr sz="1950" b="0">
                <a:solidFill>
                  <a:srgbClr val="526977"/>
                </a:solidFill>
                <a:latin typeface="Arial"/>
                <a:ea typeface="Arial"/>
                <a:cs typeface="Arial"/>
              </a:rPr>
              <a:t>Observed close per share / 2026-10-23</a:t>
            </a:r>
          </a:p>
        </p:txBody>
      </p:sp>
      <p:graphicFrame>
        <p:nvGraphicFramePr>
          <p:cNvPr id="6" name="">
            <a:extLst xmlns:a="http://schemas.openxmlformats.org/drawingml/2006/main">
              <a:ext uri="{FF2B5EF4-FFF2-40B4-BE49-F238E27FC236}">
                <a16:creationId xmlns:a16="http://schemas.microsoft.com/office/drawing/2014/main" id="{9A4CD769-5B81-4B6C-9992-056686F48C91}"/>
              </a:ext>
            </a:extLst>
          </p:cNvPr>
          <p:cNvGraphicFramePr/>
          <p:nvPr/>
        </p:nvGraphicFramePr>
        <p:xfrm>
          <a:off xmlns:a="http://schemas.openxmlformats.org/drawingml/2006/main" x="609600" y="3667125"/>
          <a:ext xmlns:a="http://schemas.openxmlformats.org/drawingml/2006/main" cx="10972800" cy="2190750"/>
        </p:xfrm>
        <a:graphic xmlns:a="http://schemas.openxmlformats.org/drawingml/2006/main">
          <a:graphicData uri="http://schemas.openxmlformats.org/drawingml/2006/table">
            <a:tbl>
              <a:tblPr/>
              <a:tblGrid>
                <a:gridCol w="5486400"/>
                <a:gridCol w="5486400"/>
              </a:tblGrid>
              <a:tr h="438150">
                <a:tc>
                  <a:txBody>
                    <a:bodyPr/>
                    <a:lstStyle/>
                    <a:p>
                      <a:r>
                        <a:rPr sz="1800" b="1">
                          <a:solidFill>
                            <a:srgbClr val="FFFFFF"/>
                          </a:solidFill>
                          <a:latin typeface="Arial"/>
                          <a:ea typeface="Arial"/>
                          <a:cs typeface="Arial"/>
                        </a:rPr>
                        <a:t>Measure</a:t>
                      </a:r>
                    </a:p>
                  </a:txBody>
                  <a:tcPr marL="91440" marR="91440" marT="45720" marB="45720">
                    <a:lnL w="9525">
                      <a:solidFill>
                        <a:srgbClr val="DEE7E9"/>
                      </a:solidFill>
                      <a:prstDash val="solid"/>
                    </a:lnL>
                    <a:lnR w="9525">
                      <a:solidFill>
                        <a:srgbClr val="DEE7E9"/>
                      </a:solidFill>
                      <a:prstDash val="solid"/>
                    </a:lnR>
                    <a:lnT w="9525">
                      <a:solidFill>
                        <a:srgbClr val="DEE7E9"/>
                      </a:solidFill>
                      <a:prstDash val="solid"/>
                    </a:lnT>
                    <a:lnB w="9525">
                      <a:solidFill>
                        <a:srgbClr val="DEE7E9"/>
                      </a:solidFill>
                      <a:prstDash val="solid"/>
                    </a:lnB>
                    <a:solidFill>
                      <a:srgbClr val="1C303B"/>
                    </a:solidFill>
                  </a:tcPr>
                </a:tc>
                <a:tc>
                  <a:txBody>
                    <a:bodyPr/>
                    <a:lstStyle/>
                    <a:p>
                      <a:r>
                        <a:rPr sz="1800" b="1">
                          <a:solidFill>
                            <a:srgbClr val="FFFFFF"/>
                          </a:solidFill>
                          <a:latin typeface="Arial"/>
                          <a:ea typeface="Arial"/>
                          <a:cs typeface="Arial"/>
                        </a:rPr>
                        <a:t>Value</a:t>
                      </a:r>
                    </a:p>
                  </a:txBody>
                  <a:tcPr marL="91440" marR="91440" marT="45720" marB="45720">
                    <a:lnR w="9525">
                      <a:solidFill>
                        <a:srgbClr val="DEE7E9"/>
                      </a:solidFill>
                      <a:prstDash val="solid"/>
                    </a:lnR>
                    <a:lnT w="9525">
                      <a:solidFill>
                        <a:srgbClr val="DEE7E9"/>
                      </a:solidFill>
                      <a:prstDash val="solid"/>
                    </a:lnT>
                    <a:lnB w="9525">
                      <a:solidFill>
                        <a:srgbClr val="DEE7E9"/>
                      </a:solidFill>
                      <a:prstDash val="solid"/>
                    </a:lnB>
                    <a:solidFill>
                      <a:srgbClr val="1C303B"/>
                    </a:solidFill>
                  </a:tcPr>
                </a:tc>
              </a:tr>
              <a:tr h="438150">
                <a:tc>
                  <a:txBody>
                    <a:bodyPr/>
                    <a:lstStyle/>
                    <a:p>
                      <a:r>
                        <a:rPr sz="1800" b="0">
                          <a:solidFill>
                            <a:srgbClr val="1C303B"/>
                          </a:solidFill>
                          <a:latin typeface="Arial"/>
                          <a:ea typeface="Arial"/>
                          <a:cs typeface="Arial"/>
                        </a:rPr>
                        <a:t>Shares used</a:t>
                      </a:r>
                    </a:p>
                  </a:txBody>
                  <a:tcPr marL="91440" marR="91440" marT="45720" marB="45720">
                    <a:lnL w="9525">
                      <a:solidFill>
                        <a:srgbClr val="DEE7E9"/>
                      </a:solidFill>
                      <a:prstDash val="solid"/>
                    </a:lnL>
                    <a:lnR w="9525">
                      <a:solidFill>
                        <a:srgbClr val="DEE7E9"/>
                      </a:solidFill>
                      <a:prstDash val="solid"/>
                    </a:lnR>
                    <a:lnB w="9525">
                      <a:solidFill>
                        <a:srgbClr val="DEE7E9"/>
                      </a:solidFill>
                      <a:prstDash val="solid"/>
                    </a:lnB>
                    <a:solidFill>
                      <a:srgbClr val="EFF5F4"/>
                    </a:solidFill>
                  </a:tcPr>
                </a:tc>
                <a:tc>
                  <a:txBody>
                    <a:bodyPr/>
                    <a:lstStyle/>
                    <a:p>
                      <a:r>
                        <a:rPr sz="1800" b="0">
                          <a:solidFill>
                            <a:srgbClr val="1C303B"/>
                          </a:solidFill>
                          <a:latin typeface="Arial"/>
                          <a:ea typeface="Arial"/>
                          <a:cs typeface="Arial"/>
                        </a:rPr>
                        <a:t>92.4 billion</a:t>
                      </a:r>
                    </a:p>
                  </a:txBody>
                  <a:tcPr marL="91440" marR="91440" marT="45720" marB="45720">
                    <a:lnR w="9525">
                      <a:solidFill>
                        <a:srgbClr val="DEE7E9"/>
                      </a:solidFill>
                      <a:prstDash val="solid"/>
                    </a:lnR>
                    <a:lnB w="9525">
                      <a:solidFill>
                        <a:srgbClr val="DEE7E9"/>
                      </a:solidFill>
                      <a:prstDash val="solid"/>
                    </a:lnB>
                    <a:solidFill>
                      <a:srgbClr val="EFF5F4"/>
                    </a:solidFill>
                  </a:tcPr>
                </a:tc>
              </a:tr>
              <a:tr h="438150">
                <a:tc>
                  <a:txBody>
                    <a:bodyPr/>
                    <a:lstStyle/>
                    <a:p>
                      <a:r>
                        <a:rPr sz="1800" b="0">
                          <a:solidFill>
                            <a:srgbClr val="1C303B"/>
                          </a:solidFill>
                          <a:latin typeface="Arial"/>
                          <a:ea typeface="Arial"/>
                          <a:cs typeface="Arial"/>
                        </a:rPr>
                        <a:t>Equity market capitalization</a:t>
                      </a:r>
                    </a:p>
                  </a:txBody>
                  <a:tcPr marL="91440" marR="91440" marT="45720" marB="45720">
                    <a:lnL w="9525">
                      <a:solidFill>
                        <a:srgbClr val="DEE7E9"/>
                      </a:solidFill>
                      <a:prstDash val="solid"/>
                    </a:lnL>
                    <a:lnR w="9525">
                      <a:solidFill>
                        <a:srgbClr val="DEE7E9"/>
                      </a:solidFill>
                      <a:prstDash val="solid"/>
                    </a:lnR>
                    <a:lnB w="9525">
                      <a:solidFill>
                        <a:srgbClr val="DEE7E9"/>
                      </a:solidFill>
                      <a:prstDash val="solid"/>
                    </a:lnB>
                    <a:solidFill>
                      <a:srgbClr val="FCFDFC"/>
                    </a:solidFill>
                  </a:tcPr>
                </a:tc>
                <a:tc>
                  <a:txBody>
                    <a:bodyPr/>
                    <a:lstStyle/>
                    <a:p>
                      <a:r>
                        <a:rPr sz="1800" b="0">
                          <a:solidFill>
                            <a:srgbClr val="1C303B"/>
                          </a:solidFill>
                          <a:latin typeface="Arial"/>
                          <a:ea typeface="Arial"/>
                          <a:cs typeface="Arial"/>
                        </a:rPr>
                        <a:t>Rp 360,360 billion</a:t>
                      </a:r>
                    </a:p>
                  </a:txBody>
                  <a:tcPr marL="91440" marR="91440" marT="45720" marB="45720">
                    <a:lnR w="9525">
                      <a:solidFill>
                        <a:srgbClr val="DEE7E9"/>
                      </a:solidFill>
                      <a:prstDash val="solid"/>
                    </a:lnR>
                    <a:lnB w="9525">
                      <a:solidFill>
                        <a:srgbClr val="DEE7E9"/>
                      </a:solidFill>
                      <a:prstDash val="solid"/>
                    </a:lnB>
                    <a:solidFill>
                      <a:srgbClr val="FCFDFC"/>
                    </a:solidFill>
                  </a:tcPr>
                </a:tc>
              </a:tr>
              <a:tr h="438150">
                <a:tc>
                  <a:txBody>
                    <a:bodyPr/>
                    <a:lstStyle/>
                    <a:p>
                      <a:r>
                        <a:rPr sz="1800" b="0">
                          <a:solidFill>
                            <a:srgbClr val="1C303B"/>
                          </a:solidFill>
                          <a:latin typeface="Arial"/>
                          <a:ea typeface="Arial"/>
                          <a:cs typeface="Arial"/>
                        </a:rPr>
                        <a:t>Current parent book equity</a:t>
                      </a:r>
                    </a:p>
                  </a:txBody>
                  <a:tcPr marL="91440" marR="91440" marT="45720" marB="45720">
                    <a:lnL w="9525">
                      <a:solidFill>
                        <a:srgbClr val="DEE7E9"/>
                      </a:solidFill>
                      <a:prstDash val="solid"/>
                    </a:lnL>
                    <a:lnR w="9525">
                      <a:solidFill>
                        <a:srgbClr val="DEE7E9"/>
                      </a:solidFill>
                      <a:prstDash val="solid"/>
                    </a:lnR>
                    <a:lnB w="9525">
                      <a:solidFill>
                        <a:srgbClr val="DEE7E9"/>
                      </a:solidFill>
                      <a:prstDash val="solid"/>
                    </a:lnB>
                    <a:solidFill>
                      <a:srgbClr val="EFF5F4"/>
                    </a:solidFill>
                  </a:tcPr>
                </a:tc>
                <a:tc>
                  <a:txBody>
                    <a:bodyPr/>
                    <a:lstStyle/>
                    <a:p>
                      <a:r>
                        <a:rPr sz="1800" b="0">
                          <a:solidFill>
                            <a:srgbClr val="1C303B"/>
                          </a:solidFill>
                          <a:latin typeface="Arial"/>
                          <a:ea typeface="Arial"/>
                          <a:cs typeface="Arial"/>
                        </a:rPr>
                        <a:t>Rp 284,593 billion</a:t>
                      </a:r>
                    </a:p>
                  </a:txBody>
                  <a:tcPr marL="91440" marR="91440" marT="45720" marB="45720">
                    <a:lnR w="9525">
                      <a:solidFill>
                        <a:srgbClr val="DEE7E9"/>
                      </a:solidFill>
                      <a:prstDash val="solid"/>
                    </a:lnR>
                    <a:lnB w="9525">
                      <a:solidFill>
                        <a:srgbClr val="DEE7E9"/>
                      </a:solidFill>
                      <a:prstDash val="solid"/>
                    </a:lnB>
                    <a:solidFill>
                      <a:srgbClr val="EFF5F4"/>
                    </a:solidFill>
                  </a:tcPr>
                </a:tc>
              </a:tr>
              <a:tr h="438150">
                <a:tc>
                  <a:txBody>
                    <a:bodyPr/>
                    <a:lstStyle/>
                    <a:p>
                      <a:r>
                        <a:rPr sz="1800" b="0">
                          <a:solidFill>
                            <a:srgbClr val="1C303B"/>
                          </a:solidFill>
                          <a:latin typeface="Arial"/>
                          <a:ea typeface="Arial"/>
                          <a:cs typeface="Arial"/>
                        </a:rPr>
                        <a:t>Observed P/B</a:t>
                      </a:r>
                    </a:p>
                  </a:txBody>
                  <a:tcPr marL="91440" marR="91440" marT="45720" marB="45720">
                    <a:lnL w="9525">
                      <a:solidFill>
                        <a:srgbClr val="DEE7E9"/>
                      </a:solidFill>
                      <a:prstDash val="solid"/>
                    </a:lnL>
                    <a:lnR w="9525">
                      <a:solidFill>
                        <a:srgbClr val="DEE7E9"/>
                      </a:solidFill>
                      <a:prstDash val="solid"/>
                    </a:lnR>
                    <a:lnB w="9525">
                      <a:solidFill>
                        <a:srgbClr val="DEE7E9"/>
                      </a:solidFill>
                      <a:prstDash val="solid"/>
                    </a:lnB>
                    <a:solidFill>
                      <a:srgbClr val="FCFDFC"/>
                    </a:solidFill>
                  </a:tcPr>
                </a:tc>
                <a:tc>
                  <a:txBody>
                    <a:bodyPr/>
                    <a:lstStyle/>
                    <a:p>
                      <a:r>
                        <a:rPr sz="1800" b="0">
                          <a:solidFill>
                            <a:srgbClr val="1C303B"/>
                          </a:solidFill>
                          <a:latin typeface="Arial"/>
                          <a:ea typeface="Arial"/>
                          <a:cs typeface="Arial"/>
                        </a:rPr>
                        <a:t>1.27x</a:t>
                      </a:r>
                    </a:p>
                  </a:txBody>
                  <a:tcPr marL="91440" marR="91440" marT="45720" marB="45720">
                    <a:lnR w="9525">
                      <a:solidFill>
                        <a:srgbClr val="DEE7E9"/>
                      </a:solidFill>
                      <a:prstDash val="solid"/>
                    </a:lnR>
                    <a:lnB w="9525">
                      <a:solidFill>
                        <a:srgbClr val="DEE7E9"/>
                      </a:solidFill>
                      <a:prstDash val="solid"/>
                    </a:lnB>
                    <a:solidFill>
                      <a:srgbClr val="FCFDFC"/>
                    </a:solidFill>
                  </a:tcPr>
                </a:tc>
              </a:tr>
            </a:tbl>
          </a:graphicData>
        </a:graphic>
      </p:graphicFrame>
    </p:spTree>
    <p:extLst>
      <p:ext uri="{BB962C8B-B14F-4D97-AF65-F5344CB8AC3E}">
        <p14:creationId xmlns:p14="http://schemas.microsoft.com/office/powerpoint/2010/main" val="1684328692"/>
      </p:ext>
    </p:extLst>
  </p:cSld>
</p:sld>
</file>

<file path=ppt/slides/slide8.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6DC0C29-DD1A-4DFB-8C03-1AF2FB0C20E0}"/>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C303B"/>
                </a:solidFill>
                <a:latin typeface="Arial"/>
                <a:ea typeface="Arial"/>
                <a:cs typeface="Arial"/>
              </a:defRPr>
            </a:defPPr>
            <a:lvl1pPr>
              <a:defRPr sz="3225" b="1">
                <a:solidFill>
                  <a:srgbClr val="1C303B"/>
                </a:solidFill>
                <a:latin typeface="Arial"/>
                <a:ea typeface="Arial"/>
                <a:cs typeface="Arial"/>
              </a:defRPr>
            </a:lvl1pPr>
            <a:lvl2pPr>
              <a:defRPr sz="3225" b="1">
                <a:solidFill>
                  <a:srgbClr val="1C303B"/>
                </a:solidFill>
                <a:latin typeface="Arial"/>
                <a:ea typeface="Arial"/>
                <a:cs typeface="Arial"/>
              </a:defRPr>
            </a:lvl2pPr>
            <a:lvl3pPr>
              <a:defRPr sz="3225" b="1">
                <a:solidFill>
                  <a:srgbClr val="1C303B"/>
                </a:solidFill>
                <a:latin typeface="Arial"/>
                <a:ea typeface="Arial"/>
                <a:cs typeface="Arial"/>
              </a:defRPr>
            </a:lvl3pPr>
            <a:lvl4pPr>
              <a:defRPr sz="3225" b="1">
                <a:solidFill>
                  <a:srgbClr val="1C303B"/>
                </a:solidFill>
                <a:latin typeface="Arial"/>
                <a:ea typeface="Arial"/>
                <a:cs typeface="Arial"/>
              </a:defRPr>
            </a:lvl4pPr>
            <a:lvl5pPr>
              <a:defRPr sz="3225" b="1">
                <a:solidFill>
                  <a:srgbClr val="1C303B"/>
                </a:solidFill>
                <a:latin typeface="Arial"/>
                <a:ea typeface="Arial"/>
                <a:cs typeface="Arial"/>
              </a:defRPr>
            </a:lvl5pPr>
            <a:lvl6pPr>
              <a:defRPr sz="3225" b="1">
                <a:solidFill>
                  <a:srgbClr val="1C303B"/>
                </a:solidFill>
                <a:latin typeface="Arial"/>
                <a:ea typeface="Arial"/>
                <a:cs typeface="Arial"/>
              </a:defRPr>
            </a:lvl6pPr>
            <a:lvl7pPr>
              <a:defRPr sz="3225" b="1">
                <a:solidFill>
                  <a:srgbClr val="1C303B"/>
                </a:solidFill>
                <a:latin typeface="Arial"/>
                <a:ea typeface="Arial"/>
                <a:cs typeface="Arial"/>
              </a:defRPr>
            </a:lvl7pPr>
            <a:lvl8pPr>
              <a:defRPr sz="3225" b="1">
                <a:solidFill>
                  <a:srgbClr val="1C303B"/>
                </a:solidFill>
                <a:latin typeface="Arial"/>
                <a:ea typeface="Arial"/>
                <a:cs typeface="Arial"/>
              </a:defRPr>
            </a:lvl8pPr>
            <a:lvl9pPr>
              <a:defRPr sz="3225" b="1">
                <a:solidFill>
                  <a:srgbClr val="1C303B"/>
                </a:solidFill>
                <a:latin typeface="Arial"/>
                <a:ea typeface="Arial"/>
                <a:cs typeface="Arial"/>
              </a:defRPr>
            </a:lvl9pPr>
          </a:lstStyle>
          <a:p xmlns:a="http://schemas.openxmlformats.org/drawingml/2006/main">
            <a:pPr>
              <a:defRPr sz="3225" b="1">
                <a:solidFill>
                  <a:srgbClr val="1C303B"/>
                </a:solidFill>
                <a:latin typeface="Arial"/>
                <a:ea typeface="Arial"/>
                <a:cs typeface="Arial"/>
              </a:defRPr>
            </a:pPr>
            <a:r>
              <a:rPr sz="3225" b="1">
                <a:solidFill>
                  <a:srgbClr val="1C303B"/>
                </a:solidFill>
                <a:latin typeface="Arial"/>
                <a:ea typeface="Arial"/>
                <a:cs typeface="Arial"/>
              </a:rPr>
              <a:t>Discounted equity cash flow</a:t>
            </a:r>
          </a:p>
        </p:txBody>
      </p:sp>
      <p:sp>
        <p:nvSpPr>
          <p:cNvPr id="2" name="">
            <a:extLst xmlns:a="http://schemas.openxmlformats.org/drawingml/2006/main">
              <a:ext uri="{FF2B5EF4-FFF2-40B4-BE49-F238E27FC236}">
                <a16:creationId xmlns:a16="http://schemas.microsoft.com/office/drawing/2014/main" id="{C9993094-3F1C-432E-BE39-6721ED2914F7}"/>
              </a:ext>
            </a:extLst>
          </p:cNvPr>
          <p:cNvSpPr>
            <a:spLocks xmlns:a="http://schemas.openxmlformats.org/drawingml/2006/main" noGrp="1"/>
          </p:cNvSpPr>
          <p:nvPr/>
        </p:nvSpPr>
        <p:spPr>
          <a:xfrm xmlns:a="http://schemas.openxmlformats.org/drawingml/2006/main">
            <a:off x="609600" y="6324600"/>
            <a:ext cx="933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977"/>
                </a:solidFill>
                <a:latin typeface="Arial"/>
                <a:ea typeface="Arial"/>
                <a:cs typeface="Arial"/>
              </a:defRPr>
            </a:defPPr>
            <a:lvl1pPr>
              <a:defRPr sz="1125" b="0">
                <a:solidFill>
                  <a:srgbClr val="526977"/>
                </a:solidFill>
                <a:latin typeface="Arial"/>
                <a:ea typeface="Arial"/>
                <a:cs typeface="Arial"/>
              </a:defRPr>
            </a:lvl1pPr>
            <a:lvl2pPr>
              <a:defRPr sz="1125" b="0">
                <a:solidFill>
                  <a:srgbClr val="526977"/>
                </a:solidFill>
                <a:latin typeface="Arial"/>
                <a:ea typeface="Arial"/>
                <a:cs typeface="Arial"/>
              </a:defRPr>
            </a:lvl2pPr>
            <a:lvl3pPr>
              <a:defRPr sz="1125" b="0">
                <a:solidFill>
                  <a:srgbClr val="526977"/>
                </a:solidFill>
                <a:latin typeface="Arial"/>
                <a:ea typeface="Arial"/>
                <a:cs typeface="Arial"/>
              </a:defRPr>
            </a:lvl3pPr>
            <a:lvl4pPr>
              <a:defRPr sz="1125" b="0">
                <a:solidFill>
                  <a:srgbClr val="526977"/>
                </a:solidFill>
                <a:latin typeface="Arial"/>
                <a:ea typeface="Arial"/>
                <a:cs typeface="Arial"/>
              </a:defRPr>
            </a:lvl4pPr>
            <a:lvl5pPr>
              <a:defRPr sz="1125" b="0">
                <a:solidFill>
                  <a:srgbClr val="526977"/>
                </a:solidFill>
                <a:latin typeface="Arial"/>
                <a:ea typeface="Arial"/>
                <a:cs typeface="Arial"/>
              </a:defRPr>
            </a:lvl5pPr>
            <a:lvl6pPr>
              <a:defRPr sz="1125" b="0">
                <a:solidFill>
                  <a:srgbClr val="526977"/>
                </a:solidFill>
                <a:latin typeface="Arial"/>
                <a:ea typeface="Arial"/>
                <a:cs typeface="Arial"/>
              </a:defRPr>
            </a:lvl6pPr>
            <a:lvl7pPr>
              <a:defRPr sz="1125" b="0">
                <a:solidFill>
                  <a:srgbClr val="526977"/>
                </a:solidFill>
                <a:latin typeface="Arial"/>
                <a:ea typeface="Arial"/>
                <a:cs typeface="Arial"/>
              </a:defRPr>
            </a:lvl7pPr>
            <a:lvl8pPr>
              <a:defRPr sz="1125" b="0">
                <a:solidFill>
                  <a:srgbClr val="526977"/>
                </a:solidFill>
                <a:latin typeface="Arial"/>
                <a:ea typeface="Arial"/>
                <a:cs typeface="Arial"/>
              </a:defRPr>
            </a:lvl8pPr>
            <a:lvl9pPr>
              <a:defRPr sz="1125" b="0">
                <a:solidFill>
                  <a:srgbClr val="526977"/>
                </a:solidFill>
                <a:latin typeface="Arial"/>
                <a:ea typeface="Arial"/>
                <a:cs typeface="Arial"/>
              </a:defRPr>
            </a:lvl9pPr>
          </a:lstStyle>
          <a:p xmlns:a="http://schemas.openxmlformats.org/drawingml/2006/main">
            <a:pPr>
              <a:defRPr sz="1125" b="0">
                <a:solidFill>
                  <a:srgbClr val="526977"/>
                </a:solidFill>
                <a:latin typeface="Arial"/>
                <a:ea typeface="Arial"/>
                <a:cs typeface="Arial"/>
              </a:defRPr>
            </a:pPr>
            <a:r>
              <a:rPr sz="1125" b="0">
                <a:solidFill>
                  <a:srgbClr val="526977"/>
                </a:solidFill>
                <a:latin typeface="Arial"/>
                <a:ea typeface="Arial"/>
                <a:cs typeface="Arial"/>
              </a:rPr>
              <a:t>RALVEN 5.0 / BMRI / 25 Oct 2026</a:t>
            </a:r>
          </a:p>
        </p:txBody>
      </p:sp>
      <p:sp>
        <p:nvSpPr>
          <p:cNvPr id="3" name="">
            <a:extLst xmlns:a="http://schemas.openxmlformats.org/drawingml/2006/main">
              <a:ext uri="{FF2B5EF4-FFF2-40B4-BE49-F238E27FC236}">
                <a16:creationId xmlns:a16="http://schemas.microsoft.com/office/drawing/2014/main" id="{90263796-E8EB-4F8C-BF2B-7E0D623B83B3}"/>
              </a:ext>
            </a:extLst>
          </p:cNvPr>
          <p:cNvSpPr>
            <a:spLocks xmlns:a="http://schemas.openxmlformats.org/drawingml/2006/main" noGrp="1"/>
          </p:cNvSpPr>
          <p:nvPr/>
        </p:nvSpPr>
        <p:spPr>
          <a:xfrm xmlns:a="http://schemas.openxmlformats.org/drawingml/2006/main">
            <a:off x="11001375" y="63246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977"/>
                </a:solidFill>
                <a:latin typeface="Arial"/>
                <a:ea typeface="Arial"/>
                <a:cs typeface="Arial"/>
              </a:defRPr>
            </a:defPPr>
            <a:lvl1pPr>
              <a:defRPr sz="1125" b="0">
                <a:solidFill>
                  <a:srgbClr val="526977"/>
                </a:solidFill>
                <a:latin typeface="Arial"/>
                <a:ea typeface="Arial"/>
                <a:cs typeface="Arial"/>
              </a:defRPr>
            </a:lvl1pPr>
            <a:lvl2pPr>
              <a:defRPr sz="1125" b="0">
                <a:solidFill>
                  <a:srgbClr val="526977"/>
                </a:solidFill>
                <a:latin typeface="Arial"/>
                <a:ea typeface="Arial"/>
                <a:cs typeface="Arial"/>
              </a:defRPr>
            </a:lvl2pPr>
            <a:lvl3pPr>
              <a:defRPr sz="1125" b="0">
                <a:solidFill>
                  <a:srgbClr val="526977"/>
                </a:solidFill>
                <a:latin typeface="Arial"/>
                <a:ea typeface="Arial"/>
                <a:cs typeface="Arial"/>
              </a:defRPr>
            </a:lvl3pPr>
            <a:lvl4pPr>
              <a:defRPr sz="1125" b="0">
                <a:solidFill>
                  <a:srgbClr val="526977"/>
                </a:solidFill>
                <a:latin typeface="Arial"/>
                <a:ea typeface="Arial"/>
                <a:cs typeface="Arial"/>
              </a:defRPr>
            </a:lvl4pPr>
            <a:lvl5pPr>
              <a:defRPr sz="1125" b="0">
                <a:solidFill>
                  <a:srgbClr val="526977"/>
                </a:solidFill>
                <a:latin typeface="Arial"/>
                <a:ea typeface="Arial"/>
                <a:cs typeface="Arial"/>
              </a:defRPr>
            </a:lvl5pPr>
            <a:lvl6pPr>
              <a:defRPr sz="1125" b="0">
                <a:solidFill>
                  <a:srgbClr val="526977"/>
                </a:solidFill>
                <a:latin typeface="Arial"/>
                <a:ea typeface="Arial"/>
                <a:cs typeface="Arial"/>
              </a:defRPr>
            </a:lvl6pPr>
            <a:lvl7pPr>
              <a:defRPr sz="1125" b="0">
                <a:solidFill>
                  <a:srgbClr val="526977"/>
                </a:solidFill>
                <a:latin typeface="Arial"/>
                <a:ea typeface="Arial"/>
                <a:cs typeface="Arial"/>
              </a:defRPr>
            </a:lvl7pPr>
            <a:lvl8pPr>
              <a:defRPr sz="1125" b="0">
                <a:solidFill>
                  <a:srgbClr val="526977"/>
                </a:solidFill>
                <a:latin typeface="Arial"/>
                <a:ea typeface="Arial"/>
                <a:cs typeface="Arial"/>
              </a:defRPr>
            </a:lvl8pPr>
            <a:lvl9pPr>
              <a:defRPr sz="1125" b="0">
                <a:solidFill>
                  <a:srgbClr val="526977"/>
                </a:solidFill>
                <a:latin typeface="Arial"/>
                <a:ea typeface="Arial"/>
                <a:cs typeface="Arial"/>
              </a:defRPr>
            </a:lvl9pPr>
          </a:lstStyle>
          <a:p xmlns:a="http://schemas.openxmlformats.org/drawingml/2006/main">
            <a:pPr>
              <a:defRPr sz="1125" b="0">
                <a:solidFill>
                  <a:srgbClr val="526977"/>
                </a:solidFill>
                <a:latin typeface="Arial"/>
                <a:ea typeface="Arial"/>
                <a:cs typeface="Arial"/>
              </a:defRPr>
            </a:pPr>
            <a:r>
              <a:rPr sz="1125" b="0">
                <a:solidFill>
                  <a:srgbClr val="526977"/>
                </a:solidFill>
                <a:latin typeface="Arial"/>
                <a:ea typeface="Arial"/>
                <a:cs typeface="Arial"/>
              </a:rPr>
              <a:t>8</a:t>
            </a:r>
          </a:p>
        </p:txBody>
      </p:sp>
      <p:sp>
        <p:nvSpPr>
          <p:cNvPr id="4" name="">
            <a:extLst xmlns:a="http://schemas.openxmlformats.org/drawingml/2006/main">
              <a:ext uri="{FF2B5EF4-FFF2-40B4-BE49-F238E27FC236}">
                <a16:creationId xmlns:a16="http://schemas.microsoft.com/office/drawing/2014/main" id="{AE8C3E17-1A8E-4826-8D35-8DE423B4CAAC}"/>
              </a:ext>
            </a:extLst>
          </p:cNvPr>
          <p:cNvSpPr>
            <a:spLocks xmlns:a="http://schemas.openxmlformats.org/drawingml/2006/main" noGrp="1"/>
          </p:cNvSpPr>
          <p:nvPr/>
        </p:nvSpPr>
        <p:spPr>
          <a:xfrm xmlns:a="http://schemas.openxmlformats.org/drawingml/2006/main">
            <a:off x="609600" y="19526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C303B"/>
                </a:solidFill>
                <a:latin typeface="Arial"/>
                <a:ea typeface="Arial"/>
                <a:cs typeface="Arial"/>
              </a:defRPr>
            </a:defPPr>
            <a:lvl1pPr>
              <a:defRPr sz="2175" b="1">
                <a:solidFill>
                  <a:srgbClr val="1C303B"/>
                </a:solidFill>
                <a:latin typeface="Arial"/>
                <a:ea typeface="Arial"/>
                <a:cs typeface="Arial"/>
              </a:defRPr>
            </a:lvl1pPr>
            <a:lvl2pPr>
              <a:defRPr sz="2175" b="1">
                <a:solidFill>
                  <a:srgbClr val="1C303B"/>
                </a:solidFill>
                <a:latin typeface="Arial"/>
                <a:ea typeface="Arial"/>
                <a:cs typeface="Arial"/>
              </a:defRPr>
            </a:lvl2pPr>
            <a:lvl3pPr>
              <a:defRPr sz="2175" b="1">
                <a:solidFill>
                  <a:srgbClr val="1C303B"/>
                </a:solidFill>
                <a:latin typeface="Arial"/>
                <a:ea typeface="Arial"/>
                <a:cs typeface="Arial"/>
              </a:defRPr>
            </a:lvl3pPr>
            <a:lvl4pPr>
              <a:defRPr sz="2175" b="1">
                <a:solidFill>
                  <a:srgbClr val="1C303B"/>
                </a:solidFill>
                <a:latin typeface="Arial"/>
                <a:ea typeface="Arial"/>
                <a:cs typeface="Arial"/>
              </a:defRPr>
            </a:lvl4pPr>
            <a:lvl5pPr>
              <a:defRPr sz="2175" b="1">
                <a:solidFill>
                  <a:srgbClr val="1C303B"/>
                </a:solidFill>
                <a:latin typeface="Arial"/>
                <a:ea typeface="Arial"/>
                <a:cs typeface="Arial"/>
              </a:defRPr>
            </a:lvl5pPr>
            <a:lvl6pPr>
              <a:defRPr sz="2175" b="1">
                <a:solidFill>
                  <a:srgbClr val="1C303B"/>
                </a:solidFill>
                <a:latin typeface="Arial"/>
                <a:ea typeface="Arial"/>
                <a:cs typeface="Arial"/>
              </a:defRPr>
            </a:lvl6pPr>
            <a:lvl7pPr>
              <a:defRPr sz="2175" b="1">
                <a:solidFill>
                  <a:srgbClr val="1C303B"/>
                </a:solidFill>
                <a:latin typeface="Arial"/>
                <a:ea typeface="Arial"/>
                <a:cs typeface="Arial"/>
              </a:defRPr>
            </a:lvl7pPr>
            <a:lvl8pPr>
              <a:defRPr sz="2175" b="1">
                <a:solidFill>
                  <a:srgbClr val="1C303B"/>
                </a:solidFill>
                <a:latin typeface="Arial"/>
                <a:ea typeface="Arial"/>
                <a:cs typeface="Arial"/>
              </a:defRPr>
            </a:lvl8pPr>
            <a:lvl9pPr>
              <a:defRPr sz="2175" b="1">
                <a:solidFill>
                  <a:srgbClr val="1C303B"/>
                </a:solidFill>
                <a:latin typeface="Arial"/>
                <a:ea typeface="Arial"/>
                <a:cs typeface="Arial"/>
              </a:defRPr>
            </a:lvl9pPr>
          </a:lstStyle>
          <a:p xmlns:a="http://schemas.openxmlformats.org/drawingml/2006/main">
            <a:pPr>
              <a:defRPr sz="2175" b="1">
                <a:solidFill>
                  <a:srgbClr val="1C303B"/>
                </a:solidFill>
                <a:latin typeface="Arial"/>
                <a:ea typeface="Arial"/>
                <a:cs typeface="Arial"/>
              </a:defRPr>
            </a:pPr>
            <a:r>
              <a:rPr sz="2175" b="1">
                <a:solidFill>
                  <a:srgbClr val="1C303B"/>
                </a:solidFill>
                <a:latin typeface="Arial"/>
                <a:ea typeface="Arial"/>
                <a:cs typeface="Arial"/>
              </a:rPr>
              <a:t>Dividend discount model</a:t>
            </a:r>
          </a:p>
        </p:txBody>
      </p:sp>
      <p:sp>
        <p:nvSpPr>
          <p:cNvPr id="5" name="">
            <a:extLst xmlns:a="http://schemas.openxmlformats.org/drawingml/2006/main">
              <a:ext uri="{FF2B5EF4-FFF2-40B4-BE49-F238E27FC236}">
                <a16:creationId xmlns:a16="http://schemas.microsoft.com/office/drawing/2014/main" id="{8B67F848-C403-4D65-968D-9CD224474179}"/>
              </a:ext>
            </a:extLst>
          </p:cNvPr>
          <p:cNvSpPr>
            <a:spLocks xmlns:a="http://schemas.openxmlformats.org/drawingml/2006/main" noGrp="1"/>
          </p:cNvSpPr>
          <p:nvPr/>
        </p:nvSpPr>
        <p:spPr>
          <a:xfrm xmlns:a="http://schemas.openxmlformats.org/drawingml/2006/main">
            <a:off x="609600" y="2476500"/>
            <a:ext cx="10972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977"/>
                </a:solidFill>
                <a:latin typeface="Arial"/>
                <a:ea typeface="Arial"/>
                <a:cs typeface="Arial"/>
              </a:defRPr>
            </a:defPPr>
            <a:lvl1pPr>
              <a:defRPr sz="1875" b="0">
                <a:solidFill>
                  <a:srgbClr val="526977"/>
                </a:solidFill>
                <a:latin typeface="Arial"/>
                <a:ea typeface="Arial"/>
                <a:cs typeface="Arial"/>
              </a:defRPr>
            </a:lvl1pPr>
            <a:lvl2pPr>
              <a:defRPr sz="1875" b="0">
                <a:solidFill>
                  <a:srgbClr val="526977"/>
                </a:solidFill>
                <a:latin typeface="Arial"/>
                <a:ea typeface="Arial"/>
                <a:cs typeface="Arial"/>
              </a:defRPr>
            </a:lvl2pPr>
            <a:lvl3pPr>
              <a:defRPr sz="1875" b="0">
                <a:solidFill>
                  <a:srgbClr val="526977"/>
                </a:solidFill>
                <a:latin typeface="Arial"/>
                <a:ea typeface="Arial"/>
                <a:cs typeface="Arial"/>
              </a:defRPr>
            </a:lvl3pPr>
            <a:lvl4pPr>
              <a:defRPr sz="1875" b="0">
                <a:solidFill>
                  <a:srgbClr val="526977"/>
                </a:solidFill>
                <a:latin typeface="Arial"/>
                <a:ea typeface="Arial"/>
                <a:cs typeface="Arial"/>
              </a:defRPr>
            </a:lvl4pPr>
            <a:lvl5pPr>
              <a:defRPr sz="1875" b="0">
                <a:solidFill>
                  <a:srgbClr val="526977"/>
                </a:solidFill>
                <a:latin typeface="Arial"/>
                <a:ea typeface="Arial"/>
                <a:cs typeface="Arial"/>
              </a:defRPr>
            </a:lvl5pPr>
            <a:lvl6pPr>
              <a:defRPr sz="1875" b="0">
                <a:solidFill>
                  <a:srgbClr val="526977"/>
                </a:solidFill>
                <a:latin typeface="Arial"/>
                <a:ea typeface="Arial"/>
                <a:cs typeface="Arial"/>
              </a:defRPr>
            </a:lvl6pPr>
            <a:lvl7pPr>
              <a:defRPr sz="1875" b="0">
                <a:solidFill>
                  <a:srgbClr val="526977"/>
                </a:solidFill>
                <a:latin typeface="Arial"/>
                <a:ea typeface="Arial"/>
                <a:cs typeface="Arial"/>
              </a:defRPr>
            </a:lvl7pPr>
            <a:lvl8pPr>
              <a:defRPr sz="1875" b="0">
                <a:solidFill>
                  <a:srgbClr val="526977"/>
                </a:solidFill>
                <a:latin typeface="Arial"/>
                <a:ea typeface="Arial"/>
                <a:cs typeface="Arial"/>
              </a:defRPr>
            </a:lvl8pPr>
            <a:lvl9pPr>
              <a:defRPr sz="1875" b="0">
                <a:solidFill>
                  <a:srgbClr val="526977"/>
                </a:solidFill>
                <a:latin typeface="Arial"/>
                <a:ea typeface="Arial"/>
                <a:cs typeface="Arial"/>
              </a:defRPr>
            </a:lvl9pPr>
          </a:lstStyle>
          <a:p xmlns:a="http://schemas.openxmlformats.org/drawingml/2006/main">
            <a:pPr>
              <a:defRPr sz="1875" b="0">
                <a:solidFill>
                  <a:srgbClr val="526977"/>
                </a:solidFill>
                <a:latin typeface="Arial"/>
                <a:ea typeface="Arial"/>
                <a:cs typeface="Arial"/>
              </a:defRPr>
            </a:pPr>
            <a:r>
              <a:rPr sz="1875" b="0">
                <a:solidFill>
                  <a:srgbClr val="526977"/>
                </a:solidFill>
                <a:latin typeface="Arial"/>
                <a:ea typeface="Arial"/>
                <a:cs typeface="Arial"/>
              </a:rPr>
              <a:t>Cost of equity = risk-free rate + beta x total equity premium. Present value includes five rolling years of dividends and a sustainable terminal distribution.</a:t>
            </a:r>
          </a:p>
        </p:txBody>
      </p:sp>
      <p:sp>
        <p:nvSpPr>
          <p:cNvPr id="6" name="">
            <a:extLst xmlns:a="http://schemas.openxmlformats.org/drawingml/2006/main">
              <a:ext uri="{FF2B5EF4-FFF2-40B4-BE49-F238E27FC236}">
                <a16:creationId xmlns:a16="http://schemas.microsoft.com/office/drawing/2014/main" id="{A0606467-3124-450A-9C47-91067EF37E43}"/>
              </a:ext>
            </a:extLst>
          </p:cNvPr>
          <p:cNvSpPr>
            <a:spLocks xmlns:a="http://schemas.openxmlformats.org/drawingml/2006/main" noGrp="1"/>
          </p:cNvSpPr>
          <p:nvPr/>
        </p:nvSpPr>
        <p:spPr>
          <a:xfrm xmlns:a="http://schemas.openxmlformats.org/drawingml/2006/main">
            <a:off x="609600" y="38100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C303B"/>
                </a:solidFill>
                <a:latin typeface="Arial"/>
                <a:ea typeface="Arial"/>
                <a:cs typeface="Arial"/>
              </a:defRPr>
            </a:defPPr>
            <a:lvl1pPr>
              <a:defRPr sz="2175" b="1">
                <a:solidFill>
                  <a:srgbClr val="1C303B"/>
                </a:solidFill>
                <a:latin typeface="Arial"/>
                <a:ea typeface="Arial"/>
                <a:cs typeface="Arial"/>
              </a:defRPr>
            </a:lvl1pPr>
            <a:lvl2pPr>
              <a:defRPr sz="2175" b="1">
                <a:solidFill>
                  <a:srgbClr val="1C303B"/>
                </a:solidFill>
                <a:latin typeface="Arial"/>
                <a:ea typeface="Arial"/>
                <a:cs typeface="Arial"/>
              </a:defRPr>
            </a:lvl2pPr>
            <a:lvl3pPr>
              <a:defRPr sz="2175" b="1">
                <a:solidFill>
                  <a:srgbClr val="1C303B"/>
                </a:solidFill>
                <a:latin typeface="Arial"/>
                <a:ea typeface="Arial"/>
                <a:cs typeface="Arial"/>
              </a:defRPr>
            </a:lvl3pPr>
            <a:lvl4pPr>
              <a:defRPr sz="2175" b="1">
                <a:solidFill>
                  <a:srgbClr val="1C303B"/>
                </a:solidFill>
                <a:latin typeface="Arial"/>
                <a:ea typeface="Arial"/>
                <a:cs typeface="Arial"/>
              </a:defRPr>
            </a:lvl4pPr>
            <a:lvl5pPr>
              <a:defRPr sz="2175" b="1">
                <a:solidFill>
                  <a:srgbClr val="1C303B"/>
                </a:solidFill>
                <a:latin typeface="Arial"/>
                <a:ea typeface="Arial"/>
                <a:cs typeface="Arial"/>
              </a:defRPr>
            </a:lvl5pPr>
            <a:lvl6pPr>
              <a:defRPr sz="2175" b="1">
                <a:solidFill>
                  <a:srgbClr val="1C303B"/>
                </a:solidFill>
                <a:latin typeface="Arial"/>
                <a:ea typeface="Arial"/>
                <a:cs typeface="Arial"/>
              </a:defRPr>
            </a:lvl6pPr>
            <a:lvl7pPr>
              <a:defRPr sz="2175" b="1">
                <a:solidFill>
                  <a:srgbClr val="1C303B"/>
                </a:solidFill>
                <a:latin typeface="Arial"/>
                <a:ea typeface="Arial"/>
                <a:cs typeface="Arial"/>
              </a:defRPr>
            </a:lvl7pPr>
            <a:lvl8pPr>
              <a:defRPr sz="2175" b="1">
                <a:solidFill>
                  <a:srgbClr val="1C303B"/>
                </a:solidFill>
                <a:latin typeface="Arial"/>
                <a:ea typeface="Arial"/>
                <a:cs typeface="Arial"/>
              </a:defRPr>
            </a:lvl8pPr>
            <a:lvl9pPr>
              <a:defRPr sz="2175" b="1">
                <a:solidFill>
                  <a:srgbClr val="1C303B"/>
                </a:solidFill>
                <a:latin typeface="Arial"/>
                <a:ea typeface="Arial"/>
                <a:cs typeface="Arial"/>
              </a:defRPr>
            </a:lvl9pPr>
          </a:lstStyle>
          <a:p xmlns:a="http://schemas.openxmlformats.org/drawingml/2006/main">
            <a:pPr>
              <a:defRPr sz="2175" b="1">
                <a:solidFill>
                  <a:srgbClr val="1C303B"/>
                </a:solidFill>
                <a:latin typeface="Arial"/>
                <a:ea typeface="Arial"/>
                <a:cs typeface="Arial"/>
              </a:defRPr>
            </a:pPr>
            <a:r>
              <a:rPr sz="2175" b="1">
                <a:solidFill>
                  <a:srgbClr val="1C303B"/>
                </a:solidFill>
                <a:latin typeface="Arial"/>
                <a:ea typeface="Arial"/>
                <a:cs typeface="Arial"/>
              </a:rPr>
              <a:t>Timing and bank-specific constraints</a:t>
            </a:r>
          </a:p>
        </p:txBody>
      </p:sp>
      <p:sp>
        <p:nvSpPr>
          <p:cNvPr id="7" name="">
            <a:extLst xmlns:a="http://schemas.openxmlformats.org/drawingml/2006/main">
              <a:ext uri="{FF2B5EF4-FFF2-40B4-BE49-F238E27FC236}">
                <a16:creationId xmlns:a16="http://schemas.microsoft.com/office/drawing/2014/main" id="{F8E34649-1E7F-4379-90C0-26305CA5FA33}"/>
              </a:ext>
            </a:extLst>
          </p:cNvPr>
          <p:cNvSpPr>
            <a:spLocks xmlns:a="http://schemas.openxmlformats.org/drawingml/2006/main" noGrp="1"/>
          </p:cNvSpPr>
          <p:nvPr/>
        </p:nvSpPr>
        <p:spPr>
          <a:xfrm xmlns:a="http://schemas.openxmlformats.org/drawingml/2006/main">
            <a:off x="609600" y="4333875"/>
            <a:ext cx="10972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977"/>
                </a:solidFill>
                <a:latin typeface="Arial"/>
                <a:ea typeface="Arial"/>
                <a:cs typeface="Arial"/>
              </a:defRPr>
            </a:defPPr>
            <a:lvl1pPr>
              <a:defRPr sz="1875" b="0">
                <a:solidFill>
                  <a:srgbClr val="526977"/>
                </a:solidFill>
                <a:latin typeface="Arial"/>
                <a:ea typeface="Arial"/>
                <a:cs typeface="Arial"/>
              </a:defRPr>
            </a:lvl1pPr>
            <a:lvl2pPr>
              <a:defRPr sz="1875" b="0">
                <a:solidFill>
                  <a:srgbClr val="526977"/>
                </a:solidFill>
                <a:latin typeface="Arial"/>
                <a:ea typeface="Arial"/>
                <a:cs typeface="Arial"/>
              </a:defRPr>
            </a:lvl2pPr>
            <a:lvl3pPr>
              <a:defRPr sz="1875" b="0">
                <a:solidFill>
                  <a:srgbClr val="526977"/>
                </a:solidFill>
                <a:latin typeface="Arial"/>
                <a:ea typeface="Arial"/>
                <a:cs typeface="Arial"/>
              </a:defRPr>
            </a:lvl3pPr>
            <a:lvl4pPr>
              <a:defRPr sz="1875" b="0">
                <a:solidFill>
                  <a:srgbClr val="526977"/>
                </a:solidFill>
                <a:latin typeface="Arial"/>
                <a:ea typeface="Arial"/>
                <a:cs typeface="Arial"/>
              </a:defRPr>
            </a:lvl4pPr>
            <a:lvl5pPr>
              <a:defRPr sz="1875" b="0">
                <a:solidFill>
                  <a:srgbClr val="526977"/>
                </a:solidFill>
                <a:latin typeface="Arial"/>
                <a:ea typeface="Arial"/>
                <a:cs typeface="Arial"/>
              </a:defRPr>
            </a:lvl5pPr>
            <a:lvl6pPr>
              <a:defRPr sz="1875" b="0">
                <a:solidFill>
                  <a:srgbClr val="526977"/>
                </a:solidFill>
                <a:latin typeface="Arial"/>
                <a:ea typeface="Arial"/>
                <a:cs typeface="Arial"/>
              </a:defRPr>
            </a:lvl6pPr>
            <a:lvl7pPr>
              <a:defRPr sz="1875" b="0">
                <a:solidFill>
                  <a:srgbClr val="526977"/>
                </a:solidFill>
                <a:latin typeface="Arial"/>
                <a:ea typeface="Arial"/>
                <a:cs typeface="Arial"/>
              </a:defRPr>
            </a:lvl7pPr>
            <a:lvl8pPr>
              <a:defRPr sz="1875" b="0">
                <a:solidFill>
                  <a:srgbClr val="526977"/>
                </a:solidFill>
                <a:latin typeface="Arial"/>
                <a:ea typeface="Arial"/>
                <a:cs typeface="Arial"/>
              </a:defRPr>
            </a:lvl8pPr>
            <a:lvl9pPr>
              <a:defRPr sz="1875" b="0">
                <a:solidFill>
                  <a:srgbClr val="526977"/>
                </a:solidFill>
                <a:latin typeface="Arial"/>
                <a:ea typeface="Arial"/>
                <a:cs typeface="Arial"/>
              </a:defRPr>
            </a:lvl9pPr>
          </a:lstStyle>
          <a:p xmlns:a="http://schemas.openxmlformats.org/drawingml/2006/main">
            <a:pPr>
              <a:defRPr sz="1875" b="0">
                <a:solidFill>
                  <a:srgbClr val="526977"/>
                </a:solidFill>
                <a:latin typeface="Arial"/>
                <a:ea typeface="Arial"/>
                <a:cs typeface="Arial"/>
              </a:defRPr>
            </a:pPr>
            <a:r>
              <a:rPr sz="1875" b="0">
                <a:solidFill>
                  <a:srgbClr val="526977"/>
                </a:solidFill>
                <a:latin typeface="Arial"/>
                <a:ea typeface="Arial"/>
                <a:cs typeface="Arial"/>
              </a:rPr>
              <a:t>Rolling anniversary periods begin at the valuation date. DDM uses earnings and payout, with no corporate net-debt bridge. Capital capacity requires issuer-specific common-capital/RWA assumptions.</a:t>
            </a:r>
          </a:p>
        </p:txBody>
      </p:sp>
    </p:spTree>
    <p:extLst>
      <p:ext uri="{BB962C8B-B14F-4D97-AF65-F5344CB8AC3E}">
        <p14:creationId xmlns:p14="http://schemas.microsoft.com/office/powerpoint/2010/main" val="1938532997"/>
      </p:ext>
    </p:extLst>
  </p:cSld>
</p:sld>
</file>

<file path=ppt/slides/slide9.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8B955EB-8271-41A3-A10D-64E0C8D50F5E}"/>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C303B"/>
                </a:solidFill>
                <a:latin typeface="Arial"/>
                <a:ea typeface="Arial"/>
                <a:cs typeface="Arial"/>
              </a:defRPr>
            </a:defPPr>
            <a:lvl1pPr>
              <a:defRPr sz="3225" b="1">
                <a:solidFill>
                  <a:srgbClr val="1C303B"/>
                </a:solidFill>
                <a:latin typeface="Arial"/>
                <a:ea typeface="Arial"/>
                <a:cs typeface="Arial"/>
              </a:defRPr>
            </a:lvl1pPr>
            <a:lvl2pPr>
              <a:defRPr sz="3225" b="1">
                <a:solidFill>
                  <a:srgbClr val="1C303B"/>
                </a:solidFill>
                <a:latin typeface="Arial"/>
                <a:ea typeface="Arial"/>
                <a:cs typeface="Arial"/>
              </a:defRPr>
            </a:lvl2pPr>
            <a:lvl3pPr>
              <a:defRPr sz="3225" b="1">
                <a:solidFill>
                  <a:srgbClr val="1C303B"/>
                </a:solidFill>
                <a:latin typeface="Arial"/>
                <a:ea typeface="Arial"/>
                <a:cs typeface="Arial"/>
              </a:defRPr>
            </a:lvl3pPr>
            <a:lvl4pPr>
              <a:defRPr sz="3225" b="1">
                <a:solidFill>
                  <a:srgbClr val="1C303B"/>
                </a:solidFill>
                <a:latin typeface="Arial"/>
                <a:ea typeface="Arial"/>
                <a:cs typeface="Arial"/>
              </a:defRPr>
            </a:lvl4pPr>
            <a:lvl5pPr>
              <a:defRPr sz="3225" b="1">
                <a:solidFill>
                  <a:srgbClr val="1C303B"/>
                </a:solidFill>
                <a:latin typeface="Arial"/>
                <a:ea typeface="Arial"/>
                <a:cs typeface="Arial"/>
              </a:defRPr>
            </a:lvl5pPr>
            <a:lvl6pPr>
              <a:defRPr sz="3225" b="1">
                <a:solidFill>
                  <a:srgbClr val="1C303B"/>
                </a:solidFill>
                <a:latin typeface="Arial"/>
                <a:ea typeface="Arial"/>
                <a:cs typeface="Arial"/>
              </a:defRPr>
            </a:lvl6pPr>
            <a:lvl7pPr>
              <a:defRPr sz="3225" b="1">
                <a:solidFill>
                  <a:srgbClr val="1C303B"/>
                </a:solidFill>
                <a:latin typeface="Arial"/>
                <a:ea typeface="Arial"/>
                <a:cs typeface="Arial"/>
              </a:defRPr>
            </a:lvl7pPr>
            <a:lvl8pPr>
              <a:defRPr sz="3225" b="1">
                <a:solidFill>
                  <a:srgbClr val="1C303B"/>
                </a:solidFill>
                <a:latin typeface="Arial"/>
                <a:ea typeface="Arial"/>
                <a:cs typeface="Arial"/>
              </a:defRPr>
            </a:lvl8pPr>
            <a:lvl9pPr>
              <a:defRPr sz="3225" b="1">
                <a:solidFill>
                  <a:srgbClr val="1C303B"/>
                </a:solidFill>
                <a:latin typeface="Arial"/>
                <a:ea typeface="Arial"/>
                <a:cs typeface="Arial"/>
              </a:defRPr>
            </a:lvl9pPr>
          </a:lstStyle>
          <a:p xmlns:a="http://schemas.openxmlformats.org/drawingml/2006/main">
            <a:pPr>
              <a:defRPr sz="3225" b="1">
                <a:solidFill>
                  <a:srgbClr val="1C303B"/>
                </a:solidFill>
                <a:latin typeface="Arial"/>
                <a:ea typeface="Arial"/>
                <a:cs typeface="Arial"/>
              </a:defRPr>
            </a:pPr>
            <a:r>
              <a:rPr sz="3225" b="1">
                <a:solidFill>
                  <a:srgbClr val="1C303B"/>
                </a:solidFill>
                <a:latin typeface="Arial"/>
                <a:ea typeface="Arial"/>
                <a:cs typeface="Arial"/>
              </a:rPr>
              <a:t>Forecast and DDM reconciliation</a:t>
            </a:r>
          </a:p>
        </p:txBody>
      </p:sp>
      <p:sp>
        <p:nvSpPr>
          <p:cNvPr id="2" name="">
            <a:extLst xmlns:a="http://schemas.openxmlformats.org/drawingml/2006/main">
              <a:ext uri="{FF2B5EF4-FFF2-40B4-BE49-F238E27FC236}">
                <a16:creationId xmlns:a16="http://schemas.microsoft.com/office/drawing/2014/main" id="{D0E90293-71AC-4B99-92A3-8DA259337008}"/>
              </a:ext>
            </a:extLst>
          </p:cNvPr>
          <p:cNvSpPr>
            <a:spLocks xmlns:a="http://schemas.openxmlformats.org/drawingml/2006/main" noGrp="1"/>
          </p:cNvSpPr>
          <p:nvPr/>
        </p:nvSpPr>
        <p:spPr>
          <a:xfrm xmlns:a="http://schemas.openxmlformats.org/drawingml/2006/main">
            <a:off x="609600" y="6324600"/>
            <a:ext cx="933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977"/>
                </a:solidFill>
                <a:latin typeface="Arial"/>
                <a:ea typeface="Arial"/>
                <a:cs typeface="Arial"/>
              </a:defRPr>
            </a:defPPr>
            <a:lvl1pPr>
              <a:defRPr sz="1125" b="0">
                <a:solidFill>
                  <a:srgbClr val="526977"/>
                </a:solidFill>
                <a:latin typeface="Arial"/>
                <a:ea typeface="Arial"/>
                <a:cs typeface="Arial"/>
              </a:defRPr>
            </a:lvl1pPr>
            <a:lvl2pPr>
              <a:defRPr sz="1125" b="0">
                <a:solidFill>
                  <a:srgbClr val="526977"/>
                </a:solidFill>
                <a:latin typeface="Arial"/>
                <a:ea typeface="Arial"/>
                <a:cs typeface="Arial"/>
              </a:defRPr>
            </a:lvl2pPr>
            <a:lvl3pPr>
              <a:defRPr sz="1125" b="0">
                <a:solidFill>
                  <a:srgbClr val="526977"/>
                </a:solidFill>
                <a:latin typeface="Arial"/>
                <a:ea typeface="Arial"/>
                <a:cs typeface="Arial"/>
              </a:defRPr>
            </a:lvl3pPr>
            <a:lvl4pPr>
              <a:defRPr sz="1125" b="0">
                <a:solidFill>
                  <a:srgbClr val="526977"/>
                </a:solidFill>
                <a:latin typeface="Arial"/>
                <a:ea typeface="Arial"/>
                <a:cs typeface="Arial"/>
              </a:defRPr>
            </a:lvl4pPr>
            <a:lvl5pPr>
              <a:defRPr sz="1125" b="0">
                <a:solidFill>
                  <a:srgbClr val="526977"/>
                </a:solidFill>
                <a:latin typeface="Arial"/>
                <a:ea typeface="Arial"/>
                <a:cs typeface="Arial"/>
              </a:defRPr>
            </a:lvl5pPr>
            <a:lvl6pPr>
              <a:defRPr sz="1125" b="0">
                <a:solidFill>
                  <a:srgbClr val="526977"/>
                </a:solidFill>
                <a:latin typeface="Arial"/>
                <a:ea typeface="Arial"/>
                <a:cs typeface="Arial"/>
              </a:defRPr>
            </a:lvl6pPr>
            <a:lvl7pPr>
              <a:defRPr sz="1125" b="0">
                <a:solidFill>
                  <a:srgbClr val="526977"/>
                </a:solidFill>
                <a:latin typeface="Arial"/>
                <a:ea typeface="Arial"/>
                <a:cs typeface="Arial"/>
              </a:defRPr>
            </a:lvl7pPr>
            <a:lvl8pPr>
              <a:defRPr sz="1125" b="0">
                <a:solidFill>
                  <a:srgbClr val="526977"/>
                </a:solidFill>
                <a:latin typeface="Arial"/>
                <a:ea typeface="Arial"/>
                <a:cs typeface="Arial"/>
              </a:defRPr>
            </a:lvl8pPr>
            <a:lvl9pPr>
              <a:defRPr sz="1125" b="0">
                <a:solidFill>
                  <a:srgbClr val="526977"/>
                </a:solidFill>
                <a:latin typeface="Arial"/>
                <a:ea typeface="Arial"/>
                <a:cs typeface="Arial"/>
              </a:defRPr>
            </a:lvl9pPr>
          </a:lstStyle>
          <a:p xmlns:a="http://schemas.openxmlformats.org/drawingml/2006/main">
            <a:pPr>
              <a:defRPr sz="1125" b="0">
                <a:solidFill>
                  <a:srgbClr val="526977"/>
                </a:solidFill>
                <a:latin typeface="Arial"/>
                <a:ea typeface="Arial"/>
                <a:cs typeface="Arial"/>
              </a:defRPr>
            </a:pPr>
            <a:r>
              <a:rPr sz="1125" b="0">
                <a:solidFill>
                  <a:srgbClr val="526977"/>
                </a:solidFill>
                <a:latin typeface="Arial"/>
                <a:ea typeface="Arial"/>
                <a:cs typeface="Arial"/>
              </a:rPr>
              <a:t>RALVEN 5.0 / BMRI / 25 Oct 2026</a:t>
            </a:r>
          </a:p>
        </p:txBody>
      </p:sp>
      <p:sp>
        <p:nvSpPr>
          <p:cNvPr id="3" name="">
            <a:extLst xmlns:a="http://schemas.openxmlformats.org/drawingml/2006/main">
              <a:ext uri="{FF2B5EF4-FFF2-40B4-BE49-F238E27FC236}">
                <a16:creationId xmlns:a16="http://schemas.microsoft.com/office/drawing/2014/main" id="{70345D0F-910C-486C-919F-7FA1B5F40F91}"/>
              </a:ext>
            </a:extLst>
          </p:cNvPr>
          <p:cNvSpPr>
            <a:spLocks xmlns:a="http://schemas.openxmlformats.org/drawingml/2006/main" noGrp="1"/>
          </p:cNvSpPr>
          <p:nvPr/>
        </p:nvSpPr>
        <p:spPr>
          <a:xfrm xmlns:a="http://schemas.openxmlformats.org/drawingml/2006/main">
            <a:off x="11001375" y="63246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977"/>
                </a:solidFill>
                <a:latin typeface="Arial"/>
                <a:ea typeface="Arial"/>
                <a:cs typeface="Arial"/>
              </a:defRPr>
            </a:defPPr>
            <a:lvl1pPr>
              <a:defRPr sz="1125" b="0">
                <a:solidFill>
                  <a:srgbClr val="526977"/>
                </a:solidFill>
                <a:latin typeface="Arial"/>
                <a:ea typeface="Arial"/>
                <a:cs typeface="Arial"/>
              </a:defRPr>
            </a:lvl1pPr>
            <a:lvl2pPr>
              <a:defRPr sz="1125" b="0">
                <a:solidFill>
                  <a:srgbClr val="526977"/>
                </a:solidFill>
                <a:latin typeface="Arial"/>
                <a:ea typeface="Arial"/>
                <a:cs typeface="Arial"/>
              </a:defRPr>
            </a:lvl2pPr>
            <a:lvl3pPr>
              <a:defRPr sz="1125" b="0">
                <a:solidFill>
                  <a:srgbClr val="526977"/>
                </a:solidFill>
                <a:latin typeface="Arial"/>
                <a:ea typeface="Arial"/>
                <a:cs typeface="Arial"/>
              </a:defRPr>
            </a:lvl3pPr>
            <a:lvl4pPr>
              <a:defRPr sz="1125" b="0">
                <a:solidFill>
                  <a:srgbClr val="526977"/>
                </a:solidFill>
                <a:latin typeface="Arial"/>
                <a:ea typeface="Arial"/>
                <a:cs typeface="Arial"/>
              </a:defRPr>
            </a:lvl4pPr>
            <a:lvl5pPr>
              <a:defRPr sz="1125" b="0">
                <a:solidFill>
                  <a:srgbClr val="526977"/>
                </a:solidFill>
                <a:latin typeface="Arial"/>
                <a:ea typeface="Arial"/>
                <a:cs typeface="Arial"/>
              </a:defRPr>
            </a:lvl5pPr>
            <a:lvl6pPr>
              <a:defRPr sz="1125" b="0">
                <a:solidFill>
                  <a:srgbClr val="526977"/>
                </a:solidFill>
                <a:latin typeface="Arial"/>
                <a:ea typeface="Arial"/>
                <a:cs typeface="Arial"/>
              </a:defRPr>
            </a:lvl6pPr>
            <a:lvl7pPr>
              <a:defRPr sz="1125" b="0">
                <a:solidFill>
                  <a:srgbClr val="526977"/>
                </a:solidFill>
                <a:latin typeface="Arial"/>
                <a:ea typeface="Arial"/>
                <a:cs typeface="Arial"/>
              </a:defRPr>
            </a:lvl7pPr>
            <a:lvl8pPr>
              <a:defRPr sz="1125" b="0">
                <a:solidFill>
                  <a:srgbClr val="526977"/>
                </a:solidFill>
                <a:latin typeface="Arial"/>
                <a:ea typeface="Arial"/>
                <a:cs typeface="Arial"/>
              </a:defRPr>
            </a:lvl8pPr>
            <a:lvl9pPr>
              <a:defRPr sz="1125" b="0">
                <a:solidFill>
                  <a:srgbClr val="526977"/>
                </a:solidFill>
                <a:latin typeface="Arial"/>
                <a:ea typeface="Arial"/>
                <a:cs typeface="Arial"/>
              </a:defRPr>
            </a:lvl9pPr>
          </a:lstStyle>
          <a:p xmlns:a="http://schemas.openxmlformats.org/drawingml/2006/main">
            <a:pPr>
              <a:defRPr sz="1125" b="0">
                <a:solidFill>
                  <a:srgbClr val="526977"/>
                </a:solidFill>
                <a:latin typeface="Arial"/>
                <a:ea typeface="Arial"/>
                <a:cs typeface="Arial"/>
              </a:defRPr>
            </a:pPr>
            <a:r>
              <a:rPr sz="1125" b="0">
                <a:solidFill>
                  <a:srgbClr val="526977"/>
                </a:solidFill>
                <a:latin typeface="Arial"/>
                <a:ea typeface="Arial"/>
                <a:cs typeface="Arial"/>
              </a:rPr>
              <a:t>9</a:t>
            </a:r>
          </a:p>
        </p:txBody>
      </p:sp>
      <p:graphicFrame>
        <p:nvGraphicFramePr>
          <p:cNvPr id="4" name="">
            <a:extLst xmlns:a="http://schemas.openxmlformats.org/drawingml/2006/main">
              <a:ext uri="{FF2B5EF4-FFF2-40B4-BE49-F238E27FC236}">
                <a16:creationId xmlns:a16="http://schemas.microsoft.com/office/drawing/2014/main" id="{CF8161F5-7704-425B-AEAB-DA5CCAAE305C}"/>
              </a:ext>
            </a:extLst>
          </p:cNvPr>
          <p:cNvGraphicFramePr/>
          <p:nvPr/>
        </p:nvGraphicFramePr>
        <p:xfrm>
          <a:off xmlns:a="http://schemas.openxmlformats.org/drawingml/2006/main" x="609600" y="1952625"/>
          <a:ext xmlns:a="http://schemas.openxmlformats.org/drawingml/2006/main" cx="10972800" cy="2476500"/>
        </p:xfrm>
        <a:graphic xmlns:a="http://schemas.openxmlformats.org/drawingml/2006/main">
          <a:graphicData uri="http://schemas.openxmlformats.org/drawingml/2006/table">
            <a:tbl>
              <a:tblPr/>
              <a:tblGrid>
                <a:gridCol w="1828800"/>
                <a:gridCol w="1828800"/>
                <a:gridCol w="1828800"/>
                <a:gridCol w="1828800"/>
                <a:gridCol w="1828800"/>
                <a:gridCol w="1828800"/>
              </a:tblGrid>
              <a:tr h="619125">
                <a:tc>
                  <a:txBody>
                    <a:bodyPr/>
                    <a:lstStyle/>
                    <a:p>
                      <a:r>
                        <a:rPr sz="1575" b="1">
                          <a:solidFill>
                            <a:srgbClr val="FFFFFF"/>
                          </a:solidFill>
                          <a:latin typeface="Arial"/>
                          <a:ea typeface="Arial"/>
                          <a:cs typeface="Arial"/>
                        </a:rPr>
                        <a:t>IDR bn</a:t>
                      </a:r>
                    </a:p>
                  </a:txBody>
                  <a:tcPr marL="91440" marR="91440" marT="45720" marB="45720">
                    <a:lnL w="9525">
                      <a:solidFill>
                        <a:srgbClr val="DEE7E9"/>
                      </a:solidFill>
                      <a:prstDash val="solid"/>
                    </a:lnL>
                    <a:lnR w="9525">
                      <a:solidFill>
                        <a:srgbClr val="DEE7E9"/>
                      </a:solidFill>
                      <a:prstDash val="solid"/>
                    </a:lnR>
                    <a:lnT w="9525">
                      <a:solidFill>
                        <a:srgbClr val="DEE7E9"/>
                      </a:solidFill>
                      <a:prstDash val="solid"/>
                    </a:lnT>
                    <a:lnB w="9525">
                      <a:solidFill>
                        <a:srgbClr val="DEE7E9"/>
                      </a:solidFill>
                      <a:prstDash val="solid"/>
                    </a:lnB>
                    <a:solidFill>
                      <a:srgbClr val="1C303B"/>
                    </a:solidFill>
                  </a:tcPr>
                </a:tc>
                <a:tc>
                  <a:txBody>
                    <a:bodyPr/>
                    <a:lstStyle/>
                    <a:p>
                      <a:r>
                        <a:rPr sz="1575" b="1">
                          <a:solidFill>
                            <a:srgbClr val="FFFFFF"/>
                          </a:solidFill>
                          <a:latin typeface="Arial"/>
                          <a:ea typeface="Arial"/>
                          <a:cs typeface="Arial"/>
                        </a:rPr>
                        <a:t>Y1</a:t>
                      </a:r>
                    </a:p>
                  </a:txBody>
                  <a:tcPr marL="91440" marR="91440" marT="45720" marB="45720">
                    <a:lnR w="9525">
                      <a:solidFill>
                        <a:srgbClr val="DEE7E9"/>
                      </a:solidFill>
                      <a:prstDash val="solid"/>
                    </a:lnR>
                    <a:lnT w="9525">
                      <a:solidFill>
                        <a:srgbClr val="DEE7E9"/>
                      </a:solidFill>
                      <a:prstDash val="solid"/>
                    </a:lnT>
                    <a:lnB w="9525">
                      <a:solidFill>
                        <a:srgbClr val="DEE7E9"/>
                      </a:solidFill>
                      <a:prstDash val="solid"/>
                    </a:lnB>
                    <a:solidFill>
                      <a:srgbClr val="1C303B"/>
                    </a:solidFill>
                  </a:tcPr>
                </a:tc>
                <a:tc>
                  <a:txBody>
                    <a:bodyPr/>
                    <a:lstStyle/>
                    <a:p>
                      <a:r>
                        <a:rPr sz="1575" b="1">
                          <a:solidFill>
                            <a:srgbClr val="FFFFFF"/>
                          </a:solidFill>
                          <a:latin typeface="Arial"/>
                          <a:ea typeface="Arial"/>
                          <a:cs typeface="Arial"/>
                        </a:rPr>
                        <a:t>Y2</a:t>
                      </a:r>
                    </a:p>
                  </a:txBody>
                  <a:tcPr marL="91440" marR="91440" marT="45720" marB="45720">
                    <a:lnR w="9525">
                      <a:solidFill>
                        <a:srgbClr val="DEE7E9"/>
                      </a:solidFill>
                      <a:prstDash val="solid"/>
                    </a:lnR>
                    <a:lnT w="9525">
                      <a:solidFill>
                        <a:srgbClr val="DEE7E9"/>
                      </a:solidFill>
                      <a:prstDash val="solid"/>
                    </a:lnT>
                    <a:lnB w="9525">
                      <a:solidFill>
                        <a:srgbClr val="DEE7E9"/>
                      </a:solidFill>
                      <a:prstDash val="solid"/>
                    </a:lnB>
                    <a:solidFill>
                      <a:srgbClr val="1C303B"/>
                    </a:solidFill>
                  </a:tcPr>
                </a:tc>
                <a:tc>
                  <a:txBody>
                    <a:bodyPr/>
                    <a:lstStyle/>
                    <a:p>
                      <a:r>
                        <a:rPr sz="1575" b="1">
                          <a:solidFill>
                            <a:srgbClr val="FFFFFF"/>
                          </a:solidFill>
                          <a:latin typeface="Arial"/>
                          <a:ea typeface="Arial"/>
                          <a:cs typeface="Arial"/>
                        </a:rPr>
                        <a:t>Y3</a:t>
                      </a:r>
                    </a:p>
                  </a:txBody>
                  <a:tcPr marL="91440" marR="91440" marT="45720" marB="45720">
                    <a:lnR w="9525">
                      <a:solidFill>
                        <a:srgbClr val="DEE7E9"/>
                      </a:solidFill>
                      <a:prstDash val="solid"/>
                    </a:lnR>
                    <a:lnT w="9525">
                      <a:solidFill>
                        <a:srgbClr val="DEE7E9"/>
                      </a:solidFill>
                      <a:prstDash val="solid"/>
                    </a:lnT>
                    <a:lnB w="9525">
                      <a:solidFill>
                        <a:srgbClr val="DEE7E9"/>
                      </a:solidFill>
                      <a:prstDash val="solid"/>
                    </a:lnB>
                    <a:solidFill>
                      <a:srgbClr val="1C303B"/>
                    </a:solidFill>
                  </a:tcPr>
                </a:tc>
                <a:tc>
                  <a:txBody>
                    <a:bodyPr/>
                    <a:lstStyle/>
                    <a:p>
                      <a:r>
                        <a:rPr sz="1575" b="1">
                          <a:solidFill>
                            <a:srgbClr val="FFFFFF"/>
                          </a:solidFill>
                          <a:latin typeface="Arial"/>
                          <a:ea typeface="Arial"/>
                          <a:cs typeface="Arial"/>
                        </a:rPr>
                        <a:t>Y4</a:t>
                      </a:r>
                    </a:p>
                  </a:txBody>
                  <a:tcPr marL="91440" marR="91440" marT="45720" marB="45720">
                    <a:lnR w="9525">
                      <a:solidFill>
                        <a:srgbClr val="DEE7E9"/>
                      </a:solidFill>
                      <a:prstDash val="solid"/>
                    </a:lnR>
                    <a:lnT w="9525">
                      <a:solidFill>
                        <a:srgbClr val="DEE7E9"/>
                      </a:solidFill>
                      <a:prstDash val="solid"/>
                    </a:lnT>
                    <a:lnB w="9525">
                      <a:solidFill>
                        <a:srgbClr val="DEE7E9"/>
                      </a:solidFill>
                      <a:prstDash val="solid"/>
                    </a:lnB>
                    <a:solidFill>
                      <a:srgbClr val="1C303B"/>
                    </a:solidFill>
                  </a:tcPr>
                </a:tc>
                <a:tc>
                  <a:txBody>
                    <a:bodyPr/>
                    <a:lstStyle/>
                    <a:p>
                      <a:r>
                        <a:rPr sz="1575" b="1">
                          <a:solidFill>
                            <a:srgbClr val="FFFFFF"/>
                          </a:solidFill>
                          <a:latin typeface="Arial"/>
                          <a:ea typeface="Arial"/>
                          <a:cs typeface="Arial"/>
                        </a:rPr>
                        <a:t>Y5</a:t>
                      </a:r>
                    </a:p>
                  </a:txBody>
                  <a:tcPr marL="91440" marR="91440" marT="45720" marB="45720">
                    <a:lnR w="9525">
                      <a:solidFill>
                        <a:srgbClr val="DEE7E9"/>
                      </a:solidFill>
                      <a:prstDash val="solid"/>
                    </a:lnR>
                    <a:lnT w="9525">
                      <a:solidFill>
                        <a:srgbClr val="DEE7E9"/>
                      </a:solidFill>
                      <a:prstDash val="solid"/>
                    </a:lnT>
                    <a:lnB w="9525">
                      <a:solidFill>
                        <a:srgbClr val="DEE7E9"/>
                      </a:solidFill>
                      <a:prstDash val="solid"/>
                    </a:lnB>
                    <a:solidFill>
                      <a:srgbClr val="1C303B"/>
                    </a:solidFill>
                  </a:tcPr>
                </a:tc>
              </a:tr>
              <a:tr h="619125">
                <a:tc>
                  <a:txBody>
                    <a:bodyPr/>
                    <a:lstStyle/>
                    <a:p>
                      <a:r>
                        <a:rPr sz="1575" b="0">
                          <a:solidFill>
                            <a:srgbClr val="1C303B"/>
                          </a:solidFill>
                          <a:latin typeface="Arial"/>
                          <a:ea typeface="Arial"/>
                          <a:cs typeface="Arial"/>
                        </a:rPr>
                        <a:t>Net income</a:t>
                      </a:r>
                    </a:p>
                  </a:txBody>
                  <a:tcPr marL="91440" marR="91440" marT="45720" marB="45720">
                    <a:lnL w="9525">
                      <a:solidFill>
                        <a:srgbClr val="DEE7E9"/>
                      </a:solidFill>
                      <a:prstDash val="solid"/>
                    </a:lnL>
                    <a:lnR w="9525">
                      <a:solidFill>
                        <a:srgbClr val="DEE7E9"/>
                      </a:solidFill>
                      <a:prstDash val="solid"/>
                    </a:lnR>
                    <a:lnB w="9525">
                      <a:solidFill>
                        <a:srgbClr val="DEE7E9"/>
                      </a:solidFill>
                      <a:prstDash val="solid"/>
                    </a:lnB>
                    <a:solidFill>
                      <a:srgbClr val="EFF5F4"/>
                    </a:solidFill>
                  </a:tcPr>
                </a:tc>
                <a:tc>
                  <a:txBody>
                    <a:bodyPr/>
                    <a:lstStyle/>
                    <a:p>
                      <a:r>
                        <a:rPr sz="1575" b="0">
                          <a:solidFill>
                            <a:srgbClr val="1C303B"/>
                          </a:solidFill>
                          <a:latin typeface="Arial"/>
                          <a:ea typeface="Arial"/>
                          <a:cs typeface="Arial"/>
                        </a:rPr>
                        <a:t>65,986</a:t>
                      </a:r>
                    </a:p>
                  </a:txBody>
                  <a:tcPr marL="91440" marR="91440" marT="45720" marB="45720">
                    <a:lnR w="9525">
                      <a:solidFill>
                        <a:srgbClr val="DEE7E9"/>
                      </a:solidFill>
                      <a:prstDash val="solid"/>
                    </a:lnR>
                    <a:lnB w="9525">
                      <a:solidFill>
                        <a:srgbClr val="DEE7E9"/>
                      </a:solidFill>
                      <a:prstDash val="solid"/>
                    </a:lnB>
                    <a:solidFill>
                      <a:srgbClr val="EFF5F4"/>
                    </a:solidFill>
                  </a:tcPr>
                </a:tc>
                <a:tc>
                  <a:txBody>
                    <a:bodyPr/>
                    <a:lstStyle/>
                    <a:p>
                      <a:r>
                        <a:rPr sz="1575" b="0">
                          <a:solidFill>
                            <a:srgbClr val="1C303B"/>
                          </a:solidFill>
                          <a:latin typeface="Arial"/>
                          <a:ea typeface="Arial"/>
                          <a:cs typeface="Arial"/>
                        </a:rPr>
                        <a:t>69,945</a:t>
                      </a:r>
                    </a:p>
                  </a:txBody>
                  <a:tcPr marL="91440" marR="91440" marT="45720" marB="45720">
                    <a:lnR w="9525">
                      <a:solidFill>
                        <a:srgbClr val="DEE7E9"/>
                      </a:solidFill>
                      <a:prstDash val="solid"/>
                    </a:lnR>
                    <a:lnB w="9525">
                      <a:solidFill>
                        <a:srgbClr val="DEE7E9"/>
                      </a:solidFill>
                      <a:prstDash val="solid"/>
                    </a:lnB>
                    <a:solidFill>
                      <a:srgbClr val="EFF5F4"/>
                    </a:solidFill>
                  </a:tcPr>
                </a:tc>
                <a:tc>
                  <a:txBody>
                    <a:bodyPr/>
                    <a:lstStyle/>
                    <a:p>
                      <a:r>
                        <a:rPr sz="1575" b="0">
                          <a:solidFill>
                            <a:srgbClr val="1C303B"/>
                          </a:solidFill>
                          <a:latin typeface="Arial"/>
                          <a:ea typeface="Arial"/>
                          <a:cs typeface="Arial"/>
                        </a:rPr>
                        <a:t>74,142</a:t>
                      </a:r>
                    </a:p>
                  </a:txBody>
                  <a:tcPr marL="91440" marR="91440" marT="45720" marB="45720">
                    <a:lnR w="9525">
                      <a:solidFill>
                        <a:srgbClr val="DEE7E9"/>
                      </a:solidFill>
                      <a:prstDash val="solid"/>
                    </a:lnR>
                    <a:lnB w="9525">
                      <a:solidFill>
                        <a:srgbClr val="DEE7E9"/>
                      </a:solidFill>
                      <a:prstDash val="solid"/>
                    </a:lnB>
                    <a:solidFill>
                      <a:srgbClr val="EFF5F4"/>
                    </a:solidFill>
                  </a:tcPr>
                </a:tc>
                <a:tc>
                  <a:txBody>
                    <a:bodyPr/>
                    <a:lstStyle/>
                    <a:p>
                      <a:r>
                        <a:rPr sz="1575" b="0">
                          <a:solidFill>
                            <a:srgbClr val="1C303B"/>
                          </a:solidFill>
                          <a:latin typeface="Arial"/>
                          <a:ea typeface="Arial"/>
                          <a:cs typeface="Arial"/>
                        </a:rPr>
                        <a:t>78,591</a:t>
                      </a:r>
                    </a:p>
                  </a:txBody>
                  <a:tcPr marL="91440" marR="91440" marT="45720" marB="45720">
                    <a:lnR w="9525">
                      <a:solidFill>
                        <a:srgbClr val="DEE7E9"/>
                      </a:solidFill>
                      <a:prstDash val="solid"/>
                    </a:lnR>
                    <a:lnB w="9525">
                      <a:solidFill>
                        <a:srgbClr val="DEE7E9"/>
                      </a:solidFill>
                      <a:prstDash val="solid"/>
                    </a:lnB>
                    <a:solidFill>
                      <a:srgbClr val="EFF5F4"/>
                    </a:solidFill>
                  </a:tcPr>
                </a:tc>
                <a:tc>
                  <a:txBody>
                    <a:bodyPr/>
                    <a:lstStyle/>
                    <a:p>
                      <a:r>
                        <a:rPr sz="1575" b="0">
                          <a:solidFill>
                            <a:srgbClr val="1C303B"/>
                          </a:solidFill>
                          <a:latin typeface="Arial"/>
                          <a:ea typeface="Arial"/>
                          <a:cs typeface="Arial"/>
                        </a:rPr>
                        <a:t>83,306</a:t>
                      </a:r>
                    </a:p>
                  </a:txBody>
                  <a:tcPr marL="91440" marR="91440" marT="45720" marB="45720">
                    <a:lnR w="9525">
                      <a:solidFill>
                        <a:srgbClr val="DEE7E9"/>
                      </a:solidFill>
                      <a:prstDash val="solid"/>
                    </a:lnR>
                    <a:lnB w="9525">
                      <a:solidFill>
                        <a:srgbClr val="DEE7E9"/>
                      </a:solidFill>
                      <a:prstDash val="solid"/>
                    </a:lnB>
                    <a:solidFill>
                      <a:srgbClr val="EFF5F4"/>
                    </a:solidFill>
                  </a:tcPr>
                </a:tc>
              </a:tr>
              <a:tr h="619125">
                <a:tc>
                  <a:txBody>
                    <a:bodyPr/>
                    <a:lstStyle/>
                    <a:p>
                      <a:r>
                        <a:rPr sz="1575" b="0">
                          <a:solidFill>
                            <a:srgbClr val="1C303B"/>
                          </a:solidFill>
                          <a:latin typeface="Arial"/>
                          <a:ea typeface="Arial"/>
                          <a:cs typeface="Arial"/>
                        </a:rPr>
                        <a:t>Dividends</a:t>
                      </a:r>
                    </a:p>
                  </a:txBody>
                  <a:tcPr marL="91440" marR="91440" marT="45720" marB="45720">
                    <a:lnL w="9525">
                      <a:solidFill>
                        <a:srgbClr val="DEE7E9"/>
                      </a:solidFill>
                      <a:prstDash val="solid"/>
                    </a:lnL>
                    <a:lnR w="9525">
                      <a:solidFill>
                        <a:srgbClr val="DEE7E9"/>
                      </a:solidFill>
                      <a:prstDash val="solid"/>
                    </a:lnR>
                    <a:lnB w="9525">
                      <a:solidFill>
                        <a:srgbClr val="DEE7E9"/>
                      </a:solidFill>
                      <a:prstDash val="solid"/>
                    </a:lnB>
                    <a:solidFill>
                      <a:srgbClr val="FCFDFC"/>
                    </a:solidFill>
                  </a:tcPr>
                </a:tc>
                <a:tc>
                  <a:txBody>
                    <a:bodyPr/>
                    <a:lstStyle/>
                    <a:p>
                      <a:r>
                        <a:rPr sz="1575" b="0">
                          <a:solidFill>
                            <a:srgbClr val="1C303B"/>
                          </a:solidFill>
                          <a:latin typeface="Arial"/>
                          <a:ea typeface="Arial"/>
                          <a:cs typeface="Arial"/>
                        </a:rPr>
                        <a:t>42,891</a:t>
                      </a:r>
                    </a:p>
                  </a:txBody>
                  <a:tcPr marL="91440" marR="91440" marT="45720" marB="45720">
                    <a:lnR w="9525">
                      <a:solidFill>
                        <a:srgbClr val="DEE7E9"/>
                      </a:solidFill>
                      <a:prstDash val="solid"/>
                    </a:lnR>
                    <a:lnB w="9525">
                      <a:solidFill>
                        <a:srgbClr val="DEE7E9"/>
                      </a:solidFill>
                      <a:prstDash val="solid"/>
                    </a:lnB>
                    <a:solidFill>
                      <a:srgbClr val="FCFDFC"/>
                    </a:solidFill>
                  </a:tcPr>
                </a:tc>
                <a:tc>
                  <a:txBody>
                    <a:bodyPr/>
                    <a:lstStyle/>
                    <a:p>
                      <a:r>
                        <a:rPr sz="1575" b="0">
                          <a:solidFill>
                            <a:srgbClr val="1C303B"/>
                          </a:solidFill>
                          <a:latin typeface="Arial"/>
                          <a:ea typeface="Arial"/>
                          <a:cs typeface="Arial"/>
                        </a:rPr>
                        <a:t>45,465</a:t>
                      </a:r>
                    </a:p>
                  </a:txBody>
                  <a:tcPr marL="91440" marR="91440" marT="45720" marB="45720">
                    <a:lnR w="9525">
                      <a:solidFill>
                        <a:srgbClr val="DEE7E9"/>
                      </a:solidFill>
                      <a:prstDash val="solid"/>
                    </a:lnR>
                    <a:lnB w="9525">
                      <a:solidFill>
                        <a:srgbClr val="DEE7E9"/>
                      </a:solidFill>
                      <a:prstDash val="solid"/>
                    </a:lnB>
                    <a:solidFill>
                      <a:srgbClr val="FCFDFC"/>
                    </a:solidFill>
                  </a:tcPr>
                </a:tc>
                <a:tc>
                  <a:txBody>
                    <a:bodyPr/>
                    <a:lstStyle/>
                    <a:p>
                      <a:r>
                        <a:rPr sz="1575" b="0">
                          <a:solidFill>
                            <a:srgbClr val="1C303B"/>
                          </a:solidFill>
                          <a:latin typeface="Arial"/>
                          <a:ea typeface="Arial"/>
                          <a:cs typeface="Arial"/>
                        </a:rPr>
                        <a:t>48,192</a:t>
                      </a:r>
                    </a:p>
                  </a:txBody>
                  <a:tcPr marL="91440" marR="91440" marT="45720" marB="45720">
                    <a:lnR w="9525">
                      <a:solidFill>
                        <a:srgbClr val="DEE7E9"/>
                      </a:solidFill>
                      <a:prstDash val="solid"/>
                    </a:lnR>
                    <a:lnB w="9525">
                      <a:solidFill>
                        <a:srgbClr val="DEE7E9"/>
                      </a:solidFill>
                      <a:prstDash val="solid"/>
                    </a:lnB>
                    <a:solidFill>
                      <a:srgbClr val="FCFDFC"/>
                    </a:solidFill>
                  </a:tcPr>
                </a:tc>
                <a:tc>
                  <a:txBody>
                    <a:bodyPr/>
                    <a:lstStyle/>
                    <a:p>
                      <a:r>
                        <a:rPr sz="1575" b="0">
                          <a:solidFill>
                            <a:srgbClr val="1C303B"/>
                          </a:solidFill>
                          <a:latin typeface="Arial"/>
                          <a:ea typeface="Arial"/>
                          <a:cs typeface="Arial"/>
                        </a:rPr>
                        <a:t>51,084</a:t>
                      </a:r>
                    </a:p>
                  </a:txBody>
                  <a:tcPr marL="91440" marR="91440" marT="45720" marB="45720">
                    <a:lnR w="9525">
                      <a:solidFill>
                        <a:srgbClr val="DEE7E9"/>
                      </a:solidFill>
                      <a:prstDash val="solid"/>
                    </a:lnR>
                    <a:lnB w="9525">
                      <a:solidFill>
                        <a:srgbClr val="DEE7E9"/>
                      </a:solidFill>
                      <a:prstDash val="solid"/>
                    </a:lnB>
                    <a:solidFill>
                      <a:srgbClr val="FCFDFC"/>
                    </a:solidFill>
                  </a:tcPr>
                </a:tc>
                <a:tc>
                  <a:txBody>
                    <a:bodyPr/>
                    <a:lstStyle/>
                    <a:p>
                      <a:r>
                        <a:rPr sz="1575" b="0">
                          <a:solidFill>
                            <a:srgbClr val="1C303B"/>
                          </a:solidFill>
                          <a:latin typeface="Arial"/>
                          <a:ea typeface="Arial"/>
                          <a:cs typeface="Arial"/>
                        </a:rPr>
                        <a:t>54,149</a:t>
                      </a:r>
                    </a:p>
                  </a:txBody>
                  <a:tcPr marL="91440" marR="91440" marT="45720" marB="45720">
                    <a:lnR w="9525">
                      <a:solidFill>
                        <a:srgbClr val="DEE7E9"/>
                      </a:solidFill>
                      <a:prstDash val="solid"/>
                    </a:lnR>
                    <a:lnB w="9525">
                      <a:solidFill>
                        <a:srgbClr val="DEE7E9"/>
                      </a:solidFill>
                      <a:prstDash val="solid"/>
                    </a:lnB>
                    <a:solidFill>
                      <a:srgbClr val="FCFDFC"/>
                    </a:solidFill>
                  </a:tcPr>
                </a:tc>
              </a:tr>
              <a:tr h="619125">
                <a:tc>
                  <a:txBody>
                    <a:bodyPr/>
                    <a:lstStyle/>
                    <a:p>
                      <a:r>
                        <a:rPr sz="1575" b="0">
                          <a:solidFill>
                            <a:srgbClr val="1C303B"/>
                          </a:solidFill>
                          <a:latin typeface="Arial"/>
                          <a:ea typeface="Arial"/>
                          <a:cs typeface="Arial"/>
                        </a:rPr>
                        <a:t>PV dividend</a:t>
                      </a:r>
                    </a:p>
                  </a:txBody>
                  <a:tcPr marL="91440" marR="91440" marT="45720" marB="45720">
                    <a:lnL w="9525">
                      <a:solidFill>
                        <a:srgbClr val="DEE7E9"/>
                      </a:solidFill>
                      <a:prstDash val="solid"/>
                    </a:lnL>
                    <a:lnR w="9525">
                      <a:solidFill>
                        <a:srgbClr val="DEE7E9"/>
                      </a:solidFill>
                      <a:prstDash val="solid"/>
                    </a:lnR>
                    <a:lnB w="9525">
                      <a:solidFill>
                        <a:srgbClr val="DEE7E9"/>
                      </a:solidFill>
                      <a:prstDash val="solid"/>
                    </a:lnB>
                    <a:solidFill>
                      <a:srgbClr val="EFF5F4"/>
                    </a:solidFill>
                  </a:tcPr>
                </a:tc>
                <a:tc>
                  <a:txBody>
                    <a:bodyPr/>
                    <a:lstStyle/>
                    <a:p>
                      <a:r>
                        <a:rPr sz="1575" b="0">
                          <a:solidFill>
                            <a:srgbClr val="1C303B"/>
                          </a:solidFill>
                          <a:latin typeface="Arial"/>
                          <a:ea typeface="Arial"/>
                          <a:cs typeface="Arial"/>
                        </a:rPr>
                        <a:t>38,176</a:t>
                      </a:r>
                    </a:p>
                  </a:txBody>
                  <a:tcPr marL="91440" marR="91440" marT="45720" marB="45720">
                    <a:lnR w="9525">
                      <a:solidFill>
                        <a:srgbClr val="DEE7E9"/>
                      </a:solidFill>
                      <a:prstDash val="solid"/>
                    </a:lnR>
                    <a:lnB w="9525">
                      <a:solidFill>
                        <a:srgbClr val="DEE7E9"/>
                      </a:solidFill>
                      <a:prstDash val="solid"/>
                    </a:lnB>
                    <a:solidFill>
                      <a:srgbClr val="EFF5F4"/>
                    </a:solidFill>
                  </a:tcPr>
                </a:tc>
                <a:tc>
                  <a:txBody>
                    <a:bodyPr/>
                    <a:lstStyle/>
                    <a:p>
                      <a:r>
                        <a:rPr sz="1575" b="0">
                          <a:solidFill>
                            <a:srgbClr val="1C303B"/>
                          </a:solidFill>
                          <a:latin typeface="Arial"/>
                          <a:ea typeface="Arial"/>
                          <a:cs typeface="Arial"/>
                        </a:rPr>
                        <a:t>36,019</a:t>
                      </a:r>
                    </a:p>
                  </a:txBody>
                  <a:tcPr marL="91440" marR="91440" marT="45720" marB="45720">
                    <a:lnR w="9525">
                      <a:solidFill>
                        <a:srgbClr val="DEE7E9"/>
                      </a:solidFill>
                      <a:prstDash val="solid"/>
                    </a:lnR>
                    <a:lnB w="9525">
                      <a:solidFill>
                        <a:srgbClr val="DEE7E9"/>
                      </a:solidFill>
                      <a:prstDash val="solid"/>
                    </a:lnB>
                    <a:solidFill>
                      <a:srgbClr val="EFF5F4"/>
                    </a:solidFill>
                  </a:tcPr>
                </a:tc>
                <a:tc>
                  <a:txBody>
                    <a:bodyPr/>
                    <a:lstStyle/>
                    <a:p>
                      <a:r>
                        <a:rPr sz="1575" b="0">
                          <a:solidFill>
                            <a:srgbClr val="1C303B"/>
                          </a:solidFill>
                          <a:latin typeface="Arial"/>
                          <a:ea typeface="Arial"/>
                          <a:cs typeface="Arial"/>
                        </a:rPr>
                        <a:t>33,983</a:t>
                      </a:r>
                    </a:p>
                  </a:txBody>
                  <a:tcPr marL="91440" marR="91440" marT="45720" marB="45720">
                    <a:lnR w="9525">
                      <a:solidFill>
                        <a:srgbClr val="DEE7E9"/>
                      </a:solidFill>
                      <a:prstDash val="solid"/>
                    </a:lnR>
                    <a:lnB w="9525">
                      <a:solidFill>
                        <a:srgbClr val="DEE7E9"/>
                      </a:solidFill>
                      <a:prstDash val="solid"/>
                    </a:lnB>
                    <a:solidFill>
                      <a:srgbClr val="EFF5F4"/>
                    </a:solidFill>
                  </a:tcPr>
                </a:tc>
                <a:tc>
                  <a:txBody>
                    <a:bodyPr/>
                    <a:lstStyle/>
                    <a:p>
                      <a:r>
                        <a:rPr sz="1575" b="0">
                          <a:solidFill>
                            <a:srgbClr val="1C303B"/>
                          </a:solidFill>
                          <a:latin typeface="Arial"/>
                          <a:ea typeface="Arial"/>
                          <a:cs typeface="Arial"/>
                        </a:rPr>
                        <a:t>32,062</a:t>
                      </a:r>
                    </a:p>
                  </a:txBody>
                  <a:tcPr marL="91440" marR="91440" marT="45720" marB="45720">
                    <a:lnR w="9525">
                      <a:solidFill>
                        <a:srgbClr val="DEE7E9"/>
                      </a:solidFill>
                      <a:prstDash val="solid"/>
                    </a:lnR>
                    <a:lnB w="9525">
                      <a:solidFill>
                        <a:srgbClr val="DEE7E9"/>
                      </a:solidFill>
                      <a:prstDash val="solid"/>
                    </a:lnB>
                    <a:solidFill>
                      <a:srgbClr val="EFF5F4"/>
                    </a:solidFill>
                  </a:tcPr>
                </a:tc>
                <a:tc>
                  <a:txBody>
                    <a:bodyPr/>
                    <a:lstStyle/>
                    <a:p>
                      <a:r>
                        <a:rPr sz="1575" b="0">
                          <a:solidFill>
                            <a:srgbClr val="1C303B"/>
                          </a:solidFill>
                          <a:latin typeface="Arial"/>
                          <a:ea typeface="Arial"/>
                          <a:cs typeface="Arial"/>
                        </a:rPr>
                        <a:t>30,250</a:t>
                      </a:r>
                    </a:p>
                  </a:txBody>
                  <a:tcPr marL="91440" marR="91440" marT="45720" marB="45720">
                    <a:lnR w="9525">
                      <a:solidFill>
                        <a:srgbClr val="DEE7E9"/>
                      </a:solidFill>
                      <a:prstDash val="solid"/>
                    </a:lnR>
                    <a:lnB w="9525">
                      <a:solidFill>
                        <a:srgbClr val="DEE7E9"/>
                      </a:solidFill>
                      <a:prstDash val="solid"/>
                    </a:lnB>
                    <a:solidFill>
                      <a:srgbClr val="EFF5F4"/>
                    </a:solidFill>
                  </a:tcPr>
                </a:tc>
              </a:tr>
            </a:tbl>
          </a:graphicData>
        </a:graphic>
      </p:graphicFrame>
      <p:sp>
        <p:nvSpPr>
          <p:cNvPr id="5" name="">
            <a:extLst xmlns:a="http://schemas.openxmlformats.org/drawingml/2006/main">
              <a:ext uri="{FF2B5EF4-FFF2-40B4-BE49-F238E27FC236}">
                <a16:creationId xmlns:a16="http://schemas.microsoft.com/office/drawing/2014/main" id="{B3CB6B2F-933B-4CA9-A8BF-3A39766BB29E}"/>
              </a:ext>
            </a:extLst>
          </p:cNvPr>
          <p:cNvSpPr>
            <a:spLocks xmlns:a="http://schemas.openxmlformats.org/drawingml/2006/main" noGrp="1"/>
          </p:cNvSpPr>
          <p:nvPr/>
        </p:nvSpPr>
        <p:spPr>
          <a:xfrm xmlns:a="http://schemas.openxmlformats.org/drawingml/2006/main">
            <a:off x="609600" y="48577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58362"/>
                </a:solidFill>
                <a:latin typeface="Arial"/>
                <a:ea typeface="Arial"/>
                <a:cs typeface="Arial"/>
              </a:defRPr>
            </a:defPPr>
            <a:lvl1pPr>
              <a:defRPr sz="2175" b="0">
                <a:solidFill>
                  <a:srgbClr val="258362"/>
                </a:solidFill>
                <a:latin typeface="Arial"/>
                <a:ea typeface="Arial"/>
                <a:cs typeface="Arial"/>
              </a:defRPr>
            </a:lvl1pPr>
            <a:lvl2pPr>
              <a:defRPr sz="2175" b="0">
                <a:solidFill>
                  <a:srgbClr val="258362"/>
                </a:solidFill>
                <a:latin typeface="Arial"/>
                <a:ea typeface="Arial"/>
                <a:cs typeface="Arial"/>
              </a:defRPr>
            </a:lvl2pPr>
            <a:lvl3pPr>
              <a:defRPr sz="2175" b="0">
                <a:solidFill>
                  <a:srgbClr val="258362"/>
                </a:solidFill>
                <a:latin typeface="Arial"/>
                <a:ea typeface="Arial"/>
                <a:cs typeface="Arial"/>
              </a:defRPr>
            </a:lvl3pPr>
            <a:lvl4pPr>
              <a:defRPr sz="2175" b="0">
                <a:solidFill>
                  <a:srgbClr val="258362"/>
                </a:solidFill>
                <a:latin typeface="Arial"/>
                <a:ea typeface="Arial"/>
                <a:cs typeface="Arial"/>
              </a:defRPr>
            </a:lvl4pPr>
            <a:lvl5pPr>
              <a:defRPr sz="2175" b="0">
                <a:solidFill>
                  <a:srgbClr val="258362"/>
                </a:solidFill>
                <a:latin typeface="Arial"/>
                <a:ea typeface="Arial"/>
                <a:cs typeface="Arial"/>
              </a:defRPr>
            </a:lvl5pPr>
            <a:lvl6pPr>
              <a:defRPr sz="2175" b="0">
                <a:solidFill>
                  <a:srgbClr val="258362"/>
                </a:solidFill>
                <a:latin typeface="Arial"/>
                <a:ea typeface="Arial"/>
                <a:cs typeface="Arial"/>
              </a:defRPr>
            </a:lvl6pPr>
            <a:lvl7pPr>
              <a:defRPr sz="2175" b="0">
                <a:solidFill>
                  <a:srgbClr val="258362"/>
                </a:solidFill>
                <a:latin typeface="Arial"/>
                <a:ea typeface="Arial"/>
                <a:cs typeface="Arial"/>
              </a:defRPr>
            </a:lvl7pPr>
            <a:lvl8pPr>
              <a:defRPr sz="2175" b="0">
                <a:solidFill>
                  <a:srgbClr val="258362"/>
                </a:solidFill>
                <a:latin typeface="Arial"/>
                <a:ea typeface="Arial"/>
                <a:cs typeface="Arial"/>
              </a:defRPr>
            </a:lvl8pPr>
            <a:lvl9pPr>
              <a:defRPr sz="2175" b="0">
                <a:solidFill>
                  <a:srgbClr val="258362"/>
                </a:solidFill>
                <a:latin typeface="Arial"/>
                <a:ea typeface="Arial"/>
                <a:cs typeface="Arial"/>
              </a:defRPr>
            </a:lvl9pPr>
          </a:lstStyle>
          <a:p xmlns:a="http://schemas.openxmlformats.org/drawingml/2006/main">
            <a:pPr>
              <a:defRPr sz="2175" b="0">
                <a:solidFill>
                  <a:srgbClr val="258362"/>
                </a:solidFill>
                <a:latin typeface="Arial"/>
                <a:ea typeface="Arial"/>
                <a:cs typeface="Arial"/>
              </a:defRPr>
            </a:pPr>
            <a:r>
              <a:rPr sz="2175" b="0">
                <a:solidFill>
                  <a:srgbClr val="258362"/>
                </a:solidFill>
                <a:latin typeface="Arial"/>
                <a:ea typeface="Arial"/>
                <a:cs typeface="Arial"/>
              </a:rPr>
              <a:t>Cost of equity 12.4% / Terminal growth 3.5%</a:t>
            </a:r>
          </a:p>
          <a:p xmlns:a="http://schemas.openxmlformats.org/drawingml/2006/main">
            <a:pPr>
              <a:defRPr sz="2175" b="0">
                <a:solidFill>
                  <a:srgbClr val="258362"/>
                </a:solidFill>
                <a:latin typeface="Arial"/>
                <a:ea typeface="Arial"/>
                <a:cs typeface="Arial"/>
              </a:defRPr>
            </a:pPr>
            <a:r>
              <a:rPr sz="2175" b="0">
                <a:solidFill>
                  <a:srgbClr val="258362"/>
                </a:solidFill>
                <a:latin typeface="Arial"/>
                <a:ea typeface="Arial"/>
                <a:cs typeface="Arial"/>
              </a:rPr>
              <a:t>DDM equity value 595,695 IDR bn / Rp 6,447 per share</a:t>
            </a:r>
          </a:p>
        </p:txBody>
      </p:sp>
    </p:spTree>
    <p:extLst>
      <p:ext uri="{BB962C8B-B14F-4D97-AF65-F5344CB8AC3E}">
        <p14:creationId xmlns:p14="http://schemas.microsoft.com/office/powerpoint/2010/main" val="191778872"/>
      </p:ext>
    </p:extLst>
  </p:cSld>
</p:sld>
</file>

<file path=ppt/slides/slide10.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CDABF7C-523A-4D00-80C5-36C6A6EAE994}"/>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C303B"/>
                </a:solidFill>
                <a:latin typeface="Arial"/>
                <a:ea typeface="Arial"/>
                <a:cs typeface="Arial"/>
              </a:defRPr>
            </a:defPPr>
            <a:lvl1pPr>
              <a:defRPr sz="3225" b="1">
                <a:solidFill>
                  <a:srgbClr val="1C303B"/>
                </a:solidFill>
                <a:latin typeface="Arial"/>
                <a:ea typeface="Arial"/>
                <a:cs typeface="Arial"/>
              </a:defRPr>
            </a:lvl1pPr>
            <a:lvl2pPr>
              <a:defRPr sz="3225" b="1">
                <a:solidFill>
                  <a:srgbClr val="1C303B"/>
                </a:solidFill>
                <a:latin typeface="Arial"/>
                <a:ea typeface="Arial"/>
                <a:cs typeface="Arial"/>
              </a:defRPr>
            </a:lvl2pPr>
            <a:lvl3pPr>
              <a:defRPr sz="3225" b="1">
                <a:solidFill>
                  <a:srgbClr val="1C303B"/>
                </a:solidFill>
                <a:latin typeface="Arial"/>
                <a:ea typeface="Arial"/>
                <a:cs typeface="Arial"/>
              </a:defRPr>
            </a:lvl3pPr>
            <a:lvl4pPr>
              <a:defRPr sz="3225" b="1">
                <a:solidFill>
                  <a:srgbClr val="1C303B"/>
                </a:solidFill>
                <a:latin typeface="Arial"/>
                <a:ea typeface="Arial"/>
                <a:cs typeface="Arial"/>
              </a:defRPr>
            </a:lvl4pPr>
            <a:lvl5pPr>
              <a:defRPr sz="3225" b="1">
                <a:solidFill>
                  <a:srgbClr val="1C303B"/>
                </a:solidFill>
                <a:latin typeface="Arial"/>
                <a:ea typeface="Arial"/>
                <a:cs typeface="Arial"/>
              </a:defRPr>
            </a:lvl5pPr>
            <a:lvl6pPr>
              <a:defRPr sz="3225" b="1">
                <a:solidFill>
                  <a:srgbClr val="1C303B"/>
                </a:solidFill>
                <a:latin typeface="Arial"/>
                <a:ea typeface="Arial"/>
                <a:cs typeface="Arial"/>
              </a:defRPr>
            </a:lvl6pPr>
            <a:lvl7pPr>
              <a:defRPr sz="3225" b="1">
                <a:solidFill>
                  <a:srgbClr val="1C303B"/>
                </a:solidFill>
                <a:latin typeface="Arial"/>
                <a:ea typeface="Arial"/>
                <a:cs typeface="Arial"/>
              </a:defRPr>
            </a:lvl7pPr>
            <a:lvl8pPr>
              <a:defRPr sz="3225" b="1">
                <a:solidFill>
                  <a:srgbClr val="1C303B"/>
                </a:solidFill>
                <a:latin typeface="Arial"/>
                <a:ea typeface="Arial"/>
                <a:cs typeface="Arial"/>
              </a:defRPr>
            </a:lvl8pPr>
            <a:lvl9pPr>
              <a:defRPr sz="3225" b="1">
                <a:solidFill>
                  <a:srgbClr val="1C303B"/>
                </a:solidFill>
                <a:latin typeface="Arial"/>
                <a:ea typeface="Arial"/>
                <a:cs typeface="Arial"/>
              </a:defRPr>
            </a:lvl9pPr>
          </a:lstStyle>
          <a:p xmlns:a="http://schemas.openxmlformats.org/drawingml/2006/main">
            <a:pPr>
              <a:defRPr sz="3225" b="1">
                <a:solidFill>
                  <a:srgbClr val="1C303B"/>
                </a:solidFill>
                <a:latin typeface="Arial"/>
                <a:ea typeface="Arial"/>
                <a:cs typeface="Arial"/>
              </a:defRPr>
            </a:pPr>
            <a:r>
              <a:rPr sz="3225" b="1">
                <a:solidFill>
                  <a:srgbClr val="1C303B"/>
                </a:solidFill>
                <a:latin typeface="Arial"/>
                <a:ea typeface="Arial"/>
                <a:cs typeface="Arial"/>
              </a:rPr>
              <a:t>Relative valuation</a:t>
            </a:r>
          </a:p>
        </p:txBody>
      </p:sp>
      <p:sp>
        <p:nvSpPr>
          <p:cNvPr id="2" name="">
            <a:extLst xmlns:a="http://schemas.openxmlformats.org/drawingml/2006/main">
              <a:ext uri="{FF2B5EF4-FFF2-40B4-BE49-F238E27FC236}">
                <a16:creationId xmlns:a16="http://schemas.microsoft.com/office/drawing/2014/main" id="{5D14E6DE-15F6-4485-920C-4490602DFF51}"/>
              </a:ext>
            </a:extLst>
          </p:cNvPr>
          <p:cNvSpPr>
            <a:spLocks xmlns:a="http://schemas.openxmlformats.org/drawingml/2006/main" noGrp="1"/>
          </p:cNvSpPr>
          <p:nvPr/>
        </p:nvSpPr>
        <p:spPr>
          <a:xfrm xmlns:a="http://schemas.openxmlformats.org/drawingml/2006/main">
            <a:off x="609600" y="6324600"/>
            <a:ext cx="933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977"/>
                </a:solidFill>
                <a:latin typeface="Arial"/>
                <a:ea typeface="Arial"/>
                <a:cs typeface="Arial"/>
              </a:defRPr>
            </a:defPPr>
            <a:lvl1pPr>
              <a:defRPr sz="1125" b="0">
                <a:solidFill>
                  <a:srgbClr val="526977"/>
                </a:solidFill>
                <a:latin typeface="Arial"/>
                <a:ea typeface="Arial"/>
                <a:cs typeface="Arial"/>
              </a:defRPr>
            </a:lvl1pPr>
            <a:lvl2pPr>
              <a:defRPr sz="1125" b="0">
                <a:solidFill>
                  <a:srgbClr val="526977"/>
                </a:solidFill>
                <a:latin typeface="Arial"/>
                <a:ea typeface="Arial"/>
                <a:cs typeface="Arial"/>
              </a:defRPr>
            </a:lvl2pPr>
            <a:lvl3pPr>
              <a:defRPr sz="1125" b="0">
                <a:solidFill>
                  <a:srgbClr val="526977"/>
                </a:solidFill>
                <a:latin typeface="Arial"/>
                <a:ea typeface="Arial"/>
                <a:cs typeface="Arial"/>
              </a:defRPr>
            </a:lvl3pPr>
            <a:lvl4pPr>
              <a:defRPr sz="1125" b="0">
                <a:solidFill>
                  <a:srgbClr val="526977"/>
                </a:solidFill>
                <a:latin typeface="Arial"/>
                <a:ea typeface="Arial"/>
                <a:cs typeface="Arial"/>
              </a:defRPr>
            </a:lvl4pPr>
            <a:lvl5pPr>
              <a:defRPr sz="1125" b="0">
                <a:solidFill>
                  <a:srgbClr val="526977"/>
                </a:solidFill>
                <a:latin typeface="Arial"/>
                <a:ea typeface="Arial"/>
                <a:cs typeface="Arial"/>
              </a:defRPr>
            </a:lvl5pPr>
            <a:lvl6pPr>
              <a:defRPr sz="1125" b="0">
                <a:solidFill>
                  <a:srgbClr val="526977"/>
                </a:solidFill>
                <a:latin typeface="Arial"/>
                <a:ea typeface="Arial"/>
                <a:cs typeface="Arial"/>
              </a:defRPr>
            </a:lvl6pPr>
            <a:lvl7pPr>
              <a:defRPr sz="1125" b="0">
                <a:solidFill>
                  <a:srgbClr val="526977"/>
                </a:solidFill>
                <a:latin typeface="Arial"/>
                <a:ea typeface="Arial"/>
                <a:cs typeface="Arial"/>
              </a:defRPr>
            </a:lvl7pPr>
            <a:lvl8pPr>
              <a:defRPr sz="1125" b="0">
                <a:solidFill>
                  <a:srgbClr val="526977"/>
                </a:solidFill>
                <a:latin typeface="Arial"/>
                <a:ea typeface="Arial"/>
                <a:cs typeface="Arial"/>
              </a:defRPr>
            </a:lvl8pPr>
            <a:lvl9pPr>
              <a:defRPr sz="1125" b="0">
                <a:solidFill>
                  <a:srgbClr val="526977"/>
                </a:solidFill>
                <a:latin typeface="Arial"/>
                <a:ea typeface="Arial"/>
                <a:cs typeface="Arial"/>
              </a:defRPr>
            </a:lvl9pPr>
          </a:lstStyle>
          <a:p xmlns:a="http://schemas.openxmlformats.org/drawingml/2006/main">
            <a:pPr>
              <a:defRPr sz="1125" b="0">
                <a:solidFill>
                  <a:srgbClr val="526977"/>
                </a:solidFill>
                <a:latin typeface="Arial"/>
                <a:ea typeface="Arial"/>
                <a:cs typeface="Arial"/>
              </a:defRPr>
            </a:pPr>
            <a:r>
              <a:rPr sz="1125" b="0">
                <a:solidFill>
                  <a:srgbClr val="526977"/>
                </a:solidFill>
                <a:latin typeface="Arial"/>
                <a:ea typeface="Arial"/>
                <a:cs typeface="Arial"/>
              </a:rPr>
              <a:t>RALVEN 5.0 / BMRI / 25 Oct 2026</a:t>
            </a:r>
          </a:p>
        </p:txBody>
      </p:sp>
      <p:sp>
        <p:nvSpPr>
          <p:cNvPr id="3" name="">
            <a:extLst xmlns:a="http://schemas.openxmlformats.org/drawingml/2006/main">
              <a:ext uri="{FF2B5EF4-FFF2-40B4-BE49-F238E27FC236}">
                <a16:creationId xmlns:a16="http://schemas.microsoft.com/office/drawing/2014/main" id="{F688D638-DB63-4C00-AE51-76386FB6D712}"/>
              </a:ext>
            </a:extLst>
          </p:cNvPr>
          <p:cNvSpPr>
            <a:spLocks xmlns:a="http://schemas.openxmlformats.org/drawingml/2006/main" noGrp="1"/>
          </p:cNvSpPr>
          <p:nvPr/>
        </p:nvSpPr>
        <p:spPr>
          <a:xfrm xmlns:a="http://schemas.openxmlformats.org/drawingml/2006/main">
            <a:off x="11001375" y="63246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977"/>
                </a:solidFill>
                <a:latin typeface="Arial"/>
                <a:ea typeface="Arial"/>
                <a:cs typeface="Arial"/>
              </a:defRPr>
            </a:defPPr>
            <a:lvl1pPr>
              <a:defRPr sz="1125" b="0">
                <a:solidFill>
                  <a:srgbClr val="526977"/>
                </a:solidFill>
                <a:latin typeface="Arial"/>
                <a:ea typeface="Arial"/>
                <a:cs typeface="Arial"/>
              </a:defRPr>
            </a:lvl1pPr>
            <a:lvl2pPr>
              <a:defRPr sz="1125" b="0">
                <a:solidFill>
                  <a:srgbClr val="526977"/>
                </a:solidFill>
                <a:latin typeface="Arial"/>
                <a:ea typeface="Arial"/>
                <a:cs typeface="Arial"/>
              </a:defRPr>
            </a:lvl2pPr>
            <a:lvl3pPr>
              <a:defRPr sz="1125" b="0">
                <a:solidFill>
                  <a:srgbClr val="526977"/>
                </a:solidFill>
                <a:latin typeface="Arial"/>
                <a:ea typeface="Arial"/>
                <a:cs typeface="Arial"/>
              </a:defRPr>
            </a:lvl3pPr>
            <a:lvl4pPr>
              <a:defRPr sz="1125" b="0">
                <a:solidFill>
                  <a:srgbClr val="526977"/>
                </a:solidFill>
                <a:latin typeface="Arial"/>
                <a:ea typeface="Arial"/>
                <a:cs typeface="Arial"/>
              </a:defRPr>
            </a:lvl4pPr>
            <a:lvl5pPr>
              <a:defRPr sz="1125" b="0">
                <a:solidFill>
                  <a:srgbClr val="526977"/>
                </a:solidFill>
                <a:latin typeface="Arial"/>
                <a:ea typeface="Arial"/>
                <a:cs typeface="Arial"/>
              </a:defRPr>
            </a:lvl5pPr>
            <a:lvl6pPr>
              <a:defRPr sz="1125" b="0">
                <a:solidFill>
                  <a:srgbClr val="526977"/>
                </a:solidFill>
                <a:latin typeface="Arial"/>
                <a:ea typeface="Arial"/>
                <a:cs typeface="Arial"/>
              </a:defRPr>
            </a:lvl6pPr>
            <a:lvl7pPr>
              <a:defRPr sz="1125" b="0">
                <a:solidFill>
                  <a:srgbClr val="526977"/>
                </a:solidFill>
                <a:latin typeface="Arial"/>
                <a:ea typeface="Arial"/>
                <a:cs typeface="Arial"/>
              </a:defRPr>
            </a:lvl7pPr>
            <a:lvl8pPr>
              <a:defRPr sz="1125" b="0">
                <a:solidFill>
                  <a:srgbClr val="526977"/>
                </a:solidFill>
                <a:latin typeface="Arial"/>
                <a:ea typeface="Arial"/>
                <a:cs typeface="Arial"/>
              </a:defRPr>
            </a:lvl8pPr>
            <a:lvl9pPr>
              <a:defRPr sz="1125" b="0">
                <a:solidFill>
                  <a:srgbClr val="526977"/>
                </a:solidFill>
                <a:latin typeface="Arial"/>
                <a:ea typeface="Arial"/>
                <a:cs typeface="Arial"/>
              </a:defRPr>
            </a:lvl9pPr>
          </a:lstStyle>
          <a:p xmlns:a="http://schemas.openxmlformats.org/drawingml/2006/main">
            <a:pPr>
              <a:defRPr sz="1125" b="0">
                <a:solidFill>
                  <a:srgbClr val="526977"/>
                </a:solidFill>
                <a:latin typeface="Arial"/>
                <a:ea typeface="Arial"/>
                <a:cs typeface="Arial"/>
              </a:defRPr>
            </a:pPr>
            <a:r>
              <a:rPr sz="1125" b="0">
                <a:solidFill>
                  <a:srgbClr val="526977"/>
                </a:solidFill>
                <a:latin typeface="Arial"/>
                <a:ea typeface="Arial"/>
                <a:cs typeface="Arial"/>
              </a:rPr>
              <a:t>10</a:t>
            </a:r>
          </a:p>
        </p:txBody>
      </p:sp>
      <p:graphicFrame>
        <p:nvGraphicFramePr>
          <p:cNvPr id="4" name="">
            <a:extLst xmlns:a="http://schemas.openxmlformats.org/drawingml/2006/main">
              <a:ext uri="{FF2B5EF4-FFF2-40B4-BE49-F238E27FC236}">
                <a16:creationId xmlns:a16="http://schemas.microsoft.com/office/drawing/2014/main" id="{70FAFECC-222E-4C18-814A-154D229F54E5}"/>
              </a:ext>
            </a:extLst>
          </p:cNvPr>
          <p:cNvGraphicFramePr/>
          <p:nvPr/>
        </p:nvGraphicFramePr>
        <p:xfrm>
          <a:off xmlns:a="http://schemas.openxmlformats.org/drawingml/2006/main" x="609600" y="1952625"/>
          <a:ext xmlns:a="http://schemas.openxmlformats.org/drawingml/2006/main" cx="10972800" cy="2190750"/>
        </p:xfrm>
        <a:graphic xmlns:a="http://schemas.openxmlformats.org/drawingml/2006/main">
          <a:graphicData uri="http://schemas.openxmlformats.org/drawingml/2006/table">
            <a:tbl>
              <a:tblPr/>
              <a:tblGrid>
                <a:gridCol w="2743200"/>
                <a:gridCol w="2743200"/>
                <a:gridCol w="2743200"/>
                <a:gridCol w="2743200"/>
              </a:tblGrid>
              <a:tr h="730250">
                <a:tc>
                  <a:txBody>
                    <a:bodyPr/>
                    <a:lstStyle/>
                    <a:p>
                      <a:r>
                        <a:rPr sz="1800" b="1">
                          <a:solidFill>
                            <a:srgbClr val="FFFFFF"/>
                          </a:solidFill>
                          <a:latin typeface="Arial"/>
                          <a:ea typeface="Arial"/>
                          <a:cs typeface="Arial"/>
                        </a:rPr>
                        <a:t>Multiple</a:t>
                      </a:r>
                    </a:p>
                  </a:txBody>
                  <a:tcPr marL="91440" marR="91440" marT="45720" marB="45720">
                    <a:lnL w="9525">
                      <a:solidFill>
                        <a:srgbClr val="DEE7E9"/>
                      </a:solidFill>
                      <a:prstDash val="solid"/>
                    </a:lnL>
                    <a:lnR w="9525">
                      <a:solidFill>
                        <a:srgbClr val="DEE7E9"/>
                      </a:solidFill>
                      <a:prstDash val="solid"/>
                    </a:lnR>
                    <a:lnT w="9525">
                      <a:solidFill>
                        <a:srgbClr val="DEE7E9"/>
                      </a:solidFill>
                      <a:prstDash val="solid"/>
                    </a:lnT>
                    <a:lnB w="9525">
                      <a:solidFill>
                        <a:srgbClr val="DEE7E9"/>
                      </a:solidFill>
                      <a:prstDash val="solid"/>
                    </a:lnB>
                    <a:solidFill>
                      <a:srgbClr val="1C303B"/>
                    </a:solidFill>
                  </a:tcPr>
                </a:tc>
                <a:tc>
                  <a:txBody>
                    <a:bodyPr/>
                    <a:lstStyle/>
                    <a:p>
                      <a:r>
                        <a:rPr sz="1800" b="1">
                          <a:solidFill>
                            <a:srgbClr val="FFFFFF"/>
                          </a:solidFill>
                          <a:latin typeface="Arial"/>
                          <a:ea typeface="Arial"/>
                          <a:cs typeface="Arial"/>
                        </a:rPr>
                        <a:t>Eligible peer median</a:t>
                      </a:r>
                    </a:p>
                  </a:txBody>
                  <a:tcPr marL="91440" marR="91440" marT="45720" marB="45720">
                    <a:lnR w="9525">
                      <a:solidFill>
                        <a:srgbClr val="DEE7E9"/>
                      </a:solidFill>
                      <a:prstDash val="solid"/>
                    </a:lnR>
                    <a:lnT w="9525">
                      <a:solidFill>
                        <a:srgbClr val="DEE7E9"/>
                      </a:solidFill>
                      <a:prstDash val="solid"/>
                    </a:lnT>
                    <a:lnB w="9525">
                      <a:solidFill>
                        <a:srgbClr val="DEE7E9"/>
                      </a:solidFill>
                      <a:prstDash val="solid"/>
                    </a:lnB>
                    <a:solidFill>
                      <a:srgbClr val="1C303B"/>
                    </a:solidFill>
                  </a:tcPr>
                </a:tc>
                <a:tc>
                  <a:txBody>
                    <a:bodyPr/>
                    <a:lstStyle/>
                    <a:p>
                      <a:r>
                        <a:rPr sz="1800" b="1">
                          <a:solidFill>
                            <a:srgbClr val="FFFFFF"/>
                          </a:solidFill>
                          <a:latin typeface="Arial"/>
                          <a:ea typeface="Arial"/>
                          <a:cs typeface="Arial"/>
                        </a:rPr>
                        <a:t>N</a:t>
                      </a:r>
                    </a:p>
                  </a:txBody>
                  <a:tcPr marL="91440" marR="91440" marT="45720" marB="45720">
                    <a:lnR w="9525">
                      <a:solidFill>
                        <a:srgbClr val="DEE7E9"/>
                      </a:solidFill>
                      <a:prstDash val="solid"/>
                    </a:lnR>
                    <a:lnT w="9525">
                      <a:solidFill>
                        <a:srgbClr val="DEE7E9"/>
                      </a:solidFill>
                      <a:prstDash val="solid"/>
                    </a:lnT>
                    <a:lnB w="9525">
                      <a:solidFill>
                        <a:srgbClr val="DEE7E9"/>
                      </a:solidFill>
                      <a:prstDash val="solid"/>
                    </a:lnB>
                    <a:solidFill>
                      <a:srgbClr val="1C303B"/>
                    </a:solidFill>
                  </a:tcPr>
                </a:tc>
                <a:tc>
                  <a:txBody>
                    <a:bodyPr/>
                    <a:lstStyle/>
                    <a:p>
                      <a:r>
                        <a:rPr sz="1800" b="1">
                          <a:solidFill>
                            <a:srgbClr val="FFFFFF"/>
                          </a:solidFill>
                          <a:latin typeface="Arial"/>
                          <a:ea typeface="Arial"/>
                          <a:cs typeface="Arial"/>
                        </a:rPr>
                        <a:t>Implied IDR/share</a:t>
                      </a:r>
                    </a:p>
                  </a:txBody>
                  <a:tcPr marL="91440" marR="91440" marT="45720" marB="45720">
                    <a:lnR w="9525">
                      <a:solidFill>
                        <a:srgbClr val="DEE7E9"/>
                      </a:solidFill>
                      <a:prstDash val="solid"/>
                    </a:lnR>
                    <a:lnT w="9525">
                      <a:solidFill>
                        <a:srgbClr val="DEE7E9"/>
                      </a:solidFill>
                      <a:prstDash val="solid"/>
                    </a:lnT>
                    <a:lnB w="9525">
                      <a:solidFill>
                        <a:srgbClr val="DEE7E9"/>
                      </a:solidFill>
                      <a:prstDash val="solid"/>
                    </a:lnB>
                    <a:solidFill>
                      <a:srgbClr val="1C303B"/>
                    </a:solidFill>
                  </a:tcPr>
                </a:tc>
              </a:tr>
              <a:tr h="730250">
                <a:tc>
                  <a:txBody>
                    <a:bodyPr/>
                    <a:lstStyle/>
                    <a:p>
                      <a:r>
                        <a:rPr sz="1800" b="0">
                          <a:solidFill>
                            <a:srgbClr val="1C303B"/>
                          </a:solidFill>
                          <a:latin typeface="Arial"/>
                          <a:ea typeface="Arial"/>
                          <a:cs typeface="Arial"/>
                        </a:rPr>
                        <a:t>PE</a:t>
                      </a:r>
                    </a:p>
                  </a:txBody>
                  <a:tcPr marL="91440" marR="91440" marT="45720" marB="45720">
                    <a:lnL w="9525">
                      <a:solidFill>
                        <a:srgbClr val="DEE7E9"/>
                      </a:solidFill>
                      <a:prstDash val="solid"/>
                    </a:lnL>
                    <a:lnR w="9525">
                      <a:solidFill>
                        <a:srgbClr val="DEE7E9"/>
                      </a:solidFill>
                      <a:prstDash val="solid"/>
                    </a:lnR>
                    <a:lnB w="9525">
                      <a:solidFill>
                        <a:srgbClr val="DEE7E9"/>
                      </a:solidFill>
                      <a:prstDash val="solid"/>
                    </a:lnB>
                    <a:solidFill>
                      <a:srgbClr val="EFF5F4"/>
                    </a:solidFill>
                  </a:tcPr>
                </a:tc>
                <a:tc>
                  <a:txBody>
                    <a:bodyPr/>
                    <a:lstStyle/>
                    <a:p>
                      <a:r>
                        <a:rPr sz="1800" b="0">
                          <a:solidFill>
                            <a:srgbClr val="1C303B"/>
                          </a:solidFill>
                          <a:latin typeface="Arial"/>
                          <a:ea typeface="Arial"/>
                          <a:cs typeface="Arial"/>
                        </a:rPr>
                        <a:t>6.84x</a:t>
                      </a:r>
                    </a:p>
                  </a:txBody>
                  <a:tcPr marL="91440" marR="91440" marT="45720" marB="45720">
                    <a:lnR w="9525">
                      <a:solidFill>
                        <a:srgbClr val="DEE7E9"/>
                      </a:solidFill>
                      <a:prstDash val="solid"/>
                    </a:lnR>
                    <a:lnB w="9525">
                      <a:solidFill>
                        <a:srgbClr val="DEE7E9"/>
                      </a:solidFill>
                      <a:prstDash val="solid"/>
                    </a:lnB>
                    <a:solidFill>
                      <a:srgbClr val="EFF5F4"/>
                    </a:solidFill>
                  </a:tcPr>
                </a:tc>
                <a:tc>
                  <a:txBody>
                    <a:bodyPr/>
                    <a:lstStyle/>
                    <a:p>
                      <a:r>
                        <a:rPr sz="1800" b="0">
                          <a:solidFill>
                            <a:srgbClr val="1C303B"/>
                          </a:solidFill>
                          <a:latin typeface="Arial"/>
                          <a:ea typeface="Arial"/>
                          <a:cs typeface="Arial"/>
                        </a:rPr>
                        <a:t>10</a:t>
                      </a:r>
                    </a:p>
                  </a:txBody>
                  <a:tcPr marL="91440" marR="91440" marT="45720" marB="45720">
                    <a:lnR w="9525">
                      <a:solidFill>
                        <a:srgbClr val="DEE7E9"/>
                      </a:solidFill>
                      <a:prstDash val="solid"/>
                    </a:lnR>
                    <a:lnB w="9525">
                      <a:solidFill>
                        <a:srgbClr val="DEE7E9"/>
                      </a:solidFill>
                      <a:prstDash val="solid"/>
                    </a:lnB>
                    <a:solidFill>
                      <a:srgbClr val="EFF5F4"/>
                    </a:solidFill>
                  </a:tcPr>
                </a:tc>
                <a:tc>
                  <a:txBody>
                    <a:bodyPr/>
                    <a:lstStyle/>
                    <a:p>
                      <a:r>
                        <a:rPr sz="1800" b="0">
                          <a:solidFill>
                            <a:srgbClr val="1C303B"/>
                          </a:solidFill>
                          <a:latin typeface="Arial"/>
                          <a:ea typeface="Arial"/>
                          <a:cs typeface="Arial"/>
                        </a:rPr>
                        <a:t>4,605</a:t>
                      </a:r>
                    </a:p>
                  </a:txBody>
                  <a:tcPr marL="91440" marR="91440" marT="45720" marB="45720">
                    <a:lnR w="9525">
                      <a:solidFill>
                        <a:srgbClr val="DEE7E9"/>
                      </a:solidFill>
                      <a:prstDash val="solid"/>
                    </a:lnR>
                    <a:lnB w="9525">
                      <a:solidFill>
                        <a:srgbClr val="DEE7E9"/>
                      </a:solidFill>
                      <a:prstDash val="solid"/>
                    </a:lnB>
                    <a:solidFill>
                      <a:srgbClr val="EFF5F4"/>
                    </a:solidFill>
                  </a:tcPr>
                </a:tc>
              </a:tr>
              <a:tr h="730250">
                <a:tc>
                  <a:txBody>
                    <a:bodyPr/>
                    <a:lstStyle/>
                    <a:p>
                      <a:r>
                        <a:rPr sz="1800" b="0">
                          <a:solidFill>
                            <a:srgbClr val="1C303B"/>
                          </a:solidFill>
                          <a:latin typeface="Arial"/>
                          <a:ea typeface="Arial"/>
                          <a:cs typeface="Arial"/>
                        </a:rPr>
                        <a:t>PB</a:t>
                      </a:r>
                    </a:p>
                  </a:txBody>
                  <a:tcPr marL="91440" marR="91440" marT="45720" marB="45720">
                    <a:lnL w="9525">
                      <a:solidFill>
                        <a:srgbClr val="DEE7E9"/>
                      </a:solidFill>
                      <a:prstDash val="solid"/>
                    </a:lnL>
                    <a:lnR w="9525">
                      <a:solidFill>
                        <a:srgbClr val="DEE7E9"/>
                      </a:solidFill>
                      <a:prstDash val="solid"/>
                    </a:lnR>
                    <a:lnB w="9525">
                      <a:solidFill>
                        <a:srgbClr val="DEE7E9"/>
                      </a:solidFill>
                      <a:prstDash val="solid"/>
                    </a:lnB>
                    <a:solidFill>
                      <a:srgbClr val="FCFDFC"/>
                    </a:solidFill>
                  </a:tcPr>
                </a:tc>
                <a:tc>
                  <a:txBody>
                    <a:bodyPr/>
                    <a:lstStyle/>
                    <a:p>
                      <a:r>
                        <a:rPr sz="1800" b="0">
                          <a:solidFill>
                            <a:srgbClr val="1C303B"/>
                          </a:solidFill>
                          <a:latin typeface="Arial"/>
                          <a:ea typeface="Arial"/>
                          <a:cs typeface="Arial"/>
                        </a:rPr>
                        <a:t>1.13x</a:t>
                      </a:r>
                    </a:p>
                  </a:txBody>
                  <a:tcPr marL="91440" marR="91440" marT="45720" marB="45720">
                    <a:lnR w="9525">
                      <a:solidFill>
                        <a:srgbClr val="DEE7E9"/>
                      </a:solidFill>
                      <a:prstDash val="solid"/>
                    </a:lnR>
                    <a:lnB w="9525">
                      <a:solidFill>
                        <a:srgbClr val="DEE7E9"/>
                      </a:solidFill>
                      <a:prstDash val="solid"/>
                    </a:lnB>
                    <a:solidFill>
                      <a:srgbClr val="FCFDFC"/>
                    </a:solidFill>
                  </a:tcPr>
                </a:tc>
                <a:tc>
                  <a:txBody>
                    <a:bodyPr/>
                    <a:lstStyle/>
                    <a:p>
                      <a:r>
                        <a:rPr sz="1800" b="0">
                          <a:solidFill>
                            <a:srgbClr val="1C303B"/>
                          </a:solidFill>
                          <a:latin typeface="Arial"/>
                          <a:ea typeface="Arial"/>
                          <a:cs typeface="Arial"/>
                        </a:rPr>
                        <a:t>12</a:t>
                      </a:r>
                    </a:p>
                  </a:txBody>
                  <a:tcPr marL="91440" marR="91440" marT="45720" marB="45720">
                    <a:lnR w="9525">
                      <a:solidFill>
                        <a:srgbClr val="DEE7E9"/>
                      </a:solidFill>
                      <a:prstDash val="solid"/>
                    </a:lnR>
                    <a:lnB w="9525">
                      <a:solidFill>
                        <a:srgbClr val="DEE7E9"/>
                      </a:solidFill>
                      <a:prstDash val="solid"/>
                    </a:lnB>
                    <a:solidFill>
                      <a:srgbClr val="FCFDFC"/>
                    </a:solidFill>
                  </a:tcPr>
                </a:tc>
                <a:tc>
                  <a:txBody>
                    <a:bodyPr/>
                    <a:lstStyle/>
                    <a:p>
                      <a:r>
                        <a:rPr sz="1800" b="0">
                          <a:solidFill>
                            <a:srgbClr val="1C303B"/>
                          </a:solidFill>
                          <a:latin typeface="Arial"/>
                          <a:ea typeface="Arial"/>
                          <a:cs typeface="Arial"/>
                        </a:rPr>
                        <a:t>3,494</a:t>
                      </a:r>
                    </a:p>
                  </a:txBody>
                  <a:tcPr marL="91440" marR="91440" marT="45720" marB="45720">
                    <a:lnR w="9525">
                      <a:solidFill>
                        <a:srgbClr val="DEE7E9"/>
                      </a:solidFill>
                      <a:prstDash val="solid"/>
                    </a:lnR>
                    <a:lnB w="9525">
                      <a:solidFill>
                        <a:srgbClr val="DEE7E9"/>
                      </a:solidFill>
                      <a:prstDash val="solid"/>
                    </a:lnB>
                    <a:solidFill>
                      <a:srgbClr val="FCFDFC"/>
                    </a:solidFill>
                  </a:tcPr>
                </a:tc>
              </a:tr>
            </a:tbl>
          </a:graphicData>
        </a:graphic>
      </p:graphicFrame>
      <p:sp>
        <p:nvSpPr>
          <p:cNvPr id="5" name="">
            <a:extLst xmlns:a="http://schemas.openxmlformats.org/drawingml/2006/main">
              <a:ext uri="{FF2B5EF4-FFF2-40B4-BE49-F238E27FC236}">
                <a16:creationId xmlns:a16="http://schemas.microsoft.com/office/drawing/2014/main" id="{F82CF43C-ED81-4341-8617-7110AEC48D2F}"/>
              </a:ext>
            </a:extLst>
          </p:cNvPr>
          <p:cNvSpPr>
            <a:spLocks xmlns:a="http://schemas.openxmlformats.org/drawingml/2006/main" noGrp="1"/>
          </p:cNvSpPr>
          <p:nvPr/>
        </p:nvSpPr>
        <p:spPr>
          <a:xfrm xmlns:a="http://schemas.openxmlformats.org/drawingml/2006/main">
            <a:off x="609600" y="4619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26977"/>
                </a:solidFill>
                <a:latin typeface="Arial"/>
                <a:ea typeface="Arial"/>
                <a:cs typeface="Arial"/>
              </a:defRPr>
            </a:defPPr>
            <a:lvl1pPr>
              <a:defRPr sz="1950" b="0">
                <a:solidFill>
                  <a:srgbClr val="526977"/>
                </a:solidFill>
                <a:latin typeface="Arial"/>
                <a:ea typeface="Arial"/>
                <a:cs typeface="Arial"/>
              </a:defRPr>
            </a:lvl1pPr>
            <a:lvl2pPr>
              <a:defRPr sz="1950" b="0">
                <a:solidFill>
                  <a:srgbClr val="526977"/>
                </a:solidFill>
                <a:latin typeface="Arial"/>
                <a:ea typeface="Arial"/>
                <a:cs typeface="Arial"/>
              </a:defRPr>
            </a:lvl2pPr>
            <a:lvl3pPr>
              <a:defRPr sz="1950" b="0">
                <a:solidFill>
                  <a:srgbClr val="526977"/>
                </a:solidFill>
                <a:latin typeface="Arial"/>
                <a:ea typeface="Arial"/>
                <a:cs typeface="Arial"/>
              </a:defRPr>
            </a:lvl3pPr>
            <a:lvl4pPr>
              <a:defRPr sz="1950" b="0">
                <a:solidFill>
                  <a:srgbClr val="526977"/>
                </a:solidFill>
                <a:latin typeface="Arial"/>
                <a:ea typeface="Arial"/>
                <a:cs typeface="Arial"/>
              </a:defRPr>
            </a:lvl4pPr>
            <a:lvl5pPr>
              <a:defRPr sz="1950" b="0">
                <a:solidFill>
                  <a:srgbClr val="526977"/>
                </a:solidFill>
                <a:latin typeface="Arial"/>
                <a:ea typeface="Arial"/>
                <a:cs typeface="Arial"/>
              </a:defRPr>
            </a:lvl5pPr>
            <a:lvl6pPr>
              <a:defRPr sz="1950" b="0">
                <a:solidFill>
                  <a:srgbClr val="526977"/>
                </a:solidFill>
                <a:latin typeface="Arial"/>
                <a:ea typeface="Arial"/>
                <a:cs typeface="Arial"/>
              </a:defRPr>
            </a:lvl6pPr>
            <a:lvl7pPr>
              <a:defRPr sz="1950" b="0">
                <a:solidFill>
                  <a:srgbClr val="526977"/>
                </a:solidFill>
                <a:latin typeface="Arial"/>
                <a:ea typeface="Arial"/>
                <a:cs typeface="Arial"/>
              </a:defRPr>
            </a:lvl7pPr>
            <a:lvl8pPr>
              <a:defRPr sz="1950" b="0">
                <a:solidFill>
                  <a:srgbClr val="526977"/>
                </a:solidFill>
                <a:latin typeface="Arial"/>
                <a:ea typeface="Arial"/>
                <a:cs typeface="Arial"/>
              </a:defRPr>
            </a:lvl8pPr>
            <a:lvl9pPr>
              <a:defRPr sz="1950" b="0">
                <a:solidFill>
                  <a:srgbClr val="526977"/>
                </a:solidFill>
                <a:latin typeface="Arial"/>
                <a:ea typeface="Arial"/>
                <a:cs typeface="Arial"/>
              </a:defRPr>
            </a:lvl9pPr>
          </a:lstStyle>
          <a:p xmlns:a="http://schemas.openxmlformats.org/drawingml/2006/main">
            <a:pPr>
              <a:defRPr sz="1950" b="0">
                <a:solidFill>
                  <a:srgbClr val="526977"/>
                </a:solidFill>
                <a:latin typeface="Arial"/>
                <a:ea typeface="Arial"/>
                <a:cs typeface="Arial"/>
              </a:defRPr>
            </a:pPr>
            <a:r>
              <a:rPr sz="1950" b="0">
                <a:solidFill>
                  <a:srgbClr val="526977"/>
                </a:solidFill>
                <a:latin typeface="Arial"/>
                <a:ea typeface="Arial"/>
                <a:cs typeface="Arial"/>
              </a:rPr>
              <a:t>Same industry/sector; prioritize subindustry and size. At least three valid observations per used multiple. Source conflicts, stale quotes and invalid denominators remain excluded.</a:t>
            </a:r>
          </a:p>
        </p:txBody>
      </p:sp>
    </p:spTree>
    <p:extLst>
      <p:ext uri="{BB962C8B-B14F-4D97-AF65-F5344CB8AC3E}">
        <p14:creationId xmlns:p14="http://schemas.microsoft.com/office/powerpoint/2010/main" val="1260575078"/>
      </p:ext>
    </p:extLst>
  </p:cSld>
</p:sld>
</file>

<file path=ppt/slides/slide11.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593372B-69F6-493E-B899-5E4F74FEF206}"/>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C303B"/>
                </a:solidFill>
                <a:latin typeface="Arial"/>
                <a:ea typeface="Arial"/>
                <a:cs typeface="Arial"/>
              </a:defRPr>
            </a:defPPr>
            <a:lvl1pPr>
              <a:defRPr sz="3225" b="1">
                <a:solidFill>
                  <a:srgbClr val="1C303B"/>
                </a:solidFill>
                <a:latin typeface="Arial"/>
                <a:ea typeface="Arial"/>
                <a:cs typeface="Arial"/>
              </a:defRPr>
            </a:lvl1pPr>
            <a:lvl2pPr>
              <a:defRPr sz="3225" b="1">
                <a:solidFill>
                  <a:srgbClr val="1C303B"/>
                </a:solidFill>
                <a:latin typeface="Arial"/>
                <a:ea typeface="Arial"/>
                <a:cs typeface="Arial"/>
              </a:defRPr>
            </a:lvl2pPr>
            <a:lvl3pPr>
              <a:defRPr sz="3225" b="1">
                <a:solidFill>
                  <a:srgbClr val="1C303B"/>
                </a:solidFill>
                <a:latin typeface="Arial"/>
                <a:ea typeface="Arial"/>
                <a:cs typeface="Arial"/>
              </a:defRPr>
            </a:lvl3pPr>
            <a:lvl4pPr>
              <a:defRPr sz="3225" b="1">
                <a:solidFill>
                  <a:srgbClr val="1C303B"/>
                </a:solidFill>
                <a:latin typeface="Arial"/>
                <a:ea typeface="Arial"/>
                <a:cs typeface="Arial"/>
              </a:defRPr>
            </a:lvl4pPr>
            <a:lvl5pPr>
              <a:defRPr sz="3225" b="1">
                <a:solidFill>
                  <a:srgbClr val="1C303B"/>
                </a:solidFill>
                <a:latin typeface="Arial"/>
                <a:ea typeface="Arial"/>
                <a:cs typeface="Arial"/>
              </a:defRPr>
            </a:lvl5pPr>
            <a:lvl6pPr>
              <a:defRPr sz="3225" b="1">
                <a:solidFill>
                  <a:srgbClr val="1C303B"/>
                </a:solidFill>
                <a:latin typeface="Arial"/>
                <a:ea typeface="Arial"/>
                <a:cs typeface="Arial"/>
              </a:defRPr>
            </a:lvl6pPr>
            <a:lvl7pPr>
              <a:defRPr sz="3225" b="1">
                <a:solidFill>
                  <a:srgbClr val="1C303B"/>
                </a:solidFill>
                <a:latin typeface="Arial"/>
                <a:ea typeface="Arial"/>
                <a:cs typeface="Arial"/>
              </a:defRPr>
            </a:lvl7pPr>
            <a:lvl8pPr>
              <a:defRPr sz="3225" b="1">
                <a:solidFill>
                  <a:srgbClr val="1C303B"/>
                </a:solidFill>
                <a:latin typeface="Arial"/>
                <a:ea typeface="Arial"/>
                <a:cs typeface="Arial"/>
              </a:defRPr>
            </a:lvl8pPr>
            <a:lvl9pPr>
              <a:defRPr sz="3225" b="1">
                <a:solidFill>
                  <a:srgbClr val="1C303B"/>
                </a:solidFill>
                <a:latin typeface="Arial"/>
                <a:ea typeface="Arial"/>
                <a:cs typeface="Arial"/>
              </a:defRPr>
            </a:lvl9pPr>
          </a:lstStyle>
          <a:p xmlns:a="http://schemas.openxmlformats.org/drawingml/2006/main">
            <a:pPr>
              <a:defRPr sz="3225" b="1">
                <a:solidFill>
                  <a:srgbClr val="1C303B"/>
                </a:solidFill>
                <a:latin typeface="Arial"/>
                <a:ea typeface="Arial"/>
                <a:cs typeface="Arial"/>
              </a:defRPr>
            </a:pPr>
            <a:r>
              <a:rPr sz="3225" b="1">
                <a:solidFill>
                  <a:srgbClr val="1C303B"/>
                </a:solidFill>
                <a:latin typeface="Arial"/>
                <a:ea typeface="Arial"/>
                <a:cs typeface="Arial"/>
              </a:rPr>
              <a:t>Method selection and weighting</a:t>
            </a:r>
          </a:p>
        </p:txBody>
      </p:sp>
      <p:sp>
        <p:nvSpPr>
          <p:cNvPr id="2" name="">
            <a:extLst xmlns:a="http://schemas.openxmlformats.org/drawingml/2006/main">
              <a:ext uri="{FF2B5EF4-FFF2-40B4-BE49-F238E27FC236}">
                <a16:creationId xmlns:a16="http://schemas.microsoft.com/office/drawing/2014/main" id="{4F26EA5C-FB70-4FDA-A0D2-4584FCD9946F}"/>
              </a:ext>
            </a:extLst>
          </p:cNvPr>
          <p:cNvSpPr>
            <a:spLocks xmlns:a="http://schemas.openxmlformats.org/drawingml/2006/main" noGrp="1"/>
          </p:cNvSpPr>
          <p:nvPr/>
        </p:nvSpPr>
        <p:spPr>
          <a:xfrm xmlns:a="http://schemas.openxmlformats.org/drawingml/2006/main">
            <a:off x="609600" y="6324600"/>
            <a:ext cx="933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977"/>
                </a:solidFill>
                <a:latin typeface="Arial"/>
                <a:ea typeface="Arial"/>
                <a:cs typeface="Arial"/>
              </a:defRPr>
            </a:defPPr>
            <a:lvl1pPr>
              <a:defRPr sz="1125" b="0">
                <a:solidFill>
                  <a:srgbClr val="526977"/>
                </a:solidFill>
                <a:latin typeface="Arial"/>
                <a:ea typeface="Arial"/>
                <a:cs typeface="Arial"/>
              </a:defRPr>
            </a:lvl1pPr>
            <a:lvl2pPr>
              <a:defRPr sz="1125" b="0">
                <a:solidFill>
                  <a:srgbClr val="526977"/>
                </a:solidFill>
                <a:latin typeface="Arial"/>
                <a:ea typeface="Arial"/>
                <a:cs typeface="Arial"/>
              </a:defRPr>
            </a:lvl2pPr>
            <a:lvl3pPr>
              <a:defRPr sz="1125" b="0">
                <a:solidFill>
                  <a:srgbClr val="526977"/>
                </a:solidFill>
                <a:latin typeface="Arial"/>
                <a:ea typeface="Arial"/>
                <a:cs typeface="Arial"/>
              </a:defRPr>
            </a:lvl3pPr>
            <a:lvl4pPr>
              <a:defRPr sz="1125" b="0">
                <a:solidFill>
                  <a:srgbClr val="526977"/>
                </a:solidFill>
                <a:latin typeface="Arial"/>
                <a:ea typeface="Arial"/>
                <a:cs typeface="Arial"/>
              </a:defRPr>
            </a:lvl4pPr>
            <a:lvl5pPr>
              <a:defRPr sz="1125" b="0">
                <a:solidFill>
                  <a:srgbClr val="526977"/>
                </a:solidFill>
                <a:latin typeface="Arial"/>
                <a:ea typeface="Arial"/>
                <a:cs typeface="Arial"/>
              </a:defRPr>
            </a:lvl5pPr>
            <a:lvl6pPr>
              <a:defRPr sz="1125" b="0">
                <a:solidFill>
                  <a:srgbClr val="526977"/>
                </a:solidFill>
                <a:latin typeface="Arial"/>
                <a:ea typeface="Arial"/>
                <a:cs typeface="Arial"/>
              </a:defRPr>
            </a:lvl6pPr>
            <a:lvl7pPr>
              <a:defRPr sz="1125" b="0">
                <a:solidFill>
                  <a:srgbClr val="526977"/>
                </a:solidFill>
                <a:latin typeface="Arial"/>
                <a:ea typeface="Arial"/>
                <a:cs typeface="Arial"/>
              </a:defRPr>
            </a:lvl7pPr>
            <a:lvl8pPr>
              <a:defRPr sz="1125" b="0">
                <a:solidFill>
                  <a:srgbClr val="526977"/>
                </a:solidFill>
                <a:latin typeface="Arial"/>
                <a:ea typeface="Arial"/>
                <a:cs typeface="Arial"/>
              </a:defRPr>
            </a:lvl8pPr>
            <a:lvl9pPr>
              <a:defRPr sz="1125" b="0">
                <a:solidFill>
                  <a:srgbClr val="526977"/>
                </a:solidFill>
                <a:latin typeface="Arial"/>
                <a:ea typeface="Arial"/>
                <a:cs typeface="Arial"/>
              </a:defRPr>
            </a:lvl9pPr>
          </a:lstStyle>
          <a:p xmlns:a="http://schemas.openxmlformats.org/drawingml/2006/main">
            <a:pPr>
              <a:defRPr sz="1125" b="0">
                <a:solidFill>
                  <a:srgbClr val="526977"/>
                </a:solidFill>
                <a:latin typeface="Arial"/>
                <a:ea typeface="Arial"/>
                <a:cs typeface="Arial"/>
              </a:defRPr>
            </a:pPr>
            <a:r>
              <a:rPr sz="1125" b="0">
                <a:solidFill>
                  <a:srgbClr val="526977"/>
                </a:solidFill>
                <a:latin typeface="Arial"/>
                <a:ea typeface="Arial"/>
                <a:cs typeface="Arial"/>
              </a:rPr>
              <a:t>RALVEN 5.0 / BMRI / 25 Oct 2026</a:t>
            </a:r>
          </a:p>
        </p:txBody>
      </p:sp>
      <p:sp>
        <p:nvSpPr>
          <p:cNvPr id="3" name="">
            <a:extLst xmlns:a="http://schemas.openxmlformats.org/drawingml/2006/main">
              <a:ext uri="{FF2B5EF4-FFF2-40B4-BE49-F238E27FC236}">
                <a16:creationId xmlns:a16="http://schemas.microsoft.com/office/drawing/2014/main" id="{60CE38D3-02FE-40D7-86EF-65CBF54F2F3D}"/>
              </a:ext>
            </a:extLst>
          </p:cNvPr>
          <p:cNvSpPr>
            <a:spLocks xmlns:a="http://schemas.openxmlformats.org/drawingml/2006/main" noGrp="1"/>
          </p:cNvSpPr>
          <p:nvPr/>
        </p:nvSpPr>
        <p:spPr>
          <a:xfrm xmlns:a="http://schemas.openxmlformats.org/drawingml/2006/main">
            <a:off x="11001375" y="63246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977"/>
                </a:solidFill>
                <a:latin typeface="Arial"/>
                <a:ea typeface="Arial"/>
                <a:cs typeface="Arial"/>
              </a:defRPr>
            </a:defPPr>
            <a:lvl1pPr>
              <a:defRPr sz="1125" b="0">
                <a:solidFill>
                  <a:srgbClr val="526977"/>
                </a:solidFill>
                <a:latin typeface="Arial"/>
                <a:ea typeface="Arial"/>
                <a:cs typeface="Arial"/>
              </a:defRPr>
            </a:lvl1pPr>
            <a:lvl2pPr>
              <a:defRPr sz="1125" b="0">
                <a:solidFill>
                  <a:srgbClr val="526977"/>
                </a:solidFill>
                <a:latin typeface="Arial"/>
                <a:ea typeface="Arial"/>
                <a:cs typeface="Arial"/>
              </a:defRPr>
            </a:lvl2pPr>
            <a:lvl3pPr>
              <a:defRPr sz="1125" b="0">
                <a:solidFill>
                  <a:srgbClr val="526977"/>
                </a:solidFill>
                <a:latin typeface="Arial"/>
                <a:ea typeface="Arial"/>
                <a:cs typeface="Arial"/>
              </a:defRPr>
            </a:lvl3pPr>
            <a:lvl4pPr>
              <a:defRPr sz="1125" b="0">
                <a:solidFill>
                  <a:srgbClr val="526977"/>
                </a:solidFill>
                <a:latin typeface="Arial"/>
                <a:ea typeface="Arial"/>
                <a:cs typeface="Arial"/>
              </a:defRPr>
            </a:lvl4pPr>
            <a:lvl5pPr>
              <a:defRPr sz="1125" b="0">
                <a:solidFill>
                  <a:srgbClr val="526977"/>
                </a:solidFill>
                <a:latin typeface="Arial"/>
                <a:ea typeface="Arial"/>
                <a:cs typeface="Arial"/>
              </a:defRPr>
            </a:lvl5pPr>
            <a:lvl6pPr>
              <a:defRPr sz="1125" b="0">
                <a:solidFill>
                  <a:srgbClr val="526977"/>
                </a:solidFill>
                <a:latin typeface="Arial"/>
                <a:ea typeface="Arial"/>
                <a:cs typeface="Arial"/>
              </a:defRPr>
            </a:lvl6pPr>
            <a:lvl7pPr>
              <a:defRPr sz="1125" b="0">
                <a:solidFill>
                  <a:srgbClr val="526977"/>
                </a:solidFill>
                <a:latin typeface="Arial"/>
                <a:ea typeface="Arial"/>
                <a:cs typeface="Arial"/>
              </a:defRPr>
            </a:lvl7pPr>
            <a:lvl8pPr>
              <a:defRPr sz="1125" b="0">
                <a:solidFill>
                  <a:srgbClr val="526977"/>
                </a:solidFill>
                <a:latin typeface="Arial"/>
                <a:ea typeface="Arial"/>
                <a:cs typeface="Arial"/>
              </a:defRPr>
            </a:lvl8pPr>
            <a:lvl9pPr>
              <a:defRPr sz="1125" b="0">
                <a:solidFill>
                  <a:srgbClr val="526977"/>
                </a:solidFill>
                <a:latin typeface="Arial"/>
                <a:ea typeface="Arial"/>
                <a:cs typeface="Arial"/>
              </a:defRPr>
            </a:lvl9pPr>
          </a:lstStyle>
          <a:p xmlns:a="http://schemas.openxmlformats.org/drawingml/2006/main">
            <a:pPr>
              <a:defRPr sz="1125" b="0">
                <a:solidFill>
                  <a:srgbClr val="526977"/>
                </a:solidFill>
                <a:latin typeface="Arial"/>
                <a:ea typeface="Arial"/>
                <a:cs typeface="Arial"/>
              </a:defRPr>
            </a:pPr>
            <a:r>
              <a:rPr sz="1125" b="0">
                <a:solidFill>
                  <a:srgbClr val="526977"/>
                </a:solidFill>
                <a:latin typeface="Arial"/>
                <a:ea typeface="Arial"/>
                <a:cs typeface="Arial"/>
              </a:rPr>
              <a:t>11</a:t>
            </a:r>
          </a:p>
        </p:txBody>
      </p:sp>
      <p:graphicFrame>
        <p:nvGraphicFramePr>
          <p:cNvPr id="4" name="">
            <a:extLst xmlns:a="http://schemas.openxmlformats.org/drawingml/2006/main">
              <a:ext uri="{FF2B5EF4-FFF2-40B4-BE49-F238E27FC236}">
                <a16:creationId xmlns:a16="http://schemas.microsoft.com/office/drawing/2014/main" id="{C643EBD8-6F6E-4A74-9E1A-BF1288027637}"/>
              </a:ext>
            </a:extLst>
          </p:cNvPr>
          <p:cNvGraphicFramePr/>
          <p:nvPr/>
        </p:nvGraphicFramePr>
        <p:xfrm>
          <a:off xmlns:a="http://schemas.openxmlformats.org/drawingml/2006/main" x="609600" y="1952625"/>
          <a:ext xmlns:a="http://schemas.openxmlformats.org/drawingml/2006/main" cx="10972800" cy="3333750"/>
        </p:xfrm>
        <a:graphic xmlns:a="http://schemas.openxmlformats.org/drawingml/2006/main">
          <a:graphicData uri="http://schemas.openxmlformats.org/drawingml/2006/table">
            <a:tbl>
              <a:tblPr/>
              <a:tblGrid>
                <a:gridCol w="5486400"/>
                <a:gridCol w="5486400"/>
              </a:tblGrid>
              <a:tr h="555625">
                <a:tc>
                  <a:txBody>
                    <a:bodyPr/>
                    <a:lstStyle/>
                    <a:p>
                      <a:r>
                        <a:rPr sz="1725" b="1">
                          <a:solidFill>
                            <a:srgbClr val="FFFFFF"/>
                          </a:solidFill>
                          <a:latin typeface="Arial"/>
                          <a:ea typeface="Arial"/>
                          <a:cs typeface="Arial"/>
                        </a:rPr>
                        <a:t>Rule</a:t>
                      </a:r>
                    </a:p>
                  </a:txBody>
                  <a:tcPr marL="91440" marR="91440" marT="45720" marB="45720">
                    <a:lnL w="9525">
                      <a:solidFill>
                        <a:srgbClr val="DEE7E9"/>
                      </a:solidFill>
                      <a:prstDash val="solid"/>
                    </a:lnL>
                    <a:lnR w="9525">
                      <a:solidFill>
                        <a:srgbClr val="DEE7E9"/>
                      </a:solidFill>
                      <a:prstDash val="solid"/>
                    </a:lnR>
                    <a:lnT w="9525">
                      <a:solidFill>
                        <a:srgbClr val="DEE7E9"/>
                      </a:solidFill>
                      <a:prstDash val="solid"/>
                    </a:lnT>
                    <a:lnB w="9525">
                      <a:solidFill>
                        <a:srgbClr val="DEE7E9"/>
                      </a:solidFill>
                      <a:prstDash val="solid"/>
                    </a:lnB>
                    <a:solidFill>
                      <a:srgbClr val="1C303B"/>
                    </a:solidFill>
                  </a:tcPr>
                </a:tc>
                <a:tc>
                  <a:txBody>
                    <a:bodyPr/>
                    <a:lstStyle/>
                    <a:p>
                      <a:r>
                        <a:rPr sz="1725" b="1">
                          <a:solidFill>
                            <a:srgbClr val="FFFFFF"/>
                          </a:solidFill>
                          <a:latin typeface="Arial"/>
                          <a:ea typeface="Arial"/>
                          <a:cs typeface="Arial"/>
                        </a:rPr>
                        <a:t>Intrinsic / relative</a:t>
                      </a:r>
                    </a:p>
                  </a:txBody>
                  <a:tcPr marL="91440" marR="91440" marT="45720" marB="45720">
                    <a:lnR w="9525">
                      <a:solidFill>
                        <a:srgbClr val="DEE7E9"/>
                      </a:solidFill>
                      <a:prstDash val="solid"/>
                    </a:lnR>
                    <a:lnT w="9525">
                      <a:solidFill>
                        <a:srgbClr val="DEE7E9"/>
                      </a:solidFill>
                      <a:prstDash val="solid"/>
                    </a:lnT>
                    <a:lnB w="9525">
                      <a:solidFill>
                        <a:srgbClr val="DEE7E9"/>
                      </a:solidFill>
                      <a:prstDash val="solid"/>
                    </a:lnB>
                    <a:solidFill>
                      <a:srgbClr val="1C303B"/>
                    </a:solidFill>
                  </a:tcPr>
                </a:tc>
              </a:tr>
              <a:tr h="555625">
                <a:tc>
                  <a:txBody>
                    <a:bodyPr/>
                    <a:lstStyle/>
                    <a:p>
                      <a:r>
                        <a:rPr sz="1725" b="0">
                          <a:solidFill>
                            <a:srgbClr val="1C303B"/>
                          </a:solidFill>
                          <a:latin typeface="Arial"/>
                          <a:ea typeface="Arial"/>
                          <a:cs typeface="Arial"/>
                        </a:rPr>
                        <a:t>Stable positive corporate operating CF</a:t>
                      </a:r>
                    </a:p>
                  </a:txBody>
                  <a:tcPr marL="91440" marR="91440" marT="45720" marB="45720">
                    <a:lnL w="9525">
                      <a:solidFill>
                        <a:srgbClr val="DEE7E9"/>
                      </a:solidFill>
                      <a:prstDash val="solid"/>
                    </a:lnL>
                    <a:lnR w="9525">
                      <a:solidFill>
                        <a:srgbClr val="DEE7E9"/>
                      </a:solidFill>
                      <a:prstDash val="solid"/>
                    </a:lnR>
                    <a:lnB w="9525">
                      <a:solidFill>
                        <a:srgbClr val="DEE7E9"/>
                      </a:solidFill>
                      <a:prstDash val="solid"/>
                    </a:lnB>
                    <a:solidFill>
                      <a:srgbClr val="EFF5F4"/>
                    </a:solidFill>
                  </a:tcPr>
                </a:tc>
                <a:tc>
                  <a:txBody>
                    <a:bodyPr/>
                    <a:lstStyle/>
                    <a:p>
                      <a:r>
                        <a:rPr sz="1725" b="0">
                          <a:solidFill>
                            <a:srgbClr val="1C303B"/>
                          </a:solidFill>
                          <a:latin typeface="Arial"/>
                          <a:ea typeface="Arial"/>
                          <a:cs typeface="Arial"/>
                        </a:rPr>
                        <a:t>70% / 30%</a:t>
                      </a:r>
                    </a:p>
                  </a:txBody>
                  <a:tcPr marL="91440" marR="91440" marT="45720" marB="45720">
                    <a:lnR w="9525">
                      <a:solidFill>
                        <a:srgbClr val="DEE7E9"/>
                      </a:solidFill>
                      <a:prstDash val="solid"/>
                    </a:lnR>
                    <a:lnB w="9525">
                      <a:solidFill>
                        <a:srgbClr val="DEE7E9"/>
                      </a:solidFill>
                      <a:prstDash val="solid"/>
                    </a:lnB>
                    <a:solidFill>
                      <a:srgbClr val="EFF5F4"/>
                    </a:solidFill>
                  </a:tcPr>
                </a:tc>
              </a:tr>
              <a:tr h="555625">
                <a:tc>
                  <a:txBody>
                    <a:bodyPr/>
                    <a:lstStyle/>
                    <a:p>
                      <a:r>
                        <a:rPr sz="1725" b="0">
                          <a:solidFill>
                            <a:srgbClr val="1C303B"/>
                          </a:solidFill>
                          <a:latin typeface="Arial"/>
                          <a:ea typeface="Arial"/>
                          <a:cs typeface="Arial"/>
                        </a:rPr>
                        <a:t>Unproven corporate cash-flow stability</a:t>
                      </a:r>
                    </a:p>
                  </a:txBody>
                  <a:tcPr marL="91440" marR="91440" marT="45720" marB="45720">
                    <a:lnL w="9525">
                      <a:solidFill>
                        <a:srgbClr val="DEE7E9"/>
                      </a:solidFill>
                      <a:prstDash val="solid"/>
                    </a:lnL>
                    <a:lnR w="9525">
                      <a:solidFill>
                        <a:srgbClr val="DEE7E9"/>
                      </a:solidFill>
                      <a:prstDash val="solid"/>
                    </a:lnR>
                    <a:lnB w="9525">
                      <a:solidFill>
                        <a:srgbClr val="DEE7E9"/>
                      </a:solidFill>
                      <a:prstDash val="solid"/>
                    </a:lnB>
                    <a:solidFill>
                      <a:srgbClr val="FCFDFC"/>
                    </a:solidFill>
                  </a:tcPr>
                </a:tc>
                <a:tc>
                  <a:txBody>
                    <a:bodyPr/>
                    <a:lstStyle/>
                    <a:p>
                      <a:r>
                        <a:rPr sz="1725" b="0">
                          <a:solidFill>
                            <a:srgbClr val="1C303B"/>
                          </a:solidFill>
                          <a:latin typeface="Arial"/>
                          <a:ea typeface="Arial"/>
                          <a:cs typeface="Arial"/>
                        </a:rPr>
                        <a:t>40% / 60%</a:t>
                      </a:r>
                    </a:p>
                  </a:txBody>
                  <a:tcPr marL="91440" marR="91440" marT="45720" marB="45720">
                    <a:lnR w="9525">
                      <a:solidFill>
                        <a:srgbClr val="DEE7E9"/>
                      </a:solidFill>
                      <a:prstDash val="solid"/>
                    </a:lnR>
                    <a:lnB w="9525">
                      <a:solidFill>
                        <a:srgbClr val="DEE7E9"/>
                      </a:solidFill>
                      <a:prstDash val="solid"/>
                    </a:lnB>
                    <a:solidFill>
                      <a:srgbClr val="FCFDFC"/>
                    </a:solidFill>
                  </a:tcPr>
                </a:tc>
              </a:tr>
              <a:tr h="555625">
                <a:tc>
                  <a:txBody>
                    <a:bodyPr/>
                    <a:lstStyle/>
                    <a:p>
                      <a:r>
                        <a:rPr sz="1725" b="0">
                          <a:solidFill>
                            <a:srgbClr val="1C303B"/>
                          </a:solidFill>
                          <a:latin typeface="Arial"/>
                          <a:ea typeface="Arial"/>
                          <a:cs typeface="Arial"/>
                        </a:rPr>
                        <a:t>Eligible bank DDM and peer valuation</a:t>
                      </a:r>
                    </a:p>
                  </a:txBody>
                  <a:tcPr marL="91440" marR="91440" marT="45720" marB="45720">
                    <a:lnL w="9525">
                      <a:solidFill>
                        <a:srgbClr val="DEE7E9"/>
                      </a:solidFill>
                      <a:prstDash val="solid"/>
                    </a:lnL>
                    <a:lnR w="9525">
                      <a:solidFill>
                        <a:srgbClr val="DEE7E9"/>
                      </a:solidFill>
                      <a:prstDash val="solid"/>
                    </a:lnR>
                    <a:lnB w="9525">
                      <a:solidFill>
                        <a:srgbClr val="DEE7E9"/>
                      </a:solidFill>
                      <a:prstDash val="solid"/>
                    </a:lnB>
                    <a:solidFill>
                      <a:srgbClr val="EFF5F4"/>
                    </a:solidFill>
                  </a:tcPr>
                </a:tc>
                <a:tc>
                  <a:txBody>
                    <a:bodyPr/>
                    <a:lstStyle/>
                    <a:p>
                      <a:r>
                        <a:rPr sz="1725" b="0">
                          <a:solidFill>
                            <a:srgbClr val="1C303B"/>
                          </a:solidFill>
                          <a:latin typeface="Arial"/>
                          <a:ea typeface="Arial"/>
                          <a:cs typeface="Arial"/>
                        </a:rPr>
                        <a:t>50% / 50%</a:t>
                      </a:r>
                    </a:p>
                  </a:txBody>
                  <a:tcPr marL="91440" marR="91440" marT="45720" marB="45720">
                    <a:lnR w="9525">
                      <a:solidFill>
                        <a:srgbClr val="DEE7E9"/>
                      </a:solidFill>
                      <a:prstDash val="solid"/>
                    </a:lnR>
                    <a:lnB w="9525">
                      <a:solidFill>
                        <a:srgbClr val="DEE7E9"/>
                      </a:solidFill>
                      <a:prstDash val="solid"/>
                    </a:lnB>
                    <a:solidFill>
                      <a:srgbClr val="EFF5F4"/>
                    </a:solidFill>
                  </a:tcPr>
                </a:tc>
              </a:tr>
              <a:tr h="555625">
                <a:tc>
                  <a:txBody>
                    <a:bodyPr/>
                    <a:lstStyle/>
                    <a:p>
                      <a:r>
                        <a:rPr sz="1725" b="0">
                          <a:solidFill>
                            <a:srgbClr val="1C303B"/>
                          </a:solidFill>
                          <a:latin typeface="Arial"/>
                          <a:ea typeface="Arial"/>
                          <a:cs typeface="Arial"/>
                        </a:rPr>
                        <a:t>Only one eligible method</a:t>
                      </a:r>
                    </a:p>
                  </a:txBody>
                  <a:tcPr marL="91440" marR="91440" marT="45720" marB="45720">
                    <a:lnL w="9525">
                      <a:solidFill>
                        <a:srgbClr val="DEE7E9"/>
                      </a:solidFill>
                      <a:prstDash val="solid"/>
                    </a:lnL>
                    <a:lnR w="9525">
                      <a:solidFill>
                        <a:srgbClr val="DEE7E9"/>
                      </a:solidFill>
                      <a:prstDash val="solid"/>
                    </a:lnR>
                    <a:lnB w="9525">
                      <a:solidFill>
                        <a:srgbClr val="DEE7E9"/>
                      </a:solidFill>
                      <a:prstDash val="solid"/>
                    </a:lnB>
                    <a:solidFill>
                      <a:srgbClr val="FCFDFC"/>
                    </a:solidFill>
                  </a:tcPr>
                </a:tc>
                <a:tc>
                  <a:txBody>
                    <a:bodyPr/>
                    <a:lstStyle/>
                    <a:p>
                      <a:r>
                        <a:rPr sz="1725" b="0">
                          <a:solidFill>
                            <a:srgbClr val="1C303B"/>
                          </a:solidFill>
                          <a:latin typeface="Arial"/>
                          <a:ea typeface="Arial"/>
                          <a:cs typeface="Arial"/>
                        </a:rPr>
                        <a:t>100% eligible method</a:t>
                      </a:r>
                    </a:p>
                  </a:txBody>
                  <a:tcPr marL="91440" marR="91440" marT="45720" marB="45720">
                    <a:lnR w="9525">
                      <a:solidFill>
                        <a:srgbClr val="DEE7E9"/>
                      </a:solidFill>
                      <a:prstDash val="solid"/>
                    </a:lnR>
                    <a:lnB w="9525">
                      <a:solidFill>
                        <a:srgbClr val="DEE7E9"/>
                      </a:solidFill>
                      <a:prstDash val="solid"/>
                    </a:lnB>
                    <a:solidFill>
                      <a:srgbClr val="FCFDFC"/>
                    </a:solidFill>
                  </a:tcPr>
                </a:tc>
              </a:tr>
              <a:tr h="555625">
                <a:tc>
                  <a:txBody>
                    <a:bodyPr/>
                    <a:lstStyle/>
                    <a:p>
                      <a:r>
                        <a:rPr sz="1725" b="0">
                          <a:solidFill>
                            <a:srgbClr val="1C303B"/>
                          </a:solidFill>
                          <a:latin typeface="Arial"/>
                          <a:ea typeface="Arial"/>
                          <a:cs typeface="Arial"/>
                        </a:rPr>
                        <a:t>No supported fundamental method</a:t>
                      </a:r>
                    </a:p>
                  </a:txBody>
                  <a:tcPr marL="91440" marR="91440" marT="45720" marB="45720">
                    <a:lnL w="9525">
                      <a:solidFill>
                        <a:srgbClr val="DEE7E9"/>
                      </a:solidFill>
                      <a:prstDash val="solid"/>
                    </a:lnL>
                    <a:lnR w="9525">
                      <a:solidFill>
                        <a:srgbClr val="DEE7E9"/>
                      </a:solidFill>
                      <a:prstDash val="solid"/>
                    </a:lnR>
                    <a:lnB w="9525">
                      <a:solidFill>
                        <a:srgbClr val="DEE7E9"/>
                      </a:solidFill>
                      <a:prstDash val="solid"/>
                    </a:lnB>
                    <a:solidFill>
                      <a:srgbClr val="EFF5F4"/>
                    </a:solidFill>
                  </a:tcPr>
                </a:tc>
                <a:tc>
                  <a:txBody>
                    <a:bodyPr/>
                    <a:lstStyle/>
                    <a:p>
                      <a:r>
                        <a:rPr sz="1725" b="0">
                          <a:solidFill>
                            <a:srgbClr val="1C303B"/>
                          </a:solidFill>
                          <a:latin typeface="Arial"/>
                          <a:ea typeface="Arial"/>
                          <a:cs typeface="Arial"/>
                        </a:rPr>
                        <a:t>Technical-only signal or WAIT, clearly labelled</a:t>
                      </a:r>
                    </a:p>
                  </a:txBody>
                  <a:tcPr marL="91440" marR="91440" marT="45720" marB="45720">
                    <a:lnR w="9525">
                      <a:solidFill>
                        <a:srgbClr val="DEE7E9"/>
                      </a:solidFill>
                      <a:prstDash val="solid"/>
                    </a:lnR>
                    <a:lnB w="9525">
                      <a:solidFill>
                        <a:srgbClr val="DEE7E9"/>
                      </a:solidFill>
                      <a:prstDash val="solid"/>
                    </a:lnB>
                    <a:solidFill>
                      <a:srgbClr val="EFF5F4"/>
                    </a:solidFill>
                  </a:tcPr>
                </a:tc>
              </a:tr>
            </a:tbl>
          </a:graphicData>
        </a:graphic>
      </p:graphicFrame>
      <p:sp>
        <p:nvSpPr>
          <p:cNvPr id="5" name="">
            <a:extLst xmlns:a="http://schemas.openxmlformats.org/drawingml/2006/main">
              <a:ext uri="{FF2B5EF4-FFF2-40B4-BE49-F238E27FC236}">
                <a16:creationId xmlns:a16="http://schemas.microsoft.com/office/drawing/2014/main" id="{63C0974D-AFB1-420D-8F06-7B39DE7E760F}"/>
              </a:ext>
            </a:extLst>
          </p:cNvPr>
          <p:cNvSpPr>
            <a:spLocks xmlns:a="http://schemas.openxmlformats.org/drawingml/2006/main" noGrp="1"/>
          </p:cNvSpPr>
          <p:nvPr/>
        </p:nvSpPr>
        <p:spPr>
          <a:xfrm xmlns:a="http://schemas.openxmlformats.org/drawingml/2006/main">
            <a:off x="609600" y="561975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977"/>
                </a:solidFill>
                <a:latin typeface="Arial"/>
                <a:ea typeface="Arial"/>
                <a:cs typeface="Arial"/>
              </a:defRPr>
            </a:defPPr>
            <a:lvl1pPr>
              <a:defRPr sz="1725" b="0">
                <a:solidFill>
                  <a:srgbClr val="526977"/>
                </a:solidFill>
                <a:latin typeface="Arial"/>
                <a:ea typeface="Arial"/>
                <a:cs typeface="Arial"/>
              </a:defRPr>
            </a:lvl1pPr>
            <a:lvl2pPr>
              <a:defRPr sz="1725" b="0">
                <a:solidFill>
                  <a:srgbClr val="526977"/>
                </a:solidFill>
                <a:latin typeface="Arial"/>
                <a:ea typeface="Arial"/>
                <a:cs typeface="Arial"/>
              </a:defRPr>
            </a:lvl2pPr>
            <a:lvl3pPr>
              <a:defRPr sz="1725" b="0">
                <a:solidFill>
                  <a:srgbClr val="526977"/>
                </a:solidFill>
                <a:latin typeface="Arial"/>
                <a:ea typeface="Arial"/>
                <a:cs typeface="Arial"/>
              </a:defRPr>
            </a:lvl3pPr>
            <a:lvl4pPr>
              <a:defRPr sz="1725" b="0">
                <a:solidFill>
                  <a:srgbClr val="526977"/>
                </a:solidFill>
                <a:latin typeface="Arial"/>
                <a:ea typeface="Arial"/>
                <a:cs typeface="Arial"/>
              </a:defRPr>
            </a:lvl4pPr>
            <a:lvl5pPr>
              <a:defRPr sz="1725" b="0">
                <a:solidFill>
                  <a:srgbClr val="526977"/>
                </a:solidFill>
                <a:latin typeface="Arial"/>
                <a:ea typeface="Arial"/>
                <a:cs typeface="Arial"/>
              </a:defRPr>
            </a:lvl5pPr>
            <a:lvl6pPr>
              <a:defRPr sz="1725" b="0">
                <a:solidFill>
                  <a:srgbClr val="526977"/>
                </a:solidFill>
                <a:latin typeface="Arial"/>
                <a:ea typeface="Arial"/>
                <a:cs typeface="Arial"/>
              </a:defRPr>
            </a:lvl6pPr>
            <a:lvl7pPr>
              <a:defRPr sz="1725" b="0">
                <a:solidFill>
                  <a:srgbClr val="526977"/>
                </a:solidFill>
                <a:latin typeface="Arial"/>
                <a:ea typeface="Arial"/>
                <a:cs typeface="Arial"/>
              </a:defRPr>
            </a:lvl7pPr>
            <a:lvl8pPr>
              <a:defRPr sz="1725" b="0">
                <a:solidFill>
                  <a:srgbClr val="526977"/>
                </a:solidFill>
                <a:latin typeface="Arial"/>
                <a:ea typeface="Arial"/>
                <a:cs typeface="Arial"/>
              </a:defRPr>
            </a:lvl8pPr>
            <a:lvl9pPr>
              <a:defRPr sz="1725" b="0">
                <a:solidFill>
                  <a:srgbClr val="526977"/>
                </a:solidFill>
                <a:latin typeface="Arial"/>
                <a:ea typeface="Arial"/>
                <a:cs typeface="Arial"/>
              </a:defRPr>
            </a:lvl9pPr>
          </a:lstStyle>
          <a:p xmlns:a="http://schemas.openxmlformats.org/drawingml/2006/main">
            <a:pPr>
              <a:defRPr sz="1725" b="0">
                <a:solidFill>
                  <a:srgbClr val="526977"/>
                </a:solidFill>
                <a:latin typeface="Arial"/>
                <a:ea typeface="Arial"/>
                <a:cs typeface="Arial"/>
              </a:defRPr>
            </a:pPr>
            <a:r>
              <a:rPr sz="1725" b="0">
                <a:solidFill>
                  <a:srgbClr val="526977"/>
                </a:solidFill>
                <a:latin typeface="Arial"/>
                <a:ea typeface="Arial"/>
                <a:cs typeface="Arial"/>
              </a:rPr>
              <a:t>Actual BMRI allocation: 50% DDM / 50% relative. Market price is a reference, not a blended valuation method.</a:t>
            </a:r>
          </a:p>
        </p:txBody>
      </p:sp>
    </p:spTree>
    <p:extLst>
      <p:ext uri="{BB962C8B-B14F-4D97-AF65-F5344CB8AC3E}">
        <p14:creationId xmlns:p14="http://schemas.microsoft.com/office/powerpoint/2010/main" val="624629450"/>
      </p:ext>
    </p:extLst>
  </p:cSld>
</p:sld>
</file>

<file path=ppt/slides/slide12.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C3D16E0-333B-4FC2-A3E9-04D93E1B1B17}"/>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C303B"/>
                </a:solidFill>
                <a:latin typeface="Arial"/>
                <a:ea typeface="Arial"/>
                <a:cs typeface="Arial"/>
              </a:defRPr>
            </a:defPPr>
            <a:lvl1pPr>
              <a:defRPr sz="3225" b="1">
                <a:solidFill>
                  <a:srgbClr val="1C303B"/>
                </a:solidFill>
                <a:latin typeface="Arial"/>
                <a:ea typeface="Arial"/>
                <a:cs typeface="Arial"/>
              </a:defRPr>
            </a:lvl1pPr>
            <a:lvl2pPr>
              <a:defRPr sz="3225" b="1">
                <a:solidFill>
                  <a:srgbClr val="1C303B"/>
                </a:solidFill>
                <a:latin typeface="Arial"/>
                <a:ea typeface="Arial"/>
                <a:cs typeface="Arial"/>
              </a:defRPr>
            </a:lvl2pPr>
            <a:lvl3pPr>
              <a:defRPr sz="3225" b="1">
                <a:solidFill>
                  <a:srgbClr val="1C303B"/>
                </a:solidFill>
                <a:latin typeface="Arial"/>
                <a:ea typeface="Arial"/>
                <a:cs typeface="Arial"/>
              </a:defRPr>
            </a:lvl3pPr>
            <a:lvl4pPr>
              <a:defRPr sz="3225" b="1">
                <a:solidFill>
                  <a:srgbClr val="1C303B"/>
                </a:solidFill>
                <a:latin typeface="Arial"/>
                <a:ea typeface="Arial"/>
                <a:cs typeface="Arial"/>
              </a:defRPr>
            </a:lvl4pPr>
            <a:lvl5pPr>
              <a:defRPr sz="3225" b="1">
                <a:solidFill>
                  <a:srgbClr val="1C303B"/>
                </a:solidFill>
                <a:latin typeface="Arial"/>
                <a:ea typeface="Arial"/>
                <a:cs typeface="Arial"/>
              </a:defRPr>
            </a:lvl5pPr>
            <a:lvl6pPr>
              <a:defRPr sz="3225" b="1">
                <a:solidFill>
                  <a:srgbClr val="1C303B"/>
                </a:solidFill>
                <a:latin typeface="Arial"/>
                <a:ea typeface="Arial"/>
                <a:cs typeface="Arial"/>
              </a:defRPr>
            </a:lvl6pPr>
            <a:lvl7pPr>
              <a:defRPr sz="3225" b="1">
                <a:solidFill>
                  <a:srgbClr val="1C303B"/>
                </a:solidFill>
                <a:latin typeface="Arial"/>
                <a:ea typeface="Arial"/>
                <a:cs typeface="Arial"/>
              </a:defRPr>
            </a:lvl7pPr>
            <a:lvl8pPr>
              <a:defRPr sz="3225" b="1">
                <a:solidFill>
                  <a:srgbClr val="1C303B"/>
                </a:solidFill>
                <a:latin typeface="Arial"/>
                <a:ea typeface="Arial"/>
                <a:cs typeface="Arial"/>
              </a:defRPr>
            </a:lvl8pPr>
            <a:lvl9pPr>
              <a:defRPr sz="3225" b="1">
                <a:solidFill>
                  <a:srgbClr val="1C303B"/>
                </a:solidFill>
                <a:latin typeface="Arial"/>
                <a:ea typeface="Arial"/>
                <a:cs typeface="Arial"/>
              </a:defRPr>
            </a:lvl9pPr>
          </a:lstStyle>
          <a:p xmlns:a="http://schemas.openxmlformats.org/drawingml/2006/main">
            <a:pPr>
              <a:defRPr sz="3225" b="1">
                <a:solidFill>
                  <a:srgbClr val="1C303B"/>
                </a:solidFill>
                <a:latin typeface="Arial"/>
                <a:ea typeface="Arial"/>
                <a:cs typeface="Arial"/>
              </a:defRPr>
            </a:pPr>
            <a:r>
              <a:rPr sz="3225" b="1">
                <a:solidFill>
                  <a:srgbClr val="1C303B"/>
                </a:solidFill>
                <a:latin typeface="Arial"/>
                <a:ea typeface="Arial"/>
                <a:cs typeface="Arial"/>
              </a:rPr>
              <a:t>Scenarios and uncertainty</a:t>
            </a:r>
          </a:p>
        </p:txBody>
      </p:sp>
      <p:sp>
        <p:nvSpPr>
          <p:cNvPr id="2" name="">
            <a:extLst xmlns:a="http://schemas.openxmlformats.org/drawingml/2006/main">
              <a:ext uri="{FF2B5EF4-FFF2-40B4-BE49-F238E27FC236}">
                <a16:creationId xmlns:a16="http://schemas.microsoft.com/office/drawing/2014/main" id="{361E65B8-F710-4A8C-9212-9237FE26ECB4}"/>
              </a:ext>
            </a:extLst>
          </p:cNvPr>
          <p:cNvSpPr>
            <a:spLocks xmlns:a="http://schemas.openxmlformats.org/drawingml/2006/main" noGrp="1"/>
          </p:cNvSpPr>
          <p:nvPr/>
        </p:nvSpPr>
        <p:spPr>
          <a:xfrm xmlns:a="http://schemas.openxmlformats.org/drawingml/2006/main">
            <a:off x="609600" y="6324600"/>
            <a:ext cx="933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977"/>
                </a:solidFill>
                <a:latin typeface="Arial"/>
                <a:ea typeface="Arial"/>
                <a:cs typeface="Arial"/>
              </a:defRPr>
            </a:defPPr>
            <a:lvl1pPr>
              <a:defRPr sz="1125" b="0">
                <a:solidFill>
                  <a:srgbClr val="526977"/>
                </a:solidFill>
                <a:latin typeface="Arial"/>
                <a:ea typeface="Arial"/>
                <a:cs typeface="Arial"/>
              </a:defRPr>
            </a:lvl1pPr>
            <a:lvl2pPr>
              <a:defRPr sz="1125" b="0">
                <a:solidFill>
                  <a:srgbClr val="526977"/>
                </a:solidFill>
                <a:latin typeface="Arial"/>
                <a:ea typeface="Arial"/>
                <a:cs typeface="Arial"/>
              </a:defRPr>
            </a:lvl2pPr>
            <a:lvl3pPr>
              <a:defRPr sz="1125" b="0">
                <a:solidFill>
                  <a:srgbClr val="526977"/>
                </a:solidFill>
                <a:latin typeface="Arial"/>
                <a:ea typeface="Arial"/>
                <a:cs typeface="Arial"/>
              </a:defRPr>
            </a:lvl3pPr>
            <a:lvl4pPr>
              <a:defRPr sz="1125" b="0">
                <a:solidFill>
                  <a:srgbClr val="526977"/>
                </a:solidFill>
                <a:latin typeface="Arial"/>
                <a:ea typeface="Arial"/>
                <a:cs typeface="Arial"/>
              </a:defRPr>
            </a:lvl4pPr>
            <a:lvl5pPr>
              <a:defRPr sz="1125" b="0">
                <a:solidFill>
                  <a:srgbClr val="526977"/>
                </a:solidFill>
                <a:latin typeface="Arial"/>
                <a:ea typeface="Arial"/>
                <a:cs typeface="Arial"/>
              </a:defRPr>
            </a:lvl5pPr>
            <a:lvl6pPr>
              <a:defRPr sz="1125" b="0">
                <a:solidFill>
                  <a:srgbClr val="526977"/>
                </a:solidFill>
                <a:latin typeface="Arial"/>
                <a:ea typeface="Arial"/>
                <a:cs typeface="Arial"/>
              </a:defRPr>
            </a:lvl6pPr>
            <a:lvl7pPr>
              <a:defRPr sz="1125" b="0">
                <a:solidFill>
                  <a:srgbClr val="526977"/>
                </a:solidFill>
                <a:latin typeface="Arial"/>
                <a:ea typeface="Arial"/>
                <a:cs typeface="Arial"/>
              </a:defRPr>
            </a:lvl7pPr>
            <a:lvl8pPr>
              <a:defRPr sz="1125" b="0">
                <a:solidFill>
                  <a:srgbClr val="526977"/>
                </a:solidFill>
                <a:latin typeface="Arial"/>
                <a:ea typeface="Arial"/>
                <a:cs typeface="Arial"/>
              </a:defRPr>
            </a:lvl8pPr>
            <a:lvl9pPr>
              <a:defRPr sz="1125" b="0">
                <a:solidFill>
                  <a:srgbClr val="526977"/>
                </a:solidFill>
                <a:latin typeface="Arial"/>
                <a:ea typeface="Arial"/>
                <a:cs typeface="Arial"/>
              </a:defRPr>
            </a:lvl9pPr>
          </a:lstStyle>
          <a:p xmlns:a="http://schemas.openxmlformats.org/drawingml/2006/main">
            <a:pPr>
              <a:defRPr sz="1125" b="0">
                <a:solidFill>
                  <a:srgbClr val="526977"/>
                </a:solidFill>
                <a:latin typeface="Arial"/>
                <a:ea typeface="Arial"/>
                <a:cs typeface="Arial"/>
              </a:defRPr>
            </a:pPr>
            <a:r>
              <a:rPr sz="1125" b="0">
                <a:solidFill>
                  <a:srgbClr val="526977"/>
                </a:solidFill>
                <a:latin typeface="Arial"/>
                <a:ea typeface="Arial"/>
                <a:cs typeface="Arial"/>
              </a:rPr>
              <a:t>RALVEN 5.0 / BMRI / 25 Oct 2026</a:t>
            </a:r>
          </a:p>
        </p:txBody>
      </p:sp>
      <p:sp>
        <p:nvSpPr>
          <p:cNvPr id="3" name="">
            <a:extLst xmlns:a="http://schemas.openxmlformats.org/drawingml/2006/main">
              <a:ext uri="{FF2B5EF4-FFF2-40B4-BE49-F238E27FC236}">
                <a16:creationId xmlns:a16="http://schemas.microsoft.com/office/drawing/2014/main" id="{E2EF6927-DC65-4F98-8559-CEB7B6EB3D2B}"/>
              </a:ext>
            </a:extLst>
          </p:cNvPr>
          <p:cNvSpPr>
            <a:spLocks xmlns:a="http://schemas.openxmlformats.org/drawingml/2006/main" noGrp="1"/>
          </p:cNvSpPr>
          <p:nvPr/>
        </p:nvSpPr>
        <p:spPr>
          <a:xfrm xmlns:a="http://schemas.openxmlformats.org/drawingml/2006/main">
            <a:off x="11001375" y="63246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977"/>
                </a:solidFill>
                <a:latin typeface="Arial"/>
                <a:ea typeface="Arial"/>
                <a:cs typeface="Arial"/>
              </a:defRPr>
            </a:defPPr>
            <a:lvl1pPr>
              <a:defRPr sz="1125" b="0">
                <a:solidFill>
                  <a:srgbClr val="526977"/>
                </a:solidFill>
                <a:latin typeface="Arial"/>
                <a:ea typeface="Arial"/>
                <a:cs typeface="Arial"/>
              </a:defRPr>
            </a:lvl1pPr>
            <a:lvl2pPr>
              <a:defRPr sz="1125" b="0">
                <a:solidFill>
                  <a:srgbClr val="526977"/>
                </a:solidFill>
                <a:latin typeface="Arial"/>
                <a:ea typeface="Arial"/>
                <a:cs typeface="Arial"/>
              </a:defRPr>
            </a:lvl2pPr>
            <a:lvl3pPr>
              <a:defRPr sz="1125" b="0">
                <a:solidFill>
                  <a:srgbClr val="526977"/>
                </a:solidFill>
                <a:latin typeface="Arial"/>
                <a:ea typeface="Arial"/>
                <a:cs typeface="Arial"/>
              </a:defRPr>
            </a:lvl3pPr>
            <a:lvl4pPr>
              <a:defRPr sz="1125" b="0">
                <a:solidFill>
                  <a:srgbClr val="526977"/>
                </a:solidFill>
                <a:latin typeface="Arial"/>
                <a:ea typeface="Arial"/>
                <a:cs typeface="Arial"/>
              </a:defRPr>
            </a:lvl4pPr>
            <a:lvl5pPr>
              <a:defRPr sz="1125" b="0">
                <a:solidFill>
                  <a:srgbClr val="526977"/>
                </a:solidFill>
                <a:latin typeface="Arial"/>
                <a:ea typeface="Arial"/>
                <a:cs typeface="Arial"/>
              </a:defRPr>
            </a:lvl5pPr>
            <a:lvl6pPr>
              <a:defRPr sz="1125" b="0">
                <a:solidFill>
                  <a:srgbClr val="526977"/>
                </a:solidFill>
                <a:latin typeface="Arial"/>
                <a:ea typeface="Arial"/>
                <a:cs typeface="Arial"/>
              </a:defRPr>
            </a:lvl6pPr>
            <a:lvl7pPr>
              <a:defRPr sz="1125" b="0">
                <a:solidFill>
                  <a:srgbClr val="526977"/>
                </a:solidFill>
                <a:latin typeface="Arial"/>
                <a:ea typeface="Arial"/>
                <a:cs typeface="Arial"/>
              </a:defRPr>
            </a:lvl7pPr>
            <a:lvl8pPr>
              <a:defRPr sz="1125" b="0">
                <a:solidFill>
                  <a:srgbClr val="526977"/>
                </a:solidFill>
                <a:latin typeface="Arial"/>
                <a:ea typeface="Arial"/>
                <a:cs typeface="Arial"/>
              </a:defRPr>
            </a:lvl8pPr>
            <a:lvl9pPr>
              <a:defRPr sz="1125" b="0">
                <a:solidFill>
                  <a:srgbClr val="526977"/>
                </a:solidFill>
                <a:latin typeface="Arial"/>
                <a:ea typeface="Arial"/>
                <a:cs typeface="Arial"/>
              </a:defRPr>
            </a:lvl9pPr>
          </a:lstStyle>
          <a:p xmlns:a="http://schemas.openxmlformats.org/drawingml/2006/main">
            <a:pPr>
              <a:defRPr sz="1125" b="0">
                <a:solidFill>
                  <a:srgbClr val="526977"/>
                </a:solidFill>
                <a:latin typeface="Arial"/>
                <a:ea typeface="Arial"/>
                <a:cs typeface="Arial"/>
              </a:defRPr>
            </a:pPr>
            <a:r>
              <a:rPr sz="1125" b="0">
                <a:solidFill>
                  <a:srgbClr val="526977"/>
                </a:solidFill>
                <a:latin typeface="Arial"/>
                <a:ea typeface="Arial"/>
                <a:cs typeface="Arial"/>
              </a:rPr>
              <a:t>12</a:t>
            </a:r>
          </a:p>
        </p:txBody>
      </p:sp>
      <p:graphicFrame>
        <p:nvGraphicFramePr>
          <p:cNvPr id="4" name="Chart">
            <a:extLst xmlns:a="http://schemas.openxmlformats.org/drawingml/2006/main">
              <a:ext uri="{FF2B5EF4-FFF2-40B4-BE49-F238E27FC236}">
                <a16:creationId xmlns:a16="http://schemas.microsoft.com/office/drawing/2014/main" id="{A6CBC1C4-DC50-4D45-937D-2B3C33B3C103}"/>
              </a:ext>
            </a:extLst>
          </p:cNvPr>
          <p:cNvGraphicFramePr/>
          <p:nvPr/>
        </p:nvGraphicFramePr>
        <p:xfrm>
          <a:off xmlns:a="http://schemas.openxmlformats.org/drawingml/2006/main" x="609600" y="1952625"/>
          <a:ext xmlns:a="http://schemas.openxmlformats.org/drawingml/2006/main" cx="10972800" cy="3476625"/>
        </p:xfrm>
        <a:graphic xmlns:a="http://schemas.openxmlformats.org/drawingml/2006/main">
          <a:graphicData uri="http://schemas.openxmlformats.org/drawingml/2006/chart">
            <c:chart xmlns:r="http://schemas.openxmlformats.org/officeDocument/2006/relationships" xmlns:c="http://schemas.openxmlformats.org/drawingml/2006/chart" r:id="Rfe98f4bbcf6d49b1"/>
          </a:graphicData>
        </a:graphic>
      </p:graphicFrame>
      <p:sp>
        <p:nvSpPr>
          <p:cNvPr id="5" name="">
            <a:extLst xmlns:a="http://schemas.openxmlformats.org/drawingml/2006/main">
              <a:ext uri="{FF2B5EF4-FFF2-40B4-BE49-F238E27FC236}">
                <a16:creationId xmlns:a16="http://schemas.microsoft.com/office/drawing/2014/main" id="{DC1B9B91-311B-4DC0-AC38-1D25DD30C25D}"/>
              </a:ext>
            </a:extLst>
          </p:cNvPr>
          <p:cNvSpPr>
            <a:spLocks xmlns:a="http://schemas.openxmlformats.org/drawingml/2006/main" noGrp="1"/>
          </p:cNvSpPr>
          <p:nvPr/>
        </p:nvSpPr>
        <p:spPr>
          <a:xfrm xmlns:a="http://schemas.openxmlformats.org/drawingml/2006/main">
            <a:off x="609600" y="565785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977"/>
                </a:solidFill>
                <a:latin typeface="Arial"/>
                <a:ea typeface="Arial"/>
                <a:cs typeface="Arial"/>
              </a:defRPr>
            </a:defPPr>
            <a:lvl1pPr>
              <a:defRPr sz="1725" b="0">
                <a:solidFill>
                  <a:srgbClr val="526977"/>
                </a:solidFill>
                <a:latin typeface="Arial"/>
                <a:ea typeface="Arial"/>
                <a:cs typeface="Arial"/>
              </a:defRPr>
            </a:lvl1pPr>
            <a:lvl2pPr>
              <a:defRPr sz="1725" b="0">
                <a:solidFill>
                  <a:srgbClr val="526977"/>
                </a:solidFill>
                <a:latin typeface="Arial"/>
                <a:ea typeface="Arial"/>
                <a:cs typeface="Arial"/>
              </a:defRPr>
            </a:lvl2pPr>
            <a:lvl3pPr>
              <a:defRPr sz="1725" b="0">
                <a:solidFill>
                  <a:srgbClr val="526977"/>
                </a:solidFill>
                <a:latin typeface="Arial"/>
                <a:ea typeface="Arial"/>
                <a:cs typeface="Arial"/>
              </a:defRPr>
            </a:lvl3pPr>
            <a:lvl4pPr>
              <a:defRPr sz="1725" b="0">
                <a:solidFill>
                  <a:srgbClr val="526977"/>
                </a:solidFill>
                <a:latin typeface="Arial"/>
                <a:ea typeface="Arial"/>
                <a:cs typeface="Arial"/>
              </a:defRPr>
            </a:lvl4pPr>
            <a:lvl5pPr>
              <a:defRPr sz="1725" b="0">
                <a:solidFill>
                  <a:srgbClr val="526977"/>
                </a:solidFill>
                <a:latin typeface="Arial"/>
                <a:ea typeface="Arial"/>
                <a:cs typeface="Arial"/>
              </a:defRPr>
            </a:lvl5pPr>
            <a:lvl6pPr>
              <a:defRPr sz="1725" b="0">
                <a:solidFill>
                  <a:srgbClr val="526977"/>
                </a:solidFill>
                <a:latin typeface="Arial"/>
                <a:ea typeface="Arial"/>
                <a:cs typeface="Arial"/>
              </a:defRPr>
            </a:lvl6pPr>
            <a:lvl7pPr>
              <a:defRPr sz="1725" b="0">
                <a:solidFill>
                  <a:srgbClr val="526977"/>
                </a:solidFill>
                <a:latin typeface="Arial"/>
                <a:ea typeface="Arial"/>
                <a:cs typeface="Arial"/>
              </a:defRPr>
            </a:lvl7pPr>
            <a:lvl8pPr>
              <a:defRPr sz="1725" b="0">
                <a:solidFill>
                  <a:srgbClr val="526977"/>
                </a:solidFill>
                <a:latin typeface="Arial"/>
                <a:ea typeface="Arial"/>
                <a:cs typeface="Arial"/>
              </a:defRPr>
            </a:lvl8pPr>
            <a:lvl9pPr>
              <a:defRPr sz="1725" b="0">
                <a:solidFill>
                  <a:srgbClr val="526977"/>
                </a:solidFill>
                <a:latin typeface="Arial"/>
                <a:ea typeface="Arial"/>
                <a:cs typeface="Arial"/>
              </a:defRPr>
            </a:lvl9pPr>
          </a:lstStyle>
          <a:p xmlns:a="http://schemas.openxmlformats.org/drawingml/2006/main">
            <a:pPr>
              <a:defRPr sz="1725" b="0">
                <a:solidFill>
                  <a:srgbClr val="526977"/>
                </a:solidFill>
                <a:latin typeface="Arial"/>
                <a:ea typeface="Arial"/>
                <a:cs typeface="Arial"/>
              </a:defRPr>
            </a:pPr>
            <a:r>
              <a:rPr sz="1725" b="0">
                <a:solidFill>
                  <a:srgbClr val="526977"/>
                </a:solidFill>
                <a:latin typeface="Arial"/>
                <a:ea typeface="Arial"/>
                <a:cs typeface="Arial"/>
              </a:rPr>
              <a:t>Bear upside 6.7% / base 34.6% / bull 68.6%. Deterministic analyst stresses, not price probabilities.</a:t>
            </a:r>
          </a:p>
        </p:txBody>
      </p:sp>
    </p:spTree>
    <p:extLst>
      <p:ext uri="{BB962C8B-B14F-4D97-AF65-F5344CB8AC3E}">
        <p14:creationId xmlns:p14="http://schemas.microsoft.com/office/powerpoint/2010/main" val="1222496332"/>
      </p:ext>
    </p:extLst>
  </p:cSld>
</p:sld>
</file>

<file path=ppt/slides/slide13.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9BBC441-CA0A-4564-AB24-995200381D94}"/>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C303B"/>
                </a:solidFill>
                <a:latin typeface="Arial"/>
                <a:ea typeface="Arial"/>
                <a:cs typeface="Arial"/>
              </a:defRPr>
            </a:defPPr>
            <a:lvl1pPr>
              <a:defRPr sz="3225" b="1">
                <a:solidFill>
                  <a:srgbClr val="1C303B"/>
                </a:solidFill>
                <a:latin typeface="Arial"/>
                <a:ea typeface="Arial"/>
                <a:cs typeface="Arial"/>
              </a:defRPr>
            </a:lvl1pPr>
            <a:lvl2pPr>
              <a:defRPr sz="3225" b="1">
                <a:solidFill>
                  <a:srgbClr val="1C303B"/>
                </a:solidFill>
                <a:latin typeface="Arial"/>
                <a:ea typeface="Arial"/>
                <a:cs typeface="Arial"/>
              </a:defRPr>
            </a:lvl2pPr>
            <a:lvl3pPr>
              <a:defRPr sz="3225" b="1">
                <a:solidFill>
                  <a:srgbClr val="1C303B"/>
                </a:solidFill>
                <a:latin typeface="Arial"/>
                <a:ea typeface="Arial"/>
                <a:cs typeface="Arial"/>
              </a:defRPr>
            </a:lvl3pPr>
            <a:lvl4pPr>
              <a:defRPr sz="3225" b="1">
                <a:solidFill>
                  <a:srgbClr val="1C303B"/>
                </a:solidFill>
                <a:latin typeface="Arial"/>
                <a:ea typeface="Arial"/>
                <a:cs typeface="Arial"/>
              </a:defRPr>
            </a:lvl4pPr>
            <a:lvl5pPr>
              <a:defRPr sz="3225" b="1">
                <a:solidFill>
                  <a:srgbClr val="1C303B"/>
                </a:solidFill>
                <a:latin typeface="Arial"/>
                <a:ea typeface="Arial"/>
                <a:cs typeface="Arial"/>
              </a:defRPr>
            </a:lvl5pPr>
            <a:lvl6pPr>
              <a:defRPr sz="3225" b="1">
                <a:solidFill>
                  <a:srgbClr val="1C303B"/>
                </a:solidFill>
                <a:latin typeface="Arial"/>
                <a:ea typeface="Arial"/>
                <a:cs typeface="Arial"/>
              </a:defRPr>
            </a:lvl6pPr>
            <a:lvl7pPr>
              <a:defRPr sz="3225" b="1">
                <a:solidFill>
                  <a:srgbClr val="1C303B"/>
                </a:solidFill>
                <a:latin typeface="Arial"/>
                <a:ea typeface="Arial"/>
                <a:cs typeface="Arial"/>
              </a:defRPr>
            </a:lvl7pPr>
            <a:lvl8pPr>
              <a:defRPr sz="3225" b="1">
                <a:solidFill>
                  <a:srgbClr val="1C303B"/>
                </a:solidFill>
                <a:latin typeface="Arial"/>
                <a:ea typeface="Arial"/>
                <a:cs typeface="Arial"/>
              </a:defRPr>
            </a:lvl8pPr>
            <a:lvl9pPr>
              <a:defRPr sz="3225" b="1">
                <a:solidFill>
                  <a:srgbClr val="1C303B"/>
                </a:solidFill>
                <a:latin typeface="Arial"/>
                <a:ea typeface="Arial"/>
                <a:cs typeface="Arial"/>
              </a:defRPr>
            </a:lvl9pPr>
          </a:lstStyle>
          <a:p xmlns:a="http://schemas.openxmlformats.org/drawingml/2006/main">
            <a:pPr>
              <a:defRPr sz="3225" b="1">
                <a:solidFill>
                  <a:srgbClr val="1C303B"/>
                </a:solidFill>
                <a:latin typeface="Arial"/>
                <a:ea typeface="Arial"/>
                <a:cs typeface="Arial"/>
              </a:defRPr>
            </a:pPr>
            <a:r>
              <a:rPr sz="3225" b="1">
                <a:solidFill>
                  <a:srgbClr val="1C303B"/>
                </a:solidFill>
                <a:latin typeface="Arial"/>
                <a:ea typeface="Arial"/>
                <a:cs typeface="Arial"/>
              </a:rPr>
              <a:t>Sensitivity and simulation</a:t>
            </a:r>
          </a:p>
        </p:txBody>
      </p:sp>
      <p:sp>
        <p:nvSpPr>
          <p:cNvPr id="2" name="">
            <a:extLst xmlns:a="http://schemas.openxmlformats.org/drawingml/2006/main">
              <a:ext uri="{FF2B5EF4-FFF2-40B4-BE49-F238E27FC236}">
                <a16:creationId xmlns:a16="http://schemas.microsoft.com/office/drawing/2014/main" id="{9E555598-541E-4142-BDA4-837232028942}"/>
              </a:ext>
            </a:extLst>
          </p:cNvPr>
          <p:cNvSpPr>
            <a:spLocks xmlns:a="http://schemas.openxmlformats.org/drawingml/2006/main" noGrp="1"/>
          </p:cNvSpPr>
          <p:nvPr/>
        </p:nvSpPr>
        <p:spPr>
          <a:xfrm xmlns:a="http://schemas.openxmlformats.org/drawingml/2006/main">
            <a:off x="609600" y="6324600"/>
            <a:ext cx="933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977"/>
                </a:solidFill>
                <a:latin typeface="Arial"/>
                <a:ea typeface="Arial"/>
                <a:cs typeface="Arial"/>
              </a:defRPr>
            </a:defPPr>
            <a:lvl1pPr>
              <a:defRPr sz="1125" b="0">
                <a:solidFill>
                  <a:srgbClr val="526977"/>
                </a:solidFill>
                <a:latin typeface="Arial"/>
                <a:ea typeface="Arial"/>
                <a:cs typeface="Arial"/>
              </a:defRPr>
            </a:lvl1pPr>
            <a:lvl2pPr>
              <a:defRPr sz="1125" b="0">
                <a:solidFill>
                  <a:srgbClr val="526977"/>
                </a:solidFill>
                <a:latin typeface="Arial"/>
                <a:ea typeface="Arial"/>
                <a:cs typeface="Arial"/>
              </a:defRPr>
            </a:lvl2pPr>
            <a:lvl3pPr>
              <a:defRPr sz="1125" b="0">
                <a:solidFill>
                  <a:srgbClr val="526977"/>
                </a:solidFill>
                <a:latin typeface="Arial"/>
                <a:ea typeface="Arial"/>
                <a:cs typeface="Arial"/>
              </a:defRPr>
            </a:lvl3pPr>
            <a:lvl4pPr>
              <a:defRPr sz="1125" b="0">
                <a:solidFill>
                  <a:srgbClr val="526977"/>
                </a:solidFill>
                <a:latin typeface="Arial"/>
                <a:ea typeface="Arial"/>
                <a:cs typeface="Arial"/>
              </a:defRPr>
            </a:lvl4pPr>
            <a:lvl5pPr>
              <a:defRPr sz="1125" b="0">
                <a:solidFill>
                  <a:srgbClr val="526977"/>
                </a:solidFill>
                <a:latin typeface="Arial"/>
                <a:ea typeface="Arial"/>
                <a:cs typeface="Arial"/>
              </a:defRPr>
            </a:lvl5pPr>
            <a:lvl6pPr>
              <a:defRPr sz="1125" b="0">
                <a:solidFill>
                  <a:srgbClr val="526977"/>
                </a:solidFill>
                <a:latin typeface="Arial"/>
                <a:ea typeface="Arial"/>
                <a:cs typeface="Arial"/>
              </a:defRPr>
            </a:lvl6pPr>
            <a:lvl7pPr>
              <a:defRPr sz="1125" b="0">
                <a:solidFill>
                  <a:srgbClr val="526977"/>
                </a:solidFill>
                <a:latin typeface="Arial"/>
                <a:ea typeface="Arial"/>
                <a:cs typeface="Arial"/>
              </a:defRPr>
            </a:lvl7pPr>
            <a:lvl8pPr>
              <a:defRPr sz="1125" b="0">
                <a:solidFill>
                  <a:srgbClr val="526977"/>
                </a:solidFill>
                <a:latin typeface="Arial"/>
                <a:ea typeface="Arial"/>
                <a:cs typeface="Arial"/>
              </a:defRPr>
            </a:lvl8pPr>
            <a:lvl9pPr>
              <a:defRPr sz="1125" b="0">
                <a:solidFill>
                  <a:srgbClr val="526977"/>
                </a:solidFill>
                <a:latin typeface="Arial"/>
                <a:ea typeface="Arial"/>
                <a:cs typeface="Arial"/>
              </a:defRPr>
            </a:lvl9pPr>
          </a:lstStyle>
          <a:p xmlns:a="http://schemas.openxmlformats.org/drawingml/2006/main">
            <a:pPr>
              <a:defRPr sz="1125" b="0">
                <a:solidFill>
                  <a:srgbClr val="526977"/>
                </a:solidFill>
                <a:latin typeface="Arial"/>
                <a:ea typeface="Arial"/>
                <a:cs typeface="Arial"/>
              </a:defRPr>
            </a:pPr>
            <a:r>
              <a:rPr sz="1125" b="0">
                <a:solidFill>
                  <a:srgbClr val="526977"/>
                </a:solidFill>
                <a:latin typeface="Arial"/>
                <a:ea typeface="Arial"/>
                <a:cs typeface="Arial"/>
              </a:rPr>
              <a:t>RALVEN 5.0 / BMRI / 25 Oct 2026</a:t>
            </a:r>
          </a:p>
        </p:txBody>
      </p:sp>
      <p:sp>
        <p:nvSpPr>
          <p:cNvPr id="3" name="">
            <a:extLst xmlns:a="http://schemas.openxmlformats.org/drawingml/2006/main">
              <a:ext uri="{FF2B5EF4-FFF2-40B4-BE49-F238E27FC236}">
                <a16:creationId xmlns:a16="http://schemas.microsoft.com/office/drawing/2014/main" id="{1C7BDC31-7FD7-4D19-9303-24F3460A0458}"/>
              </a:ext>
            </a:extLst>
          </p:cNvPr>
          <p:cNvSpPr>
            <a:spLocks xmlns:a="http://schemas.openxmlformats.org/drawingml/2006/main" noGrp="1"/>
          </p:cNvSpPr>
          <p:nvPr/>
        </p:nvSpPr>
        <p:spPr>
          <a:xfrm xmlns:a="http://schemas.openxmlformats.org/drawingml/2006/main">
            <a:off x="11001375" y="63246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977"/>
                </a:solidFill>
                <a:latin typeface="Arial"/>
                <a:ea typeface="Arial"/>
                <a:cs typeface="Arial"/>
              </a:defRPr>
            </a:defPPr>
            <a:lvl1pPr>
              <a:defRPr sz="1125" b="0">
                <a:solidFill>
                  <a:srgbClr val="526977"/>
                </a:solidFill>
                <a:latin typeface="Arial"/>
                <a:ea typeface="Arial"/>
                <a:cs typeface="Arial"/>
              </a:defRPr>
            </a:lvl1pPr>
            <a:lvl2pPr>
              <a:defRPr sz="1125" b="0">
                <a:solidFill>
                  <a:srgbClr val="526977"/>
                </a:solidFill>
                <a:latin typeface="Arial"/>
                <a:ea typeface="Arial"/>
                <a:cs typeface="Arial"/>
              </a:defRPr>
            </a:lvl2pPr>
            <a:lvl3pPr>
              <a:defRPr sz="1125" b="0">
                <a:solidFill>
                  <a:srgbClr val="526977"/>
                </a:solidFill>
                <a:latin typeface="Arial"/>
                <a:ea typeface="Arial"/>
                <a:cs typeface="Arial"/>
              </a:defRPr>
            </a:lvl3pPr>
            <a:lvl4pPr>
              <a:defRPr sz="1125" b="0">
                <a:solidFill>
                  <a:srgbClr val="526977"/>
                </a:solidFill>
                <a:latin typeface="Arial"/>
                <a:ea typeface="Arial"/>
                <a:cs typeface="Arial"/>
              </a:defRPr>
            </a:lvl4pPr>
            <a:lvl5pPr>
              <a:defRPr sz="1125" b="0">
                <a:solidFill>
                  <a:srgbClr val="526977"/>
                </a:solidFill>
                <a:latin typeface="Arial"/>
                <a:ea typeface="Arial"/>
                <a:cs typeface="Arial"/>
              </a:defRPr>
            </a:lvl5pPr>
            <a:lvl6pPr>
              <a:defRPr sz="1125" b="0">
                <a:solidFill>
                  <a:srgbClr val="526977"/>
                </a:solidFill>
                <a:latin typeface="Arial"/>
                <a:ea typeface="Arial"/>
                <a:cs typeface="Arial"/>
              </a:defRPr>
            </a:lvl6pPr>
            <a:lvl7pPr>
              <a:defRPr sz="1125" b="0">
                <a:solidFill>
                  <a:srgbClr val="526977"/>
                </a:solidFill>
                <a:latin typeface="Arial"/>
                <a:ea typeface="Arial"/>
                <a:cs typeface="Arial"/>
              </a:defRPr>
            </a:lvl7pPr>
            <a:lvl8pPr>
              <a:defRPr sz="1125" b="0">
                <a:solidFill>
                  <a:srgbClr val="526977"/>
                </a:solidFill>
                <a:latin typeface="Arial"/>
                <a:ea typeface="Arial"/>
                <a:cs typeface="Arial"/>
              </a:defRPr>
            </a:lvl8pPr>
            <a:lvl9pPr>
              <a:defRPr sz="1125" b="0">
                <a:solidFill>
                  <a:srgbClr val="526977"/>
                </a:solidFill>
                <a:latin typeface="Arial"/>
                <a:ea typeface="Arial"/>
                <a:cs typeface="Arial"/>
              </a:defRPr>
            </a:lvl9pPr>
          </a:lstStyle>
          <a:p xmlns:a="http://schemas.openxmlformats.org/drawingml/2006/main">
            <a:pPr>
              <a:defRPr sz="1125" b="0">
                <a:solidFill>
                  <a:srgbClr val="526977"/>
                </a:solidFill>
                <a:latin typeface="Arial"/>
                <a:ea typeface="Arial"/>
                <a:cs typeface="Arial"/>
              </a:defRPr>
            </a:pPr>
            <a:r>
              <a:rPr sz="1125" b="0">
                <a:solidFill>
                  <a:srgbClr val="526977"/>
                </a:solidFill>
                <a:latin typeface="Arial"/>
                <a:ea typeface="Arial"/>
                <a:cs typeface="Arial"/>
              </a:rPr>
              <a:t>13</a:t>
            </a:r>
          </a:p>
        </p:txBody>
      </p:sp>
      <p:graphicFrame>
        <p:nvGraphicFramePr>
          <p:cNvPr id="4" name="">
            <a:extLst xmlns:a="http://schemas.openxmlformats.org/drawingml/2006/main">
              <a:ext uri="{FF2B5EF4-FFF2-40B4-BE49-F238E27FC236}">
                <a16:creationId xmlns:a16="http://schemas.microsoft.com/office/drawing/2014/main" id="{E706CE1F-8D80-4ABB-9C0C-BFD61AFB12D7}"/>
              </a:ext>
            </a:extLst>
          </p:cNvPr>
          <p:cNvGraphicFramePr/>
          <p:nvPr/>
        </p:nvGraphicFramePr>
        <p:xfrm>
          <a:off xmlns:a="http://schemas.openxmlformats.org/drawingml/2006/main" x="609600" y="1952625"/>
          <a:ext xmlns:a="http://schemas.openxmlformats.org/drawingml/2006/main" cx="10972800" cy="2952750"/>
        </p:xfrm>
        <a:graphic xmlns:a="http://schemas.openxmlformats.org/drawingml/2006/main">
          <a:graphicData uri="http://schemas.openxmlformats.org/drawingml/2006/table">
            <a:tbl>
              <a:tblPr/>
              <a:tblGrid>
                <a:gridCol w="1828800"/>
                <a:gridCol w="1828800"/>
                <a:gridCol w="1828800"/>
                <a:gridCol w="1828800"/>
                <a:gridCol w="1828800"/>
                <a:gridCol w="1828800"/>
              </a:tblGrid>
              <a:tr h="492125">
                <a:tc>
                  <a:txBody>
                    <a:bodyPr/>
                    <a:lstStyle/>
                    <a:p>
                      <a:r>
                        <a:rPr sz="1575" b="1">
                          <a:solidFill>
                            <a:srgbClr val="FFFFFF"/>
                          </a:solidFill>
                          <a:latin typeface="Arial"/>
                          <a:ea typeface="Arial"/>
                          <a:cs typeface="Arial"/>
                        </a:rPr>
                        <a:t>Ke / g</a:t>
                      </a:r>
                    </a:p>
                  </a:txBody>
                  <a:tcPr marL="91440" marR="91440" marT="45720" marB="45720">
                    <a:lnL w="9525">
                      <a:solidFill>
                        <a:srgbClr val="DEE7E9"/>
                      </a:solidFill>
                      <a:prstDash val="solid"/>
                    </a:lnL>
                    <a:lnR w="9525">
                      <a:solidFill>
                        <a:srgbClr val="DEE7E9"/>
                      </a:solidFill>
                      <a:prstDash val="solid"/>
                    </a:lnR>
                    <a:lnT w="9525">
                      <a:solidFill>
                        <a:srgbClr val="DEE7E9"/>
                      </a:solidFill>
                      <a:prstDash val="solid"/>
                    </a:lnT>
                    <a:lnB w="9525">
                      <a:solidFill>
                        <a:srgbClr val="DEE7E9"/>
                      </a:solidFill>
                      <a:prstDash val="solid"/>
                    </a:lnB>
                    <a:solidFill>
                      <a:srgbClr val="1C303B"/>
                    </a:solidFill>
                  </a:tcPr>
                </a:tc>
                <a:tc>
                  <a:txBody>
                    <a:bodyPr/>
                    <a:lstStyle/>
                    <a:p>
                      <a:r>
                        <a:rPr sz="1575" b="1">
                          <a:solidFill>
                            <a:srgbClr val="FFFFFF"/>
                          </a:solidFill>
                          <a:latin typeface="Arial"/>
                          <a:ea typeface="Arial"/>
                          <a:cs typeface="Arial"/>
                        </a:rPr>
                        <a:t>2.5%</a:t>
                      </a:r>
                    </a:p>
                  </a:txBody>
                  <a:tcPr marL="91440" marR="91440" marT="45720" marB="45720">
                    <a:lnR w="9525">
                      <a:solidFill>
                        <a:srgbClr val="DEE7E9"/>
                      </a:solidFill>
                      <a:prstDash val="solid"/>
                    </a:lnR>
                    <a:lnT w="9525">
                      <a:solidFill>
                        <a:srgbClr val="DEE7E9"/>
                      </a:solidFill>
                      <a:prstDash val="solid"/>
                    </a:lnT>
                    <a:lnB w="9525">
                      <a:solidFill>
                        <a:srgbClr val="DEE7E9"/>
                      </a:solidFill>
                      <a:prstDash val="solid"/>
                    </a:lnB>
                    <a:solidFill>
                      <a:srgbClr val="1C303B"/>
                    </a:solidFill>
                  </a:tcPr>
                </a:tc>
                <a:tc>
                  <a:txBody>
                    <a:bodyPr/>
                    <a:lstStyle/>
                    <a:p>
                      <a:r>
                        <a:rPr sz="1575" b="1">
                          <a:solidFill>
                            <a:srgbClr val="FFFFFF"/>
                          </a:solidFill>
                          <a:latin typeface="Arial"/>
                          <a:ea typeface="Arial"/>
                          <a:cs typeface="Arial"/>
                        </a:rPr>
                        <a:t>3%</a:t>
                      </a:r>
                    </a:p>
                  </a:txBody>
                  <a:tcPr marL="91440" marR="91440" marT="45720" marB="45720">
                    <a:lnR w="9525">
                      <a:solidFill>
                        <a:srgbClr val="DEE7E9"/>
                      </a:solidFill>
                      <a:prstDash val="solid"/>
                    </a:lnR>
                    <a:lnT w="9525">
                      <a:solidFill>
                        <a:srgbClr val="DEE7E9"/>
                      </a:solidFill>
                      <a:prstDash val="solid"/>
                    </a:lnT>
                    <a:lnB w="9525">
                      <a:solidFill>
                        <a:srgbClr val="DEE7E9"/>
                      </a:solidFill>
                      <a:prstDash val="solid"/>
                    </a:lnB>
                    <a:solidFill>
                      <a:srgbClr val="1C303B"/>
                    </a:solidFill>
                  </a:tcPr>
                </a:tc>
                <a:tc>
                  <a:txBody>
                    <a:bodyPr/>
                    <a:lstStyle/>
                    <a:p>
                      <a:r>
                        <a:rPr sz="1575" b="1">
                          <a:solidFill>
                            <a:srgbClr val="FFFFFF"/>
                          </a:solidFill>
                          <a:latin typeface="Arial"/>
                          <a:ea typeface="Arial"/>
                          <a:cs typeface="Arial"/>
                        </a:rPr>
                        <a:t>3.5%</a:t>
                      </a:r>
                    </a:p>
                  </a:txBody>
                  <a:tcPr marL="91440" marR="91440" marT="45720" marB="45720">
                    <a:lnR w="9525">
                      <a:solidFill>
                        <a:srgbClr val="DEE7E9"/>
                      </a:solidFill>
                      <a:prstDash val="solid"/>
                    </a:lnR>
                    <a:lnT w="9525">
                      <a:solidFill>
                        <a:srgbClr val="DEE7E9"/>
                      </a:solidFill>
                      <a:prstDash val="solid"/>
                    </a:lnT>
                    <a:lnB w="9525">
                      <a:solidFill>
                        <a:srgbClr val="DEE7E9"/>
                      </a:solidFill>
                      <a:prstDash val="solid"/>
                    </a:lnB>
                    <a:solidFill>
                      <a:srgbClr val="1C303B"/>
                    </a:solidFill>
                  </a:tcPr>
                </a:tc>
                <a:tc>
                  <a:txBody>
                    <a:bodyPr/>
                    <a:lstStyle/>
                    <a:p>
                      <a:r>
                        <a:rPr sz="1575" b="1">
                          <a:solidFill>
                            <a:srgbClr val="FFFFFF"/>
                          </a:solidFill>
                          <a:latin typeface="Arial"/>
                          <a:ea typeface="Arial"/>
                          <a:cs typeface="Arial"/>
                        </a:rPr>
                        <a:t>4%</a:t>
                      </a:r>
                    </a:p>
                  </a:txBody>
                  <a:tcPr marL="91440" marR="91440" marT="45720" marB="45720">
                    <a:lnR w="9525">
                      <a:solidFill>
                        <a:srgbClr val="DEE7E9"/>
                      </a:solidFill>
                      <a:prstDash val="solid"/>
                    </a:lnR>
                    <a:lnT w="9525">
                      <a:solidFill>
                        <a:srgbClr val="DEE7E9"/>
                      </a:solidFill>
                      <a:prstDash val="solid"/>
                    </a:lnT>
                    <a:lnB w="9525">
                      <a:solidFill>
                        <a:srgbClr val="DEE7E9"/>
                      </a:solidFill>
                      <a:prstDash val="solid"/>
                    </a:lnB>
                    <a:solidFill>
                      <a:srgbClr val="1C303B"/>
                    </a:solidFill>
                  </a:tcPr>
                </a:tc>
                <a:tc>
                  <a:txBody>
                    <a:bodyPr/>
                    <a:lstStyle/>
                    <a:p>
                      <a:r>
                        <a:rPr sz="1575" b="1">
                          <a:solidFill>
                            <a:srgbClr val="FFFFFF"/>
                          </a:solidFill>
                          <a:latin typeface="Arial"/>
                          <a:ea typeface="Arial"/>
                          <a:cs typeface="Arial"/>
                        </a:rPr>
                        <a:t>4.5%</a:t>
                      </a:r>
                    </a:p>
                  </a:txBody>
                  <a:tcPr marL="91440" marR="91440" marT="45720" marB="45720">
                    <a:lnR w="9525">
                      <a:solidFill>
                        <a:srgbClr val="DEE7E9"/>
                      </a:solidFill>
                      <a:prstDash val="solid"/>
                    </a:lnR>
                    <a:lnT w="9525">
                      <a:solidFill>
                        <a:srgbClr val="DEE7E9"/>
                      </a:solidFill>
                      <a:prstDash val="solid"/>
                    </a:lnT>
                    <a:lnB w="9525">
                      <a:solidFill>
                        <a:srgbClr val="DEE7E9"/>
                      </a:solidFill>
                      <a:prstDash val="solid"/>
                    </a:lnB>
                    <a:solidFill>
                      <a:srgbClr val="1C303B"/>
                    </a:solidFill>
                  </a:tcPr>
                </a:tc>
              </a:tr>
              <a:tr h="492125">
                <a:tc>
                  <a:txBody>
                    <a:bodyPr/>
                    <a:lstStyle/>
                    <a:p>
                      <a:r>
                        <a:rPr sz="1575" b="0">
                          <a:solidFill>
                            <a:srgbClr val="1C303B"/>
                          </a:solidFill>
                          <a:latin typeface="Arial"/>
                          <a:ea typeface="Arial"/>
                          <a:cs typeface="Arial"/>
                        </a:rPr>
                        <a:t>11.4%</a:t>
                      </a:r>
                    </a:p>
                  </a:txBody>
                  <a:tcPr marL="91440" marR="91440" marT="45720" marB="45720">
                    <a:lnL w="9525">
                      <a:solidFill>
                        <a:srgbClr val="DEE7E9"/>
                      </a:solidFill>
                      <a:prstDash val="solid"/>
                    </a:lnL>
                    <a:lnR w="9525">
                      <a:solidFill>
                        <a:srgbClr val="DEE7E9"/>
                      </a:solidFill>
                      <a:prstDash val="solid"/>
                    </a:lnR>
                    <a:lnB w="9525">
                      <a:solidFill>
                        <a:srgbClr val="DEE7E9"/>
                      </a:solidFill>
                      <a:prstDash val="solid"/>
                    </a:lnB>
                    <a:solidFill>
                      <a:srgbClr val="EFF5F4"/>
                    </a:solidFill>
                  </a:tcPr>
                </a:tc>
                <a:tc>
                  <a:txBody>
                    <a:bodyPr/>
                    <a:lstStyle/>
                    <a:p>
                      <a:r>
                        <a:rPr sz="1575" b="0">
                          <a:solidFill>
                            <a:srgbClr val="1C303B"/>
                          </a:solidFill>
                          <a:latin typeface="Arial"/>
                          <a:ea typeface="Arial"/>
                          <a:cs typeface="Arial"/>
                        </a:rPr>
                        <a:t>5,545</a:t>
                      </a:r>
                    </a:p>
                  </a:txBody>
                  <a:tcPr marL="91440" marR="91440" marT="45720" marB="45720">
                    <a:lnR w="9525">
                      <a:solidFill>
                        <a:srgbClr val="DEE7E9"/>
                      </a:solidFill>
                      <a:prstDash val="solid"/>
                    </a:lnR>
                    <a:lnB w="9525">
                      <a:solidFill>
                        <a:srgbClr val="DEE7E9"/>
                      </a:solidFill>
                      <a:prstDash val="solid"/>
                    </a:lnB>
                    <a:solidFill>
                      <a:srgbClr val="EFF5F4"/>
                    </a:solidFill>
                  </a:tcPr>
                </a:tc>
                <a:tc>
                  <a:txBody>
                    <a:bodyPr/>
                    <a:lstStyle/>
                    <a:p>
                      <a:r>
                        <a:rPr sz="1575" b="0">
                          <a:solidFill>
                            <a:srgbClr val="1C303B"/>
                          </a:solidFill>
                          <a:latin typeface="Arial"/>
                          <a:ea typeface="Arial"/>
                          <a:cs typeface="Arial"/>
                        </a:rPr>
                        <a:t>5,611</a:t>
                      </a:r>
                    </a:p>
                  </a:txBody>
                  <a:tcPr marL="91440" marR="91440" marT="45720" marB="45720">
                    <a:lnR w="9525">
                      <a:solidFill>
                        <a:srgbClr val="DEE7E9"/>
                      </a:solidFill>
                      <a:prstDash val="solid"/>
                    </a:lnR>
                    <a:lnB w="9525">
                      <a:solidFill>
                        <a:srgbClr val="DEE7E9"/>
                      </a:solidFill>
                      <a:prstDash val="solid"/>
                    </a:lnB>
                    <a:solidFill>
                      <a:srgbClr val="EFF5F4"/>
                    </a:solidFill>
                  </a:tcPr>
                </a:tc>
                <a:tc>
                  <a:txBody>
                    <a:bodyPr/>
                    <a:lstStyle/>
                    <a:p>
                      <a:r>
                        <a:rPr sz="1575" b="0">
                          <a:solidFill>
                            <a:srgbClr val="1C303B"/>
                          </a:solidFill>
                          <a:latin typeface="Arial"/>
                          <a:ea typeface="Arial"/>
                          <a:cs typeface="Arial"/>
                        </a:rPr>
                        <a:t>5,684</a:t>
                      </a:r>
                    </a:p>
                  </a:txBody>
                  <a:tcPr marL="91440" marR="91440" marT="45720" marB="45720">
                    <a:lnR w="9525">
                      <a:solidFill>
                        <a:srgbClr val="DEE7E9"/>
                      </a:solidFill>
                      <a:prstDash val="solid"/>
                    </a:lnR>
                    <a:lnB w="9525">
                      <a:solidFill>
                        <a:srgbClr val="DEE7E9"/>
                      </a:solidFill>
                      <a:prstDash val="solid"/>
                    </a:lnB>
                    <a:solidFill>
                      <a:srgbClr val="EFF5F4"/>
                    </a:solidFill>
                  </a:tcPr>
                </a:tc>
                <a:tc>
                  <a:txBody>
                    <a:bodyPr/>
                    <a:lstStyle/>
                    <a:p>
                      <a:r>
                        <a:rPr sz="1575" b="0">
                          <a:solidFill>
                            <a:srgbClr val="1C303B"/>
                          </a:solidFill>
                          <a:latin typeface="Arial"/>
                          <a:ea typeface="Arial"/>
                          <a:cs typeface="Arial"/>
                        </a:rPr>
                        <a:t>5,766</a:t>
                      </a:r>
                    </a:p>
                  </a:txBody>
                  <a:tcPr marL="91440" marR="91440" marT="45720" marB="45720">
                    <a:lnR w="9525">
                      <a:solidFill>
                        <a:srgbClr val="DEE7E9"/>
                      </a:solidFill>
                      <a:prstDash val="solid"/>
                    </a:lnR>
                    <a:lnB w="9525">
                      <a:solidFill>
                        <a:srgbClr val="DEE7E9"/>
                      </a:solidFill>
                      <a:prstDash val="solid"/>
                    </a:lnB>
                    <a:solidFill>
                      <a:srgbClr val="EFF5F4"/>
                    </a:solidFill>
                  </a:tcPr>
                </a:tc>
                <a:tc>
                  <a:txBody>
                    <a:bodyPr/>
                    <a:lstStyle/>
                    <a:p>
                      <a:r>
                        <a:rPr sz="1575" b="0">
                          <a:solidFill>
                            <a:srgbClr val="1C303B"/>
                          </a:solidFill>
                          <a:latin typeface="Arial"/>
                          <a:ea typeface="Arial"/>
                          <a:cs typeface="Arial"/>
                        </a:rPr>
                        <a:t>5,859</a:t>
                      </a:r>
                    </a:p>
                  </a:txBody>
                  <a:tcPr marL="91440" marR="91440" marT="45720" marB="45720">
                    <a:lnR w="9525">
                      <a:solidFill>
                        <a:srgbClr val="DEE7E9"/>
                      </a:solidFill>
                      <a:prstDash val="solid"/>
                    </a:lnR>
                    <a:lnB w="9525">
                      <a:solidFill>
                        <a:srgbClr val="DEE7E9"/>
                      </a:solidFill>
                      <a:prstDash val="solid"/>
                    </a:lnB>
                    <a:solidFill>
                      <a:srgbClr val="EFF5F4"/>
                    </a:solidFill>
                  </a:tcPr>
                </a:tc>
              </a:tr>
              <a:tr h="492125">
                <a:tc>
                  <a:txBody>
                    <a:bodyPr/>
                    <a:lstStyle/>
                    <a:p>
                      <a:r>
                        <a:rPr sz="1575" b="0">
                          <a:solidFill>
                            <a:srgbClr val="1C303B"/>
                          </a:solidFill>
                          <a:latin typeface="Arial"/>
                          <a:ea typeface="Arial"/>
                          <a:cs typeface="Arial"/>
                        </a:rPr>
                        <a:t>11.9%</a:t>
                      </a:r>
                    </a:p>
                  </a:txBody>
                  <a:tcPr marL="91440" marR="91440" marT="45720" marB="45720">
                    <a:lnL w="9525">
                      <a:solidFill>
                        <a:srgbClr val="DEE7E9"/>
                      </a:solidFill>
                      <a:prstDash val="solid"/>
                    </a:lnL>
                    <a:lnR w="9525">
                      <a:solidFill>
                        <a:srgbClr val="DEE7E9"/>
                      </a:solidFill>
                      <a:prstDash val="solid"/>
                    </a:lnR>
                    <a:lnB w="9525">
                      <a:solidFill>
                        <a:srgbClr val="DEE7E9"/>
                      </a:solidFill>
                      <a:prstDash val="solid"/>
                    </a:lnB>
                    <a:solidFill>
                      <a:srgbClr val="FCFDFC"/>
                    </a:solidFill>
                  </a:tcPr>
                </a:tc>
                <a:tc>
                  <a:txBody>
                    <a:bodyPr/>
                    <a:lstStyle/>
                    <a:p>
                      <a:r>
                        <a:rPr sz="1575" b="0">
                          <a:solidFill>
                            <a:srgbClr val="1C303B"/>
                          </a:solidFill>
                          <a:latin typeface="Arial"/>
                          <a:ea typeface="Arial"/>
                          <a:cs typeface="Arial"/>
                        </a:rPr>
                        <a:t>5,341</a:t>
                      </a:r>
                    </a:p>
                  </a:txBody>
                  <a:tcPr marL="91440" marR="91440" marT="45720" marB="45720">
                    <a:lnR w="9525">
                      <a:solidFill>
                        <a:srgbClr val="DEE7E9"/>
                      </a:solidFill>
                      <a:prstDash val="solid"/>
                    </a:lnR>
                    <a:lnB w="9525">
                      <a:solidFill>
                        <a:srgbClr val="DEE7E9"/>
                      </a:solidFill>
                      <a:prstDash val="solid"/>
                    </a:lnB>
                    <a:solidFill>
                      <a:srgbClr val="FCFDFC"/>
                    </a:solidFill>
                  </a:tcPr>
                </a:tc>
                <a:tc>
                  <a:txBody>
                    <a:bodyPr/>
                    <a:lstStyle/>
                    <a:p>
                      <a:r>
                        <a:rPr sz="1575" b="0">
                          <a:solidFill>
                            <a:srgbClr val="1C303B"/>
                          </a:solidFill>
                          <a:latin typeface="Arial"/>
                          <a:ea typeface="Arial"/>
                          <a:cs typeface="Arial"/>
                        </a:rPr>
                        <a:t>5,394</a:t>
                      </a:r>
                    </a:p>
                  </a:txBody>
                  <a:tcPr marL="91440" marR="91440" marT="45720" marB="45720">
                    <a:lnR w="9525">
                      <a:solidFill>
                        <a:srgbClr val="DEE7E9"/>
                      </a:solidFill>
                      <a:prstDash val="solid"/>
                    </a:lnR>
                    <a:lnB w="9525">
                      <a:solidFill>
                        <a:srgbClr val="DEE7E9"/>
                      </a:solidFill>
                      <a:prstDash val="solid"/>
                    </a:lnB>
                    <a:solidFill>
                      <a:srgbClr val="FCFDFC"/>
                    </a:solidFill>
                  </a:tcPr>
                </a:tc>
                <a:tc>
                  <a:txBody>
                    <a:bodyPr/>
                    <a:lstStyle/>
                    <a:p>
                      <a:r>
                        <a:rPr sz="1575" b="0">
                          <a:solidFill>
                            <a:srgbClr val="1C303B"/>
                          </a:solidFill>
                          <a:latin typeface="Arial"/>
                          <a:ea typeface="Arial"/>
                          <a:cs typeface="Arial"/>
                        </a:rPr>
                        <a:t>5,453</a:t>
                      </a:r>
                    </a:p>
                  </a:txBody>
                  <a:tcPr marL="91440" marR="91440" marT="45720" marB="45720">
                    <a:lnR w="9525">
                      <a:solidFill>
                        <a:srgbClr val="DEE7E9"/>
                      </a:solidFill>
                      <a:prstDash val="solid"/>
                    </a:lnR>
                    <a:lnB w="9525">
                      <a:solidFill>
                        <a:srgbClr val="DEE7E9"/>
                      </a:solidFill>
                      <a:prstDash val="solid"/>
                    </a:lnB>
                    <a:solidFill>
                      <a:srgbClr val="FCFDFC"/>
                    </a:solidFill>
                  </a:tcPr>
                </a:tc>
                <a:tc>
                  <a:txBody>
                    <a:bodyPr/>
                    <a:lstStyle/>
                    <a:p>
                      <a:r>
                        <a:rPr sz="1575" b="0">
                          <a:solidFill>
                            <a:srgbClr val="1C303B"/>
                          </a:solidFill>
                          <a:latin typeface="Arial"/>
                          <a:ea typeface="Arial"/>
                          <a:cs typeface="Arial"/>
                        </a:rPr>
                        <a:t>5,518</a:t>
                      </a:r>
                    </a:p>
                  </a:txBody>
                  <a:tcPr marL="91440" marR="91440" marT="45720" marB="45720">
                    <a:lnR w="9525">
                      <a:solidFill>
                        <a:srgbClr val="DEE7E9"/>
                      </a:solidFill>
                      <a:prstDash val="solid"/>
                    </a:lnR>
                    <a:lnB w="9525">
                      <a:solidFill>
                        <a:srgbClr val="DEE7E9"/>
                      </a:solidFill>
                      <a:prstDash val="solid"/>
                    </a:lnB>
                    <a:solidFill>
                      <a:srgbClr val="FCFDFC"/>
                    </a:solidFill>
                  </a:tcPr>
                </a:tc>
                <a:tc>
                  <a:txBody>
                    <a:bodyPr/>
                    <a:lstStyle/>
                    <a:p>
                      <a:r>
                        <a:rPr sz="1575" b="0">
                          <a:solidFill>
                            <a:srgbClr val="1C303B"/>
                          </a:solidFill>
                          <a:latin typeface="Arial"/>
                          <a:ea typeface="Arial"/>
                          <a:cs typeface="Arial"/>
                        </a:rPr>
                        <a:t>5,591</a:t>
                      </a:r>
                    </a:p>
                  </a:txBody>
                  <a:tcPr marL="91440" marR="91440" marT="45720" marB="45720">
                    <a:lnR w="9525">
                      <a:solidFill>
                        <a:srgbClr val="DEE7E9"/>
                      </a:solidFill>
                      <a:prstDash val="solid"/>
                    </a:lnR>
                    <a:lnB w="9525">
                      <a:solidFill>
                        <a:srgbClr val="DEE7E9"/>
                      </a:solidFill>
                      <a:prstDash val="solid"/>
                    </a:lnB>
                    <a:solidFill>
                      <a:srgbClr val="FCFDFC"/>
                    </a:solidFill>
                  </a:tcPr>
                </a:tc>
              </a:tr>
              <a:tr h="492125">
                <a:tc>
                  <a:txBody>
                    <a:bodyPr/>
                    <a:lstStyle/>
                    <a:p>
                      <a:r>
                        <a:rPr sz="1575" b="0">
                          <a:solidFill>
                            <a:srgbClr val="1C303B"/>
                          </a:solidFill>
                          <a:latin typeface="Arial"/>
                          <a:ea typeface="Arial"/>
                          <a:cs typeface="Arial"/>
                        </a:rPr>
                        <a:t>12.4%</a:t>
                      </a:r>
                    </a:p>
                  </a:txBody>
                  <a:tcPr marL="91440" marR="91440" marT="45720" marB="45720">
                    <a:lnL w="9525">
                      <a:solidFill>
                        <a:srgbClr val="DEE7E9"/>
                      </a:solidFill>
                      <a:prstDash val="solid"/>
                    </a:lnL>
                    <a:lnR w="9525">
                      <a:solidFill>
                        <a:srgbClr val="DEE7E9"/>
                      </a:solidFill>
                      <a:prstDash val="solid"/>
                    </a:lnR>
                    <a:lnB w="9525">
                      <a:solidFill>
                        <a:srgbClr val="DEE7E9"/>
                      </a:solidFill>
                      <a:prstDash val="solid"/>
                    </a:lnB>
                    <a:solidFill>
                      <a:srgbClr val="EFF5F4"/>
                    </a:solidFill>
                  </a:tcPr>
                </a:tc>
                <a:tc>
                  <a:txBody>
                    <a:bodyPr/>
                    <a:lstStyle/>
                    <a:p>
                      <a:r>
                        <a:rPr sz="1575" b="0">
                          <a:solidFill>
                            <a:srgbClr val="1C303B"/>
                          </a:solidFill>
                          <a:latin typeface="Arial"/>
                          <a:ea typeface="Arial"/>
                          <a:cs typeface="Arial"/>
                        </a:rPr>
                        <a:t>5,159</a:t>
                      </a:r>
                    </a:p>
                  </a:txBody>
                  <a:tcPr marL="91440" marR="91440" marT="45720" marB="45720">
                    <a:lnR w="9525">
                      <a:solidFill>
                        <a:srgbClr val="DEE7E9"/>
                      </a:solidFill>
                      <a:prstDash val="solid"/>
                    </a:lnR>
                    <a:lnB w="9525">
                      <a:solidFill>
                        <a:srgbClr val="DEE7E9"/>
                      </a:solidFill>
                      <a:prstDash val="solid"/>
                    </a:lnB>
                    <a:solidFill>
                      <a:srgbClr val="EFF5F4"/>
                    </a:solidFill>
                  </a:tcPr>
                </a:tc>
                <a:tc>
                  <a:txBody>
                    <a:bodyPr/>
                    <a:lstStyle/>
                    <a:p>
                      <a:r>
                        <a:rPr sz="1575" b="0">
                          <a:solidFill>
                            <a:srgbClr val="1C303B"/>
                          </a:solidFill>
                          <a:latin typeface="Arial"/>
                          <a:ea typeface="Arial"/>
                          <a:cs typeface="Arial"/>
                        </a:rPr>
                        <a:t>5,201</a:t>
                      </a:r>
                    </a:p>
                  </a:txBody>
                  <a:tcPr marL="91440" marR="91440" marT="45720" marB="45720">
                    <a:lnR w="9525">
                      <a:solidFill>
                        <a:srgbClr val="DEE7E9"/>
                      </a:solidFill>
                      <a:prstDash val="solid"/>
                    </a:lnR>
                    <a:lnB w="9525">
                      <a:solidFill>
                        <a:srgbClr val="DEE7E9"/>
                      </a:solidFill>
                      <a:prstDash val="solid"/>
                    </a:lnB>
                    <a:solidFill>
                      <a:srgbClr val="EFF5F4"/>
                    </a:solidFill>
                  </a:tcPr>
                </a:tc>
                <a:tc>
                  <a:txBody>
                    <a:bodyPr/>
                    <a:lstStyle/>
                    <a:p>
                      <a:r>
                        <a:rPr sz="1575" b="0">
                          <a:solidFill>
                            <a:srgbClr val="1C303B"/>
                          </a:solidFill>
                          <a:latin typeface="Arial"/>
                          <a:ea typeface="Arial"/>
                          <a:cs typeface="Arial"/>
                        </a:rPr>
                        <a:t>5,248</a:t>
                      </a:r>
                    </a:p>
                  </a:txBody>
                  <a:tcPr marL="91440" marR="91440" marT="45720" marB="45720">
                    <a:lnR w="9525">
                      <a:solidFill>
                        <a:srgbClr val="DEE7E9"/>
                      </a:solidFill>
                      <a:prstDash val="solid"/>
                    </a:lnR>
                    <a:lnB w="9525">
                      <a:solidFill>
                        <a:srgbClr val="DEE7E9"/>
                      </a:solidFill>
                      <a:prstDash val="solid"/>
                    </a:lnB>
                    <a:solidFill>
                      <a:srgbClr val="EFF5F4"/>
                    </a:solidFill>
                  </a:tcPr>
                </a:tc>
                <a:tc>
                  <a:txBody>
                    <a:bodyPr/>
                    <a:lstStyle/>
                    <a:p>
                      <a:r>
                        <a:rPr sz="1575" b="0">
                          <a:solidFill>
                            <a:srgbClr val="1C303B"/>
                          </a:solidFill>
                          <a:latin typeface="Arial"/>
                          <a:ea typeface="Arial"/>
                          <a:cs typeface="Arial"/>
                        </a:rPr>
                        <a:t>5,300</a:t>
                      </a:r>
                    </a:p>
                  </a:txBody>
                  <a:tcPr marL="91440" marR="91440" marT="45720" marB="45720">
                    <a:lnR w="9525">
                      <a:solidFill>
                        <a:srgbClr val="DEE7E9"/>
                      </a:solidFill>
                      <a:prstDash val="solid"/>
                    </a:lnR>
                    <a:lnB w="9525">
                      <a:solidFill>
                        <a:srgbClr val="DEE7E9"/>
                      </a:solidFill>
                      <a:prstDash val="solid"/>
                    </a:lnB>
                    <a:solidFill>
                      <a:srgbClr val="EFF5F4"/>
                    </a:solidFill>
                  </a:tcPr>
                </a:tc>
                <a:tc>
                  <a:txBody>
                    <a:bodyPr/>
                    <a:lstStyle/>
                    <a:p>
                      <a:r>
                        <a:rPr sz="1575" b="0">
                          <a:solidFill>
                            <a:srgbClr val="1C303B"/>
                          </a:solidFill>
                          <a:latin typeface="Arial"/>
                          <a:ea typeface="Arial"/>
                          <a:cs typeface="Arial"/>
                        </a:rPr>
                        <a:t>5,357</a:t>
                      </a:r>
                    </a:p>
                  </a:txBody>
                  <a:tcPr marL="91440" marR="91440" marT="45720" marB="45720">
                    <a:lnR w="9525">
                      <a:solidFill>
                        <a:srgbClr val="DEE7E9"/>
                      </a:solidFill>
                      <a:prstDash val="solid"/>
                    </a:lnR>
                    <a:lnB w="9525">
                      <a:solidFill>
                        <a:srgbClr val="DEE7E9"/>
                      </a:solidFill>
                      <a:prstDash val="solid"/>
                    </a:lnB>
                    <a:solidFill>
                      <a:srgbClr val="EFF5F4"/>
                    </a:solidFill>
                  </a:tcPr>
                </a:tc>
              </a:tr>
              <a:tr h="492125">
                <a:tc>
                  <a:txBody>
                    <a:bodyPr/>
                    <a:lstStyle/>
                    <a:p>
                      <a:r>
                        <a:rPr sz="1575" b="0">
                          <a:solidFill>
                            <a:srgbClr val="1C303B"/>
                          </a:solidFill>
                          <a:latin typeface="Arial"/>
                          <a:ea typeface="Arial"/>
                          <a:cs typeface="Arial"/>
                        </a:rPr>
                        <a:t>12.9%</a:t>
                      </a:r>
                    </a:p>
                  </a:txBody>
                  <a:tcPr marL="91440" marR="91440" marT="45720" marB="45720">
                    <a:lnL w="9525">
                      <a:solidFill>
                        <a:srgbClr val="DEE7E9"/>
                      </a:solidFill>
                      <a:prstDash val="solid"/>
                    </a:lnL>
                    <a:lnR w="9525">
                      <a:solidFill>
                        <a:srgbClr val="DEE7E9"/>
                      </a:solidFill>
                      <a:prstDash val="solid"/>
                    </a:lnR>
                    <a:lnB w="9525">
                      <a:solidFill>
                        <a:srgbClr val="DEE7E9"/>
                      </a:solidFill>
                      <a:prstDash val="solid"/>
                    </a:lnB>
                    <a:solidFill>
                      <a:srgbClr val="FCFDFC"/>
                    </a:solidFill>
                  </a:tcPr>
                </a:tc>
                <a:tc>
                  <a:txBody>
                    <a:bodyPr/>
                    <a:lstStyle/>
                    <a:p>
                      <a:r>
                        <a:rPr sz="1575" b="0">
                          <a:solidFill>
                            <a:srgbClr val="1C303B"/>
                          </a:solidFill>
                          <a:latin typeface="Arial"/>
                          <a:ea typeface="Arial"/>
                          <a:cs typeface="Arial"/>
                        </a:rPr>
                        <a:t>4,994</a:t>
                      </a:r>
                    </a:p>
                  </a:txBody>
                  <a:tcPr marL="91440" marR="91440" marT="45720" marB="45720">
                    <a:lnR w="9525">
                      <a:solidFill>
                        <a:srgbClr val="DEE7E9"/>
                      </a:solidFill>
                      <a:prstDash val="solid"/>
                    </a:lnR>
                    <a:lnB w="9525">
                      <a:solidFill>
                        <a:srgbClr val="DEE7E9"/>
                      </a:solidFill>
                      <a:prstDash val="solid"/>
                    </a:lnB>
                    <a:solidFill>
                      <a:srgbClr val="FCFDFC"/>
                    </a:solidFill>
                  </a:tcPr>
                </a:tc>
                <a:tc>
                  <a:txBody>
                    <a:bodyPr/>
                    <a:lstStyle/>
                    <a:p>
                      <a:r>
                        <a:rPr sz="1575" b="0">
                          <a:solidFill>
                            <a:srgbClr val="1C303B"/>
                          </a:solidFill>
                          <a:latin typeface="Arial"/>
                          <a:ea typeface="Arial"/>
                          <a:cs typeface="Arial"/>
                        </a:rPr>
                        <a:t>5,028</a:t>
                      </a:r>
                    </a:p>
                  </a:txBody>
                  <a:tcPr marL="91440" marR="91440" marT="45720" marB="45720">
                    <a:lnR w="9525">
                      <a:solidFill>
                        <a:srgbClr val="DEE7E9"/>
                      </a:solidFill>
                      <a:prstDash val="solid"/>
                    </a:lnR>
                    <a:lnB w="9525">
                      <a:solidFill>
                        <a:srgbClr val="DEE7E9"/>
                      </a:solidFill>
                      <a:prstDash val="solid"/>
                    </a:lnB>
                    <a:solidFill>
                      <a:srgbClr val="FCFDFC"/>
                    </a:solidFill>
                  </a:tcPr>
                </a:tc>
                <a:tc>
                  <a:txBody>
                    <a:bodyPr/>
                    <a:lstStyle/>
                    <a:p>
                      <a:r>
                        <a:rPr sz="1575" b="0">
                          <a:solidFill>
                            <a:srgbClr val="1C303B"/>
                          </a:solidFill>
                          <a:latin typeface="Arial"/>
                          <a:ea typeface="Arial"/>
                          <a:cs typeface="Arial"/>
                        </a:rPr>
                        <a:t>5,066</a:t>
                      </a:r>
                    </a:p>
                  </a:txBody>
                  <a:tcPr marL="91440" marR="91440" marT="45720" marB="45720">
                    <a:lnR w="9525">
                      <a:solidFill>
                        <a:srgbClr val="DEE7E9"/>
                      </a:solidFill>
                      <a:prstDash val="solid"/>
                    </a:lnR>
                    <a:lnB w="9525">
                      <a:solidFill>
                        <a:srgbClr val="DEE7E9"/>
                      </a:solidFill>
                      <a:prstDash val="solid"/>
                    </a:lnB>
                    <a:solidFill>
                      <a:srgbClr val="FCFDFC"/>
                    </a:solidFill>
                  </a:tcPr>
                </a:tc>
                <a:tc>
                  <a:txBody>
                    <a:bodyPr/>
                    <a:lstStyle/>
                    <a:p>
                      <a:r>
                        <a:rPr sz="1575" b="0">
                          <a:solidFill>
                            <a:srgbClr val="1C303B"/>
                          </a:solidFill>
                          <a:latin typeface="Arial"/>
                          <a:ea typeface="Arial"/>
                          <a:cs typeface="Arial"/>
                        </a:rPr>
                        <a:t>5,106</a:t>
                      </a:r>
                    </a:p>
                  </a:txBody>
                  <a:tcPr marL="91440" marR="91440" marT="45720" marB="45720">
                    <a:lnR w="9525">
                      <a:solidFill>
                        <a:srgbClr val="DEE7E9"/>
                      </a:solidFill>
                      <a:prstDash val="solid"/>
                    </a:lnR>
                    <a:lnB w="9525">
                      <a:solidFill>
                        <a:srgbClr val="DEE7E9"/>
                      </a:solidFill>
                      <a:prstDash val="solid"/>
                    </a:lnB>
                    <a:solidFill>
                      <a:srgbClr val="FCFDFC"/>
                    </a:solidFill>
                  </a:tcPr>
                </a:tc>
                <a:tc>
                  <a:txBody>
                    <a:bodyPr/>
                    <a:lstStyle/>
                    <a:p>
                      <a:r>
                        <a:rPr sz="1575" b="0">
                          <a:solidFill>
                            <a:srgbClr val="1C303B"/>
                          </a:solidFill>
                          <a:latin typeface="Arial"/>
                          <a:ea typeface="Arial"/>
                          <a:cs typeface="Arial"/>
                        </a:rPr>
                        <a:t>5,151</a:t>
                      </a:r>
                    </a:p>
                  </a:txBody>
                  <a:tcPr marL="91440" marR="91440" marT="45720" marB="45720">
                    <a:lnR w="9525">
                      <a:solidFill>
                        <a:srgbClr val="DEE7E9"/>
                      </a:solidFill>
                      <a:prstDash val="solid"/>
                    </a:lnR>
                    <a:lnB w="9525">
                      <a:solidFill>
                        <a:srgbClr val="DEE7E9"/>
                      </a:solidFill>
                      <a:prstDash val="solid"/>
                    </a:lnB>
                    <a:solidFill>
                      <a:srgbClr val="FCFDFC"/>
                    </a:solidFill>
                  </a:tcPr>
                </a:tc>
              </a:tr>
              <a:tr h="492125">
                <a:tc>
                  <a:txBody>
                    <a:bodyPr/>
                    <a:lstStyle/>
                    <a:p>
                      <a:r>
                        <a:rPr sz="1575" b="0">
                          <a:solidFill>
                            <a:srgbClr val="1C303B"/>
                          </a:solidFill>
                          <a:latin typeface="Arial"/>
                          <a:ea typeface="Arial"/>
                          <a:cs typeface="Arial"/>
                        </a:rPr>
                        <a:t>13.4%</a:t>
                      </a:r>
                    </a:p>
                  </a:txBody>
                  <a:tcPr marL="91440" marR="91440" marT="45720" marB="45720">
                    <a:lnL w="9525">
                      <a:solidFill>
                        <a:srgbClr val="DEE7E9"/>
                      </a:solidFill>
                      <a:prstDash val="solid"/>
                    </a:lnL>
                    <a:lnR w="9525">
                      <a:solidFill>
                        <a:srgbClr val="DEE7E9"/>
                      </a:solidFill>
                      <a:prstDash val="solid"/>
                    </a:lnR>
                    <a:lnB w="9525">
                      <a:solidFill>
                        <a:srgbClr val="DEE7E9"/>
                      </a:solidFill>
                      <a:prstDash val="solid"/>
                    </a:lnB>
                    <a:solidFill>
                      <a:srgbClr val="EFF5F4"/>
                    </a:solidFill>
                  </a:tcPr>
                </a:tc>
                <a:tc>
                  <a:txBody>
                    <a:bodyPr/>
                    <a:lstStyle/>
                    <a:p>
                      <a:r>
                        <a:rPr sz="1575" b="0">
                          <a:solidFill>
                            <a:srgbClr val="1C303B"/>
                          </a:solidFill>
                          <a:latin typeface="Arial"/>
                          <a:ea typeface="Arial"/>
                          <a:cs typeface="Arial"/>
                        </a:rPr>
                        <a:t>4,845</a:t>
                      </a:r>
                    </a:p>
                  </a:txBody>
                  <a:tcPr marL="91440" marR="91440" marT="45720" marB="45720">
                    <a:lnR w="9525">
                      <a:solidFill>
                        <a:srgbClr val="DEE7E9"/>
                      </a:solidFill>
                      <a:prstDash val="solid"/>
                    </a:lnR>
                    <a:lnB w="9525">
                      <a:solidFill>
                        <a:srgbClr val="DEE7E9"/>
                      </a:solidFill>
                      <a:prstDash val="solid"/>
                    </a:lnB>
                    <a:solidFill>
                      <a:srgbClr val="EFF5F4"/>
                    </a:solidFill>
                  </a:tcPr>
                </a:tc>
                <a:tc>
                  <a:txBody>
                    <a:bodyPr/>
                    <a:lstStyle/>
                    <a:p>
                      <a:r>
                        <a:rPr sz="1575" b="0">
                          <a:solidFill>
                            <a:srgbClr val="1C303B"/>
                          </a:solidFill>
                          <a:latin typeface="Arial"/>
                          <a:ea typeface="Arial"/>
                          <a:cs typeface="Arial"/>
                        </a:rPr>
                        <a:t>4,872</a:t>
                      </a:r>
                    </a:p>
                  </a:txBody>
                  <a:tcPr marL="91440" marR="91440" marT="45720" marB="45720">
                    <a:lnR w="9525">
                      <a:solidFill>
                        <a:srgbClr val="DEE7E9"/>
                      </a:solidFill>
                      <a:prstDash val="solid"/>
                    </a:lnR>
                    <a:lnB w="9525">
                      <a:solidFill>
                        <a:srgbClr val="DEE7E9"/>
                      </a:solidFill>
                      <a:prstDash val="solid"/>
                    </a:lnB>
                    <a:solidFill>
                      <a:srgbClr val="EFF5F4"/>
                    </a:solidFill>
                  </a:tcPr>
                </a:tc>
                <a:tc>
                  <a:txBody>
                    <a:bodyPr/>
                    <a:lstStyle/>
                    <a:p>
                      <a:r>
                        <a:rPr sz="1575" b="0">
                          <a:solidFill>
                            <a:srgbClr val="1C303B"/>
                          </a:solidFill>
                          <a:latin typeface="Arial"/>
                          <a:ea typeface="Arial"/>
                          <a:cs typeface="Arial"/>
                        </a:rPr>
                        <a:t>4,902</a:t>
                      </a:r>
                    </a:p>
                  </a:txBody>
                  <a:tcPr marL="91440" marR="91440" marT="45720" marB="45720">
                    <a:lnR w="9525">
                      <a:solidFill>
                        <a:srgbClr val="DEE7E9"/>
                      </a:solidFill>
                      <a:prstDash val="solid"/>
                    </a:lnR>
                    <a:lnB w="9525">
                      <a:solidFill>
                        <a:srgbClr val="DEE7E9"/>
                      </a:solidFill>
                      <a:prstDash val="solid"/>
                    </a:lnB>
                    <a:solidFill>
                      <a:srgbClr val="EFF5F4"/>
                    </a:solidFill>
                  </a:tcPr>
                </a:tc>
                <a:tc>
                  <a:txBody>
                    <a:bodyPr/>
                    <a:lstStyle/>
                    <a:p>
                      <a:r>
                        <a:rPr sz="1575" b="0">
                          <a:solidFill>
                            <a:srgbClr val="1C303B"/>
                          </a:solidFill>
                          <a:latin typeface="Arial"/>
                          <a:ea typeface="Arial"/>
                          <a:cs typeface="Arial"/>
                        </a:rPr>
                        <a:t>4,934</a:t>
                      </a:r>
                    </a:p>
                  </a:txBody>
                  <a:tcPr marL="91440" marR="91440" marT="45720" marB="45720">
                    <a:lnR w="9525">
                      <a:solidFill>
                        <a:srgbClr val="DEE7E9"/>
                      </a:solidFill>
                      <a:prstDash val="solid"/>
                    </a:lnR>
                    <a:lnB w="9525">
                      <a:solidFill>
                        <a:srgbClr val="DEE7E9"/>
                      </a:solidFill>
                      <a:prstDash val="solid"/>
                    </a:lnB>
                    <a:solidFill>
                      <a:srgbClr val="EFF5F4"/>
                    </a:solidFill>
                  </a:tcPr>
                </a:tc>
                <a:tc>
                  <a:txBody>
                    <a:bodyPr/>
                    <a:lstStyle/>
                    <a:p>
                      <a:r>
                        <a:rPr sz="1575" b="0">
                          <a:solidFill>
                            <a:srgbClr val="1C303B"/>
                          </a:solidFill>
                          <a:latin typeface="Arial"/>
                          <a:ea typeface="Arial"/>
                          <a:cs typeface="Arial"/>
                        </a:rPr>
                        <a:t>4,969</a:t>
                      </a:r>
                    </a:p>
                  </a:txBody>
                  <a:tcPr marL="91440" marR="91440" marT="45720" marB="45720">
                    <a:lnR w="9525">
                      <a:solidFill>
                        <a:srgbClr val="DEE7E9"/>
                      </a:solidFill>
                      <a:prstDash val="solid"/>
                    </a:lnR>
                    <a:lnB w="9525">
                      <a:solidFill>
                        <a:srgbClr val="DEE7E9"/>
                      </a:solidFill>
                      <a:prstDash val="solid"/>
                    </a:lnB>
                    <a:solidFill>
                      <a:srgbClr val="EFF5F4"/>
                    </a:solidFill>
                  </a:tcPr>
                </a:tc>
              </a:tr>
            </a:tbl>
          </a:graphicData>
        </a:graphic>
      </p:graphicFrame>
      <p:sp>
        <p:nvSpPr>
          <p:cNvPr id="5" name="">
            <a:extLst xmlns:a="http://schemas.openxmlformats.org/drawingml/2006/main">
              <a:ext uri="{FF2B5EF4-FFF2-40B4-BE49-F238E27FC236}">
                <a16:creationId xmlns:a16="http://schemas.microsoft.com/office/drawing/2014/main" id="{E7FA1AD8-1BFA-49F6-B4F9-C8302A0864B6}"/>
              </a:ext>
            </a:extLst>
          </p:cNvPr>
          <p:cNvSpPr>
            <a:spLocks xmlns:a="http://schemas.openxmlformats.org/drawingml/2006/main" noGrp="1"/>
          </p:cNvSpPr>
          <p:nvPr/>
        </p:nvSpPr>
        <p:spPr>
          <a:xfrm xmlns:a="http://schemas.openxmlformats.org/drawingml/2006/main">
            <a:off x="609600" y="52673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977"/>
                </a:solidFill>
                <a:latin typeface="Arial"/>
                <a:ea typeface="Arial"/>
                <a:cs typeface="Arial"/>
              </a:defRPr>
            </a:defPPr>
            <a:lvl1pPr>
              <a:defRPr sz="1875" b="0">
                <a:solidFill>
                  <a:srgbClr val="526977"/>
                </a:solidFill>
                <a:latin typeface="Arial"/>
                <a:ea typeface="Arial"/>
                <a:cs typeface="Arial"/>
              </a:defRPr>
            </a:lvl1pPr>
            <a:lvl2pPr>
              <a:defRPr sz="1875" b="0">
                <a:solidFill>
                  <a:srgbClr val="526977"/>
                </a:solidFill>
                <a:latin typeface="Arial"/>
                <a:ea typeface="Arial"/>
                <a:cs typeface="Arial"/>
              </a:defRPr>
            </a:lvl2pPr>
            <a:lvl3pPr>
              <a:defRPr sz="1875" b="0">
                <a:solidFill>
                  <a:srgbClr val="526977"/>
                </a:solidFill>
                <a:latin typeface="Arial"/>
                <a:ea typeface="Arial"/>
                <a:cs typeface="Arial"/>
              </a:defRPr>
            </a:lvl3pPr>
            <a:lvl4pPr>
              <a:defRPr sz="1875" b="0">
                <a:solidFill>
                  <a:srgbClr val="526977"/>
                </a:solidFill>
                <a:latin typeface="Arial"/>
                <a:ea typeface="Arial"/>
                <a:cs typeface="Arial"/>
              </a:defRPr>
            </a:lvl4pPr>
            <a:lvl5pPr>
              <a:defRPr sz="1875" b="0">
                <a:solidFill>
                  <a:srgbClr val="526977"/>
                </a:solidFill>
                <a:latin typeface="Arial"/>
                <a:ea typeface="Arial"/>
                <a:cs typeface="Arial"/>
              </a:defRPr>
            </a:lvl5pPr>
            <a:lvl6pPr>
              <a:defRPr sz="1875" b="0">
                <a:solidFill>
                  <a:srgbClr val="526977"/>
                </a:solidFill>
                <a:latin typeface="Arial"/>
                <a:ea typeface="Arial"/>
                <a:cs typeface="Arial"/>
              </a:defRPr>
            </a:lvl6pPr>
            <a:lvl7pPr>
              <a:defRPr sz="1875" b="0">
                <a:solidFill>
                  <a:srgbClr val="526977"/>
                </a:solidFill>
                <a:latin typeface="Arial"/>
                <a:ea typeface="Arial"/>
                <a:cs typeface="Arial"/>
              </a:defRPr>
            </a:lvl7pPr>
            <a:lvl8pPr>
              <a:defRPr sz="1875" b="0">
                <a:solidFill>
                  <a:srgbClr val="526977"/>
                </a:solidFill>
                <a:latin typeface="Arial"/>
                <a:ea typeface="Arial"/>
                <a:cs typeface="Arial"/>
              </a:defRPr>
            </a:lvl8pPr>
            <a:lvl9pPr>
              <a:defRPr sz="1875" b="0">
                <a:solidFill>
                  <a:srgbClr val="526977"/>
                </a:solidFill>
                <a:latin typeface="Arial"/>
                <a:ea typeface="Arial"/>
                <a:cs typeface="Arial"/>
              </a:defRPr>
            </a:lvl9pPr>
          </a:lstStyle>
          <a:p xmlns:a="http://schemas.openxmlformats.org/drawingml/2006/main">
            <a:pPr>
              <a:defRPr sz="1875" b="0">
                <a:solidFill>
                  <a:srgbClr val="526977"/>
                </a:solidFill>
                <a:latin typeface="Arial"/>
                <a:ea typeface="Arial"/>
                <a:cs typeface="Arial"/>
              </a:defRPr>
            </a:pPr>
            <a:r>
              <a:rPr sz="1875" b="0">
                <a:solidFill>
                  <a:srgbClr val="526977"/>
                </a:solidFill>
                <a:latin typeface="Arial"/>
                <a:ea typeface="Arial"/>
                <a:cs typeface="Arial"/>
              </a:rPr>
              <a:t>Conditional Monte Carlo: 5000 accepted / 5000 attempted draws; seed 271828.</a:t>
            </a:r>
          </a:p>
          <a:p xmlns:a="http://schemas.openxmlformats.org/drawingml/2006/main">
            <a:pPr>
              <a:defRPr sz="1875" b="0">
                <a:solidFill>
                  <a:srgbClr val="526977"/>
                </a:solidFill>
                <a:latin typeface="Arial"/>
                <a:ea typeface="Arial"/>
                <a:cs typeface="Arial"/>
              </a:defRPr>
            </a:pPr>
            <a:r>
              <a:rPr sz="1875" b="0">
                <a:solidFill>
                  <a:srgbClr val="526977"/>
                </a:solidFill>
                <a:latin typeface="Arial"/>
                <a:ea typeface="Arial"/>
                <a:cs typeface="Arial"/>
              </a:rPr>
              <a:t>P10 / P50 / P90: Rp 4,554 / 5,264 / 6,106</a:t>
            </a:r>
          </a:p>
        </p:txBody>
      </p:sp>
    </p:spTree>
    <p:extLst>
      <p:ext uri="{BB962C8B-B14F-4D97-AF65-F5344CB8AC3E}">
        <p14:creationId xmlns:p14="http://schemas.microsoft.com/office/powerpoint/2010/main" val="1039475871"/>
      </p:ext>
    </p:extLst>
  </p:cSld>
</p:sld>
</file>

<file path=ppt/slides/slide14.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E18EB04-3FBD-4024-B857-240BD94C95DA}"/>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C303B"/>
                </a:solidFill>
                <a:latin typeface="Arial"/>
                <a:ea typeface="Arial"/>
                <a:cs typeface="Arial"/>
              </a:defRPr>
            </a:defPPr>
            <a:lvl1pPr>
              <a:defRPr sz="3225" b="1">
                <a:solidFill>
                  <a:srgbClr val="1C303B"/>
                </a:solidFill>
                <a:latin typeface="Arial"/>
                <a:ea typeface="Arial"/>
                <a:cs typeface="Arial"/>
              </a:defRPr>
            </a:lvl1pPr>
            <a:lvl2pPr>
              <a:defRPr sz="3225" b="1">
                <a:solidFill>
                  <a:srgbClr val="1C303B"/>
                </a:solidFill>
                <a:latin typeface="Arial"/>
                <a:ea typeface="Arial"/>
                <a:cs typeface="Arial"/>
              </a:defRPr>
            </a:lvl2pPr>
            <a:lvl3pPr>
              <a:defRPr sz="3225" b="1">
                <a:solidFill>
                  <a:srgbClr val="1C303B"/>
                </a:solidFill>
                <a:latin typeface="Arial"/>
                <a:ea typeface="Arial"/>
                <a:cs typeface="Arial"/>
              </a:defRPr>
            </a:lvl3pPr>
            <a:lvl4pPr>
              <a:defRPr sz="3225" b="1">
                <a:solidFill>
                  <a:srgbClr val="1C303B"/>
                </a:solidFill>
                <a:latin typeface="Arial"/>
                <a:ea typeface="Arial"/>
                <a:cs typeface="Arial"/>
              </a:defRPr>
            </a:lvl4pPr>
            <a:lvl5pPr>
              <a:defRPr sz="3225" b="1">
                <a:solidFill>
                  <a:srgbClr val="1C303B"/>
                </a:solidFill>
                <a:latin typeface="Arial"/>
                <a:ea typeface="Arial"/>
                <a:cs typeface="Arial"/>
              </a:defRPr>
            </a:lvl5pPr>
            <a:lvl6pPr>
              <a:defRPr sz="3225" b="1">
                <a:solidFill>
                  <a:srgbClr val="1C303B"/>
                </a:solidFill>
                <a:latin typeface="Arial"/>
                <a:ea typeface="Arial"/>
                <a:cs typeface="Arial"/>
              </a:defRPr>
            </a:lvl6pPr>
            <a:lvl7pPr>
              <a:defRPr sz="3225" b="1">
                <a:solidFill>
                  <a:srgbClr val="1C303B"/>
                </a:solidFill>
                <a:latin typeface="Arial"/>
                <a:ea typeface="Arial"/>
                <a:cs typeface="Arial"/>
              </a:defRPr>
            </a:lvl7pPr>
            <a:lvl8pPr>
              <a:defRPr sz="3225" b="1">
                <a:solidFill>
                  <a:srgbClr val="1C303B"/>
                </a:solidFill>
                <a:latin typeface="Arial"/>
                <a:ea typeface="Arial"/>
                <a:cs typeface="Arial"/>
              </a:defRPr>
            </a:lvl8pPr>
            <a:lvl9pPr>
              <a:defRPr sz="3225" b="1">
                <a:solidFill>
                  <a:srgbClr val="1C303B"/>
                </a:solidFill>
                <a:latin typeface="Arial"/>
                <a:ea typeface="Arial"/>
                <a:cs typeface="Arial"/>
              </a:defRPr>
            </a:lvl9pPr>
          </a:lstStyle>
          <a:p xmlns:a="http://schemas.openxmlformats.org/drawingml/2006/main">
            <a:pPr>
              <a:defRPr sz="3225" b="1">
                <a:solidFill>
                  <a:srgbClr val="1C303B"/>
                </a:solidFill>
                <a:latin typeface="Arial"/>
                <a:ea typeface="Arial"/>
                <a:cs typeface="Arial"/>
              </a:defRPr>
            </a:pPr>
            <a:r>
              <a:rPr sz="3225" b="1">
                <a:solidFill>
                  <a:srgbClr val="1C303B"/>
                </a:solidFill>
                <a:latin typeface="Arial"/>
                <a:ea typeface="Arial"/>
                <a:cs typeface="Arial"/>
              </a:rPr>
              <a:t>Reconciliation and recommendation</a:t>
            </a:r>
          </a:p>
        </p:txBody>
      </p:sp>
      <p:sp>
        <p:nvSpPr>
          <p:cNvPr id="2" name="">
            <a:extLst xmlns:a="http://schemas.openxmlformats.org/drawingml/2006/main">
              <a:ext uri="{FF2B5EF4-FFF2-40B4-BE49-F238E27FC236}">
                <a16:creationId xmlns:a16="http://schemas.microsoft.com/office/drawing/2014/main" id="{5A223126-38F1-491A-86FE-A9B1DDDCA05E}"/>
              </a:ext>
            </a:extLst>
          </p:cNvPr>
          <p:cNvSpPr>
            <a:spLocks xmlns:a="http://schemas.openxmlformats.org/drawingml/2006/main" noGrp="1"/>
          </p:cNvSpPr>
          <p:nvPr/>
        </p:nvSpPr>
        <p:spPr>
          <a:xfrm xmlns:a="http://schemas.openxmlformats.org/drawingml/2006/main">
            <a:off x="609600" y="6324600"/>
            <a:ext cx="933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977"/>
                </a:solidFill>
                <a:latin typeface="Arial"/>
                <a:ea typeface="Arial"/>
                <a:cs typeface="Arial"/>
              </a:defRPr>
            </a:defPPr>
            <a:lvl1pPr>
              <a:defRPr sz="1125" b="0">
                <a:solidFill>
                  <a:srgbClr val="526977"/>
                </a:solidFill>
                <a:latin typeface="Arial"/>
                <a:ea typeface="Arial"/>
                <a:cs typeface="Arial"/>
              </a:defRPr>
            </a:lvl1pPr>
            <a:lvl2pPr>
              <a:defRPr sz="1125" b="0">
                <a:solidFill>
                  <a:srgbClr val="526977"/>
                </a:solidFill>
                <a:latin typeface="Arial"/>
                <a:ea typeface="Arial"/>
                <a:cs typeface="Arial"/>
              </a:defRPr>
            </a:lvl2pPr>
            <a:lvl3pPr>
              <a:defRPr sz="1125" b="0">
                <a:solidFill>
                  <a:srgbClr val="526977"/>
                </a:solidFill>
                <a:latin typeface="Arial"/>
                <a:ea typeface="Arial"/>
                <a:cs typeface="Arial"/>
              </a:defRPr>
            </a:lvl3pPr>
            <a:lvl4pPr>
              <a:defRPr sz="1125" b="0">
                <a:solidFill>
                  <a:srgbClr val="526977"/>
                </a:solidFill>
                <a:latin typeface="Arial"/>
                <a:ea typeface="Arial"/>
                <a:cs typeface="Arial"/>
              </a:defRPr>
            </a:lvl4pPr>
            <a:lvl5pPr>
              <a:defRPr sz="1125" b="0">
                <a:solidFill>
                  <a:srgbClr val="526977"/>
                </a:solidFill>
                <a:latin typeface="Arial"/>
                <a:ea typeface="Arial"/>
                <a:cs typeface="Arial"/>
              </a:defRPr>
            </a:lvl5pPr>
            <a:lvl6pPr>
              <a:defRPr sz="1125" b="0">
                <a:solidFill>
                  <a:srgbClr val="526977"/>
                </a:solidFill>
                <a:latin typeface="Arial"/>
                <a:ea typeface="Arial"/>
                <a:cs typeface="Arial"/>
              </a:defRPr>
            </a:lvl6pPr>
            <a:lvl7pPr>
              <a:defRPr sz="1125" b="0">
                <a:solidFill>
                  <a:srgbClr val="526977"/>
                </a:solidFill>
                <a:latin typeface="Arial"/>
                <a:ea typeface="Arial"/>
                <a:cs typeface="Arial"/>
              </a:defRPr>
            </a:lvl7pPr>
            <a:lvl8pPr>
              <a:defRPr sz="1125" b="0">
                <a:solidFill>
                  <a:srgbClr val="526977"/>
                </a:solidFill>
                <a:latin typeface="Arial"/>
                <a:ea typeface="Arial"/>
                <a:cs typeface="Arial"/>
              </a:defRPr>
            </a:lvl8pPr>
            <a:lvl9pPr>
              <a:defRPr sz="1125" b="0">
                <a:solidFill>
                  <a:srgbClr val="526977"/>
                </a:solidFill>
                <a:latin typeface="Arial"/>
                <a:ea typeface="Arial"/>
                <a:cs typeface="Arial"/>
              </a:defRPr>
            </a:lvl9pPr>
          </a:lstStyle>
          <a:p xmlns:a="http://schemas.openxmlformats.org/drawingml/2006/main">
            <a:pPr>
              <a:defRPr sz="1125" b="0">
                <a:solidFill>
                  <a:srgbClr val="526977"/>
                </a:solidFill>
                <a:latin typeface="Arial"/>
                <a:ea typeface="Arial"/>
                <a:cs typeface="Arial"/>
              </a:defRPr>
            </a:pPr>
            <a:r>
              <a:rPr sz="1125" b="0">
                <a:solidFill>
                  <a:srgbClr val="526977"/>
                </a:solidFill>
                <a:latin typeface="Arial"/>
                <a:ea typeface="Arial"/>
                <a:cs typeface="Arial"/>
              </a:rPr>
              <a:t>RALVEN 5.0 / BMRI / 25 Oct 2026</a:t>
            </a:r>
          </a:p>
        </p:txBody>
      </p:sp>
      <p:sp>
        <p:nvSpPr>
          <p:cNvPr id="3" name="">
            <a:extLst xmlns:a="http://schemas.openxmlformats.org/drawingml/2006/main">
              <a:ext uri="{FF2B5EF4-FFF2-40B4-BE49-F238E27FC236}">
                <a16:creationId xmlns:a16="http://schemas.microsoft.com/office/drawing/2014/main" id="{08F442E4-2EA3-44D0-ABCF-7A5E6E9EEEFD}"/>
              </a:ext>
            </a:extLst>
          </p:cNvPr>
          <p:cNvSpPr>
            <a:spLocks xmlns:a="http://schemas.openxmlformats.org/drawingml/2006/main" noGrp="1"/>
          </p:cNvSpPr>
          <p:nvPr/>
        </p:nvSpPr>
        <p:spPr>
          <a:xfrm xmlns:a="http://schemas.openxmlformats.org/drawingml/2006/main">
            <a:off x="11001375" y="63246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977"/>
                </a:solidFill>
                <a:latin typeface="Arial"/>
                <a:ea typeface="Arial"/>
                <a:cs typeface="Arial"/>
              </a:defRPr>
            </a:defPPr>
            <a:lvl1pPr>
              <a:defRPr sz="1125" b="0">
                <a:solidFill>
                  <a:srgbClr val="526977"/>
                </a:solidFill>
                <a:latin typeface="Arial"/>
                <a:ea typeface="Arial"/>
                <a:cs typeface="Arial"/>
              </a:defRPr>
            </a:lvl1pPr>
            <a:lvl2pPr>
              <a:defRPr sz="1125" b="0">
                <a:solidFill>
                  <a:srgbClr val="526977"/>
                </a:solidFill>
                <a:latin typeface="Arial"/>
                <a:ea typeface="Arial"/>
                <a:cs typeface="Arial"/>
              </a:defRPr>
            </a:lvl2pPr>
            <a:lvl3pPr>
              <a:defRPr sz="1125" b="0">
                <a:solidFill>
                  <a:srgbClr val="526977"/>
                </a:solidFill>
                <a:latin typeface="Arial"/>
                <a:ea typeface="Arial"/>
                <a:cs typeface="Arial"/>
              </a:defRPr>
            </a:lvl3pPr>
            <a:lvl4pPr>
              <a:defRPr sz="1125" b="0">
                <a:solidFill>
                  <a:srgbClr val="526977"/>
                </a:solidFill>
                <a:latin typeface="Arial"/>
                <a:ea typeface="Arial"/>
                <a:cs typeface="Arial"/>
              </a:defRPr>
            </a:lvl4pPr>
            <a:lvl5pPr>
              <a:defRPr sz="1125" b="0">
                <a:solidFill>
                  <a:srgbClr val="526977"/>
                </a:solidFill>
                <a:latin typeface="Arial"/>
                <a:ea typeface="Arial"/>
                <a:cs typeface="Arial"/>
              </a:defRPr>
            </a:lvl5pPr>
            <a:lvl6pPr>
              <a:defRPr sz="1125" b="0">
                <a:solidFill>
                  <a:srgbClr val="526977"/>
                </a:solidFill>
                <a:latin typeface="Arial"/>
                <a:ea typeface="Arial"/>
                <a:cs typeface="Arial"/>
              </a:defRPr>
            </a:lvl6pPr>
            <a:lvl7pPr>
              <a:defRPr sz="1125" b="0">
                <a:solidFill>
                  <a:srgbClr val="526977"/>
                </a:solidFill>
                <a:latin typeface="Arial"/>
                <a:ea typeface="Arial"/>
                <a:cs typeface="Arial"/>
              </a:defRPr>
            </a:lvl7pPr>
            <a:lvl8pPr>
              <a:defRPr sz="1125" b="0">
                <a:solidFill>
                  <a:srgbClr val="526977"/>
                </a:solidFill>
                <a:latin typeface="Arial"/>
                <a:ea typeface="Arial"/>
                <a:cs typeface="Arial"/>
              </a:defRPr>
            </a:lvl8pPr>
            <a:lvl9pPr>
              <a:defRPr sz="1125" b="0">
                <a:solidFill>
                  <a:srgbClr val="526977"/>
                </a:solidFill>
                <a:latin typeface="Arial"/>
                <a:ea typeface="Arial"/>
                <a:cs typeface="Arial"/>
              </a:defRPr>
            </a:lvl9pPr>
          </a:lstStyle>
          <a:p xmlns:a="http://schemas.openxmlformats.org/drawingml/2006/main">
            <a:pPr>
              <a:defRPr sz="1125" b="0">
                <a:solidFill>
                  <a:srgbClr val="526977"/>
                </a:solidFill>
                <a:latin typeface="Arial"/>
                <a:ea typeface="Arial"/>
                <a:cs typeface="Arial"/>
              </a:defRPr>
            </a:pPr>
            <a:r>
              <a:rPr sz="1125" b="0">
                <a:solidFill>
                  <a:srgbClr val="526977"/>
                </a:solidFill>
                <a:latin typeface="Arial"/>
                <a:ea typeface="Arial"/>
                <a:cs typeface="Arial"/>
              </a:rPr>
              <a:t>14</a:t>
            </a:r>
          </a:p>
        </p:txBody>
      </p:sp>
      <p:sp>
        <p:nvSpPr>
          <p:cNvPr id="4" name="">
            <a:extLst xmlns:a="http://schemas.openxmlformats.org/drawingml/2006/main">
              <a:ext uri="{FF2B5EF4-FFF2-40B4-BE49-F238E27FC236}">
                <a16:creationId xmlns:a16="http://schemas.microsoft.com/office/drawing/2014/main" id="{971542AF-F0DF-4E28-87DD-1F845C8263AA}"/>
              </a:ext>
            </a:extLst>
          </p:cNvPr>
          <p:cNvSpPr>
            <a:spLocks xmlns:a="http://schemas.openxmlformats.org/drawingml/2006/main" noGrp="1"/>
          </p:cNvSpPr>
          <p:nvPr/>
        </p:nvSpPr>
        <p:spPr>
          <a:xfrm xmlns:a="http://schemas.openxmlformats.org/drawingml/2006/main">
            <a:off x="609600" y="1962150"/>
            <a:ext cx="838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700" b="1">
                <a:solidFill>
                  <a:srgbClr val="1C303B"/>
                </a:solidFill>
                <a:latin typeface="Arial"/>
                <a:ea typeface="Arial"/>
                <a:cs typeface="Arial"/>
              </a:defRPr>
            </a:defPPr>
            <a:lvl1pPr>
              <a:defRPr sz="5700" b="1">
                <a:solidFill>
                  <a:srgbClr val="1C303B"/>
                </a:solidFill>
                <a:latin typeface="Arial"/>
                <a:ea typeface="Arial"/>
                <a:cs typeface="Arial"/>
              </a:defRPr>
            </a:lvl1pPr>
            <a:lvl2pPr>
              <a:defRPr sz="5700" b="1">
                <a:solidFill>
                  <a:srgbClr val="1C303B"/>
                </a:solidFill>
                <a:latin typeface="Arial"/>
                <a:ea typeface="Arial"/>
                <a:cs typeface="Arial"/>
              </a:defRPr>
            </a:lvl2pPr>
            <a:lvl3pPr>
              <a:defRPr sz="5700" b="1">
                <a:solidFill>
                  <a:srgbClr val="1C303B"/>
                </a:solidFill>
                <a:latin typeface="Arial"/>
                <a:ea typeface="Arial"/>
                <a:cs typeface="Arial"/>
              </a:defRPr>
            </a:lvl3pPr>
            <a:lvl4pPr>
              <a:defRPr sz="5700" b="1">
                <a:solidFill>
                  <a:srgbClr val="1C303B"/>
                </a:solidFill>
                <a:latin typeface="Arial"/>
                <a:ea typeface="Arial"/>
                <a:cs typeface="Arial"/>
              </a:defRPr>
            </a:lvl4pPr>
            <a:lvl5pPr>
              <a:defRPr sz="5700" b="1">
                <a:solidFill>
                  <a:srgbClr val="1C303B"/>
                </a:solidFill>
                <a:latin typeface="Arial"/>
                <a:ea typeface="Arial"/>
                <a:cs typeface="Arial"/>
              </a:defRPr>
            </a:lvl5pPr>
            <a:lvl6pPr>
              <a:defRPr sz="5700" b="1">
                <a:solidFill>
                  <a:srgbClr val="1C303B"/>
                </a:solidFill>
                <a:latin typeface="Arial"/>
                <a:ea typeface="Arial"/>
                <a:cs typeface="Arial"/>
              </a:defRPr>
            </a:lvl6pPr>
            <a:lvl7pPr>
              <a:defRPr sz="5700" b="1">
                <a:solidFill>
                  <a:srgbClr val="1C303B"/>
                </a:solidFill>
                <a:latin typeface="Arial"/>
                <a:ea typeface="Arial"/>
                <a:cs typeface="Arial"/>
              </a:defRPr>
            </a:lvl7pPr>
            <a:lvl8pPr>
              <a:defRPr sz="5700" b="1">
                <a:solidFill>
                  <a:srgbClr val="1C303B"/>
                </a:solidFill>
                <a:latin typeface="Arial"/>
                <a:ea typeface="Arial"/>
                <a:cs typeface="Arial"/>
              </a:defRPr>
            </a:lvl8pPr>
            <a:lvl9pPr>
              <a:defRPr sz="5700" b="1">
                <a:solidFill>
                  <a:srgbClr val="1C303B"/>
                </a:solidFill>
                <a:latin typeface="Arial"/>
                <a:ea typeface="Arial"/>
                <a:cs typeface="Arial"/>
              </a:defRPr>
            </a:lvl9pPr>
          </a:lstStyle>
          <a:p xmlns:a="http://schemas.openxmlformats.org/drawingml/2006/main">
            <a:pPr>
              <a:defRPr sz="5700" b="1">
                <a:solidFill>
                  <a:srgbClr val="1C303B"/>
                </a:solidFill>
                <a:latin typeface="Arial"/>
                <a:ea typeface="Arial"/>
                <a:cs typeface="Arial"/>
              </a:defRPr>
            </a:pPr>
            <a:r>
              <a:rPr sz="5700" b="1">
                <a:solidFill>
                  <a:srgbClr val="1C303B"/>
                </a:solidFill>
                <a:latin typeface="Arial"/>
                <a:ea typeface="Arial"/>
                <a:cs typeface="Arial"/>
              </a:rPr>
              <a:t>Rp 5,248</a:t>
            </a:r>
          </a:p>
        </p:txBody>
      </p:sp>
      <p:sp>
        <p:nvSpPr>
          <p:cNvPr id="5" name="">
            <a:extLst xmlns:a="http://schemas.openxmlformats.org/drawingml/2006/main">
              <a:ext uri="{FF2B5EF4-FFF2-40B4-BE49-F238E27FC236}">
                <a16:creationId xmlns:a16="http://schemas.microsoft.com/office/drawing/2014/main" id="{ECFCB3EB-0991-49C9-B20A-F80E883FDDFA}"/>
              </a:ext>
            </a:extLst>
          </p:cNvPr>
          <p:cNvSpPr>
            <a:spLocks xmlns:a="http://schemas.openxmlformats.org/drawingml/2006/main" noGrp="1"/>
          </p:cNvSpPr>
          <p:nvPr/>
        </p:nvSpPr>
        <p:spPr>
          <a:xfrm xmlns:a="http://schemas.openxmlformats.org/drawingml/2006/main">
            <a:off x="609600" y="301942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58362"/>
                </a:solidFill>
                <a:latin typeface="Arial"/>
                <a:ea typeface="Arial"/>
                <a:cs typeface="Arial"/>
              </a:defRPr>
            </a:defPPr>
            <a:lvl1pPr>
              <a:defRPr sz="2325" b="0">
                <a:solidFill>
                  <a:srgbClr val="258362"/>
                </a:solidFill>
                <a:latin typeface="Arial"/>
                <a:ea typeface="Arial"/>
                <a:cs typeface="Arial"/>
              </a:defRPr>
            </a:lvl1pPr>
            <a:lvl2pPr>
              <a:defRPr sz="2325" b="0">
                <a:solidFill>
                  <a:srgbClr val="258362"/>
                </a:solidFill>
                <a:latin typeface="Arial"/>
                <a:ea typeface="Arial"/>
                <a:cs typeface="Arial"/>
              </a:defRPr>
            </a:lvl2pPr>
            <a:lvl3pPr>
              <a:defRPr sz="2325" b="0">
                <a:solidFill>
                  <a:srgbClr val="258362"/>
                </a:solidFill>
                <a:latin typeface="Arial"/>
                <a:ea typeface="Arial"/>
                <a:cs typeface="Arial"/>
              </a:defRPr>
            </a:lvl3pPr>
            <a:lvl4pPr>
              <a:defRPr sz="2325" b="0">
                <a:solidFill>
                  <a:srgbClr val="258362"/>
                </a:solidFill>
                <a:latin typeface="Arial"/>
                <a:ea typeface="Arial"/>
                <a:cs typeface="Arial"/>
              </a:defRPr>
            </a:lvl4pPr>
            <a:lvl5pPr>
              <a:defRPr sz="2325" b="0">
                <a:solidFill>
                  <a:srgbClr val="258362"/>
                </a:solidFill>
                <a:latin typeface="Arial"/>
                <a:ea typeface="Arial"/>
                <a:cs typeface="Arial"/>
              </a:defRPr>
            </a:lvl5pPr>
            <a:lvl6pPr>
              <a:defRPr sz="2325" b="0">
                <a:solidFill>
                  <a:srgbClr val="258362"/>
                </a:solidFill>
                <a:latin typeface="Arial"/>
                <a:ea typeface="Arial"/>
                <a:cs typeface="Arial"/>
              </a:defRPr>
            </a:lvl6pPr>
            <a:lvl7pPr>
              <a:defRPr sz="2325" b="0">
                <a:solidFill>
                  <a:srgbClr val="258362"/>
                </a:solidFill>
                <a:latin typeface="Arial"/>
                <a:ea typeface="Arial"/>
                <a:cs typeface="Arial"/>
              </a:defRPr>
            </a:lvl7pPr>
            <a:lvl8pPr>
              <a:defRPr sz="2325" b="0">
                <a:solidFill>
                  <a:srgbClr val="258362"/>
                </a:solidFill>
                <a:latin typeface="Arial"/>
                <a:ea typeface="Arial"/>
                <a:cs typeface="Arial"/>
              </a:defRPr>
            </a:lvl8pPr>
            <a:lvl9pPr>
              <a:defRPr sz="2325" b="0">
                <a:solidFill>
                  <a:srgbClr val="258362"/>
                </a:solidFill>
                <a:latin typeface="Arial"/>
                <a:ea typeface="Arial"/>
                <a:cs typeface="Arial"/>
              </a:defRPr>
            </a:lvl9pPr>
          </a:lstStyle>
          <a:p xmlns:a="http://schemas.openxmlformats.org/drawingml/2006/main">
            <a:pPr>
              <a:defRPr sz="2325" b="0">
                <a:solidFill>
                  <a:srgbClr val="258362"/>
                </a:solidFill>
                <a:latin typeface="Arial"/>
                <a:ea typeface="Arial"/>
                <a:cs typeface="Arial"/>
              </a:defRPr>
            </a:pPr>
            <a:r>
              <a:rPr sz="2325" b="0">
                <a:solidFill>
                  <a:srgbClr val="258362"/>
                </a:solidFill>
                <a:latin typeface="Arial"/>
                <a:ea typeface="Arial"/>
                <a:cs typeface="Arial"/>
              </a:rPr>
              <a:t>34.6% implied upside / BUY model indication</a:t>
            </a:r>
          </a:p>
        </p:txBody>
      </p:sp>
      <p:graphicFrame>
        <p:nvGraphicFramePr>
          <p:cNvPr id="6" name="">
            <a:extLst xmlns:a="http://schemas.openxmlformats.org/drawingml/2006/main">
              <a:ext uri="{FF2B5EF4-FFF2-40B4-BE49-F238E27FC236}">
                <a16:creationId xmlns:a16="http://schemas.microsoft.com/office/drawing/2014/main" id="{B63B8C88-F2DC-4290-8257-DA1733D2381D}"/>
              </a:ext>
            </a:extLst>
          </p:cNvPr>
          <p:cNvGraphicFramePr/>
          <p:nvPr/>
        </p:nvGraphicFramePr>
        <p:xfrm>
          <a:off xmlns:a="http://schemas.openxmlformats.org/drawingml/2006/main" x="609600" y="4000500"/>
          <a:ext xmlns:a="http://schemas.openxmlformats.org/drawingml/2006/main" cx="10972800" cy="2000250"/>
        </p:xfrm>
        <a:graphic xmlns:a="http://schemas.openxmlformats.org/drawingml/2006/main">
          <a:graphicData uri="http://schemas.openxmlformats.org/drawingml/2006/table">
            <a:tbl>
              <a:tblPr/>
              <a:tblGrid>
                <a:gridCol w="3657600"/>
                <a:gridCol w="3657600"/>
                <a:gridCol w="3657600"/>
              </a:tblGrid>
              <a:tr h="500063">
                <a:tc>
                  <a:txBody>
                    <a:bodyPr/>
                    <a:lstStyle/>
                    <a:p>
                      <a:r>
                        <a:rPr sz="1800" b="1">
                          <a:solidFill>
                            <a:srgbClr val="FFFFFF"/>
                          </a:solidFill>
                          <a:latin typeface="Arial"/>
                          <a:ea typeface="Arial"/>
                          <a:cs typeface="Arial"/>
                        </a:rPr>
                        <a:t>Method</a:t>
                      </a:r>
                    </a:p>
                  </a:txBody>
                  <a:tcPr marL="91440" marR="91440" marT="45720" marB="45720">
                    <a:lnL w="9525">
                      <a:solidFill>
                        <a:srgbClr val="DEE7E9"/>
                      </a:solidFill>
                      <a:prstDash val="solid"/>
                    </a:lnL>
                    <a:lnR w="9525">
                      <a:solidFill>
                        <a:srgbClr val="DEE7E9"/>
                      </a:solidFill>
                      <a:prstDash val="solid"/>
                    </a:lnR>
                    <a:lnT w="9525">
                      <a:solidFill>
                        <a:srgbClr val="DEE7E9"/>
                      </a:solidFill>
                      <a:prstDash val="solid"/>
                    </a:lnT>
                    <a:lnB w="9525">
                      <a:solidFill>
                        <a:srgbClr val="DEE7E9"/>
                      </a:solidFill>
                      <a:prstDash val="solid"/>
                    </a:lnB>
                    <a:solidFill>
                      <a:srgbClr val="1C303B"/>
                    </a:solidFill>
                  </a:tcPr>
                </a:tc>
                <a:tc>
                  <a:txBody>
                    <a:bodyPr/>
                    <a:lstStyle/>
                    <a:p>
                      <a:r>
                        <a:rPr sz="1800" b="1">
                          <a:solidFill>
                            <a:srgbClr val="FFFFFF"/>
                          </a:solidFill>
                          <a:latin typeface="Arial"/>
                          <a:ea typeface="Arial"/>
                          <a:cs typeface="Arial"/>
                        </a:rPr>
                        <a:t>IDR/share</a:t>
                      </a:r>
                    </a:p>
                  </a:txBody>
                  <a:tcPr marL="91440" marR="91440" marT="45720" marB="45720">
                    <a:lnR w="9525">
                      <a:solidFill>
                        <a:srgbClr val="DEE7E9"/>
                      </a:solidFill>
                      <a:prstDash val="solid"/>
                    </a:lnR>
                    <a:lnT w="9525">
                      <a:solidFill>
                        <a:srgbClr val="DEE7E9"/>
                      </a:solidFill>
                      <a:prstDash val="solid"/>
                    </a:lnT>
                    <a:lnB w="9525">
                      <a:solidFill>
                        <a:srgbClr val="DEE7E9"/>
                      </a:solidFill>
                      <a:prstDash val="solid"/>
                    </a:lnB>
                    <a:solidFill>
                      <a:srgbClr val="1C303B"/>
                    </a:solidFill>
                  </a:tcPr>
                </a:tc>
                <a:tc>
                  <a:txBody>
                    <a:bodyPr/>
                    <a:lstStyle/>
                    <a:p>
                      <a:r>
                        <a:rPr sz="1800" b="1">
                          <a:solidFill>
                            <a:srgbClr val="FFFFFF"/>
                          </a:solidFill>
                          <a:latin typeface="Arial"/>
                          <a:ea typeface="Arial"/>
                          <a:cs typeface="Arial"/>
                        </a:rPr>
                        <a:t>Weight</a:t>
                      </a:r>
                    </a:p>
                  </a:txBody>
                  <a:tcPr marL="91440" marR="91440" marT="45720" marB="45720">
                    <a:lnR w="9525">
                      <a:solidFill>
                        <a:srgbClr val="DEE7E9"/>
                      </a:solidFill>
                      <a:prstDash val="solid"/>
                    </a:lnR>
                    <a:lnT w="9525">
                      <a:solidFill>
                        <a:srgbClr val="DEE7E9"/>
                      </a:solidFill>
                      <a:prstDash val="solid"/>
                    </a:lnT>
                    <a:lnB w="9525">
                      <a:solidFill>
                        <a:srgbClr val="DEE7E9"/>
                      </a:solidFill>
                      <a:prstDash val="solid"/>
                    </a:lnB>
                    <a:solidFill>
                      <a:srgbClr val="1C303B"/>
                    </a:solidFill>
                  </a:tcPr>
                </a:tc>
              </a:tr>
              <a:tr h="500063">
                <a:tc>
                  <a:txBody>
                    <a:bodyPr/>
                    <a:lstStyle/>
                    <a:p>
                      <a:r>
                        <a:rPr sz="1800" b="0">
                          <a:solidFill>
                            <a:srgbClr val="1C303B"/>
                          </a:solidFill>
                          <a:latin typeface="Arial"/>
                          <a:ea typeface="Arial"/>
                          <a:cs typeface="Arial"/>
                        </a:rPr>
                        <a:t>DDM</a:t>
                      </a:r>
                    </a:p>
                  </a:txBody>
                  <a:tcPr marL="91440" marR="91440" marT="45720" marB="45720">
                    <a:lnL w="9525">
                      <a:solidFill>
                        <a:srgbClr val="DEE7E9"/>
                      </a:solidFill>
                      <a:prstDash val="solid"/>
                    </a:lnL>
                    <a:lnR w="9525">
                      <a:solidFill>
                        <a:srgbClr val="DEE7E9"/>
                      </a:solidFill>
                      <a:prstDash val="solid"/>
                    </a:lnR>
                    <a:lnB w="9525">
                      <a:solidFill>
                        <a:srgbClr val="DEE7E9"/>
                      </a:solidFill>
                      <a:prstDash val="solid"/>
                    </a:lnB>
                    <a:solidFill>
                      <a:srgbClr val="EFF5F4"/>
                    </a:solidFill>
                  </a:tcPr>
                </a:tc>
                <a:tc>
                  <a:txBody>
                    <a:bodyPr/>
                    <a:lstStyle/>
                    <a:p>
                      <a:r>
                        <a:rPr sz="1800" b="0">
                          <a:solidFill>
                            <a:srgbClr val="1C303B"/>
                          </a:solidFill>
                          <a:latin typeface="Arial"/>
                          <a:ea typeface="Arial"/>
                          <a:cs typeface="Arial"/>
                        </a:rPr>
                        <a:t>6,447</a:t>
                      </a:r>
                    </a:p>
                  </a:txBody>
                  <a:tcPr marL="91440" marR="91440" marT="45720" marB="45720">
                    <a:lnR w="9525">
                      <a:solidFill>
                        <a:srgbClr val="DEE7E9"/>
                      </a:solidFill>
                      <a:prstDash val="solid"/>
                    </a:lnR>
                    <a:lnB w="9525">
                      <a:solidFill>
                        <a:srgbClr val="DEE7E9"/>
                      </a:solidFill>
                      <a:prstDash val="solid"/>
                    </a:lnB>
                    <a:solidFill>
                      <a:srgbClr val="EFF5F4"/>
                    </a:solidFill>
                  </a:tcPr>
                </a:tc>
                <a:tc>
                  <a:txBody>
                    <a:bodyPr/>
                    <a:lstStyle/>
                    <a:p>
                      <a:r>
                        <a:rPr sz="1800" b="0">
                          <a:solidFill>
                            <a:srgbClr val="1C303B"/>
                          </a:solidFill>
                          <a:latin typeface="Arial"/>
                          <a:ea typeface="Arial"/>
                          <a:cs typeface="Arial"/>
                        </a:rPr>
                        <a:t>50%</a:t>
                      </a:r>
                    </a:p>
                  </a:txBody>
                  <a:tcPr marL="91440" marR="91440" marT="45720" marB="45720">
                    <a:lnR w="9525">
                      <a:solidFill>
                        <a:srgbClr val="DEE7E9"/>
                      </a:solidFill>
                      <a:prstDash val="solid"/>
                    </a:lnR>
                    <a:lnB w="9525">
                      <a:solidFill>
                        <a:srgbClr val="DEE7E9"/>
                      </a:solidFill>
                      <a:prstDash val="solid"/>
                    </a:lnB>
                    <a:solidFill>
                      <a:srgbClr val="EFF5F4"/>
                    </a:solidFill>
                  </a:tcPr>
                </a:tc>
              </a:tr>
              <a:tr h="500063">
                <a:tc>
                  <a:txBody>
                    <a:bodyPr/>
                    <a:lstStyle/>
                    <a:p>
                      <a:r>
                        <a:rPr sz="1800" b="0">
                          <a:solidFill>
                            <a:srgbClr val="1C303B"/>
                          </a:solidFill>
                          <a:latin typeface="Arial"/>
                          <a:ea typeface="Arial"/>
                          <a:cs typeface="Arial"/>
                        </a:rPr>
                        <a:t>Relative</a:t>
                      </a:r>
                    </a:p>
                  </a:txBody>
                  <a:tcPr marL="91440" marR="91440" marT="45720" marB="45720">
                    <a:lnL w="9525">
                      <a:solidFill>
                        <a:srgbClr val="DEE7E9"/>
                      </a:solidFill>
                      <a:prstDash val="solid"/>
                    </a:lnL>
                    <a:lnR w="9525">
                      <a:solidFill>
                        <a:srgbClr val="DEE7E9"/>
                      </a:solidFill>
                      <a:prstDash val="solid"/>
                    </a:lnR>
                    <a:lnB w="9525">
                      <a:solidFill>
                        <a:srgbClr val="DEE7E9"/>
                      </a:solidFill>
                      <a:prstDash val="solid"/>
                    </a:lnB>
                    <a:solidFill>
                      <a:srgbClr val="FCFDFC"/>
                    </a:solidFill>
                  </a:tcPr>
                </a:tc>
                <a:tc>
                  <a:txBody>
                    <a:bodyPr/>
                    <a:lstStyle/>
                    <a:p>
                      <a:r>
                        <a:rPr sz="1800" b="0">
                          <a:solidFill>
                            <a:srgbClr val="1C303B"/>
                          </a:solidFill>
                          <a:latin typeface="Arial"/>
                          <a:ea typeface="Arial"/>
                          <a:cs typeface="Arial"/>
                        </a:rPr>
                        <a:t>4,050</a:t>
                      </a:r>
                    </a:p>
                  </a:txBody>
                  <a:tcPr marL="91440" marR="91440" marT="45720" marB="45720">
                    <a:lnR w="9525">
                      <a:solidFill>
                        <a:srgbClr val="DEE7E9"/>
                      </a:solidFill>
                      <a:prstDash val="solid"/>
                    </a:lnR>
                    <a:lnB w="9525">
                      <a:solidFill>
                        <a:srgbClr val="DEE7E9"/>
                      </a:solidFill>
                      <a:prstDash val="solid"/>
                    </a:lnB>
                    <a:solidFill>
                      <a:srgbClr val="FCFDFC"/>
                    </a:solidFill>
                  </a:tcPr>
                </a:tc>
                <a:tc>
                  <a:txBody>
                    <a:bodyPr/>
                    <a:lstStyle/>
                    <a:p>
                      <a:r>
                        <a:rPr sz="1800" b="0">
                          <a:solidFill>
                            <a:srgbClr val="1C303B"/>
                          </a:solidFill>
                          <a:latin typeface="Arial"/>
                          <a:ea typeface="Arial"/>
                          <a:cs typeface="Arial"/>
                        </a:rPr>
                        <a:t>50%</a:t>
                      </a:r>
                    </a:p>
                  </a:txBody>
                  <a:tcPr marL="91440" marR="91440" marT="45720" marB="45720">
                    <a:lnR w="9525">
                      <a:solidFill>
                        <a:srgbClr val="DEE7E9"/>
                      </a:solidFill>
                      <a:prstDash val="solid"/>
                    </a:lnR>
                    <a:lnB w="9525">
                      <a:solidFill>
                        <a:srgbClr val="DEE7E9"/>
                      </a:solidFill>
                      <a:prstDash val="solid"/>
                    </a:lnB>
                    <a:solidFill>
                      <a:srgbClr val="FCFDFC"/>
                    </a:solidFill>
                  </a:tcPr>
                </a:tc>
              </a:tr>
              <a:tr h="500063">
                <a:tc>
                  <a:txBody>
                    <a:bodyPr/>
                    <a:lstStyle/>
                    <a:p>
                      <a:r>
                        <a:rPr sz="1800" b="0">
                          <a:solidFill>
                            <a:srgbClr val="1C303B"/>
                          </a:solidFill>
                          <a:latin typeface="Arial"/>
                          <a:ea typeface="Arial"/>
                          <a:cs typeface="Arial"/>
                        </a:rPr>
                        <a:t>Observed price</a:t>
                      </a:r>
                    </a:p>
                  </a:txBody>
                  <a:tcPr marL="91440" marR="91440" marT="45720" marB="45720">
                    <a:lnL w="9525">
                      <a:solidFill>
                        <a:srgbClr val="DEE7E9"/>
                      </a:solidFill>
                      <a:prstDash val="solid"/>
                    </a:lnL>
                    <a:lnR w="9525">
                      <a:solidFill>
                        <a:srgbClr val="DEE7E9"/>
                      </a:solidFill>
                      <a:prstDash val="solid"/>
                    </a:lnR>
                    <a:lnB w="9525">
                      <a:solidFill>
                        <a:srgbClr val="DEE7E9"/>
                      </a:solidFill>
                      <a:prstDash val="solid"/>
                    </a:lnB>
                    <a:solidFill>
                      <a:srgbClr val="EFF5F4"/>
                    </a:solidFill>
                  </a:tcPr>
                </a:tc>
                <a:tc>
                  <a:txBody>
                    <a:bodyPr/>
                    <a:lstStyle/>
                    <a:p>
                      <a:r>
                        <a:rPr sz="1800" b="0">
                          <a:solidFill>
                            <a:srgbClr val="1C303B"/>
                          </a:solidFill>
                          <a:latin typeface="Arial"/>
                          <a:ea typeface="Arial"/>
                          <a:cs typeface="Arial"/>
                        </a:rPr>
                        <a:t>3,900</a:t>
                      </a:r>
                    </a:p>
                  </a:txBody>
                  <a:tcPr marL="91440" marR="91440" marT="45720" marB="45720">
                    <a:lnR w="9525">
                      <a:solidFill>
                        <a:srgbClr val="DEE7E9"/>
                      </a:solidFill>
                      <a:prstDash val="solid"/>
                    </a:lnR>
                    <a:lnB w="9525">
                      <a:solidFill>
                        <a:srgbClr val="DEE7E9"/>
                      </a:solidFill>
                      <a:prstDash val="solid"/>
                    </a:lnB>
                    <a:solidFill>
                      <a:srgbClr val="EFF5F4"/>
                    </a:solidFill>
                  </a:tcPr>
                </a:tc>
                <a:tc>
                  <a:txBody>
                    <a:bodyPr/>
                    <a:lstStyle/>
                    <a:p>
                      <a:r>
                        <a:rPr sz="1800" b="0">
                          <a:solidFill>
                            <a:srgbClr val="1C303B"/>
                          </a:solidFill>
                          <a:latin typeface="Arial"/>
                          <a:ea typeface="Arial"/>
                          <a:cs typeface="Arial"/>
                        </a:rPr>
                        <a:t>Comparison reference</a:t>
                      </a:r>
                    </a:p>
                  </a:txBody>
                  <a:tcPr marL="91440" marR="91440" marT="45720" marB="45720">
                    <a:lnR w="9525">
                      <a:solidFill>
                        <a:srgbClr val="DEE7E9"/>
                      </a:solidFill>
                      <a:prstDash val="solid"/>
                    </a:lnR>
                    <a:lnB w="9525">
                      <a:solidFill>
                        <a:srgbClr val="DEE7E9"/>
                      </a:solidFill>
                      <a:prstDash val="solid"/>
                    </a:lnB>
                    <a:solidFill>
                      <a:srgbClr val="EFF5F4"/>
                    </a:solidFill>
                  </a:tcPr>
                </a:tc>
              </a:tr>
            </a:tbl>
          </a:graphicData>
        </a:graphic>
      </p:graphicFrame>
    </p:spTree>
    <p:extLst>
      <p:ext uri="{BB962C8B-B14F-4D97-AF65-F5344CB8AC3E}">
        <p14:creationId xmlns:p14="http://schemas.microsoft.com/office/powerpoint/2010/main" val="1131088748"/>
      </p:ext>
    </p:extLst>
  </p:cSld>
</p:sld>
</file>

<file path=ppt/slides/slide15.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EB1E115-3191-4E78-8F06-25C0313FF3CB}"/>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C303B"/>
                </a:solidFill>
                <a:latin typeface="Arial"/>
                <a:ea typeface="Arial"/>
                <a:cs typeface="Arial"/>
              </a:defRPr>
            </a:defPPr>
            <a:lvl1pPr>
              <a:defRPr sz="3225" b="1">
                <a:solidFill>
                  <a:srgbClr val="1C303B"/>
                </a:solidFill>
                <a:latin typeface="Arial"/>
                <a:ea typeface="Arial"/>
                <a:cs typeface="Arial"/>
              </a:defRPr>
            </a:lvl1pPr>
            <a:lvl2pPr>
              <a:defRPr sz="3225" b="1">
                <a:solidFill>
                  <a:srgbClr val="1C303B"/>
                </a:solidFill>
                <a:latin typeface="Arial"/>
                <a:ea typeface="Arial"/>
                <a:cs typeface="Arial"/>
              </a:defRPr>
            </a:lvl2pPr>
            <a:lvl3pPr>
              <a:defRPr sz="3225" b="1">
                <a:solidFill>
                  <a:srgbClr val="1C303B"/>
                </a:solidFill>
                <a:latin typeface="Arial"/>
                <a:ea typeface="Arial"/>
                <a:cs typeface="Arial"/>
              </a:defRPr>
            </a:lvl3pPr>
            <a:lvl4pPr>
              <a:defRPr sz="3225" b="1">
                <a:solidFill>
                  <a:srgbClr val="1C303B"/>
                </a:solidFill>
                <a:latin typeface="Arial"/>
                <a:ea typeface="Arial"/>
                <a:cs typeface="Arial"/>
              </a:defRPr>
            </a:lvl4pPr>
            <a:lvl5pPr>
              <a:defRPr sz="3225" b="1">
                <a:solidFill>
                  <a:srgbClr val="1C303B"/>
                </a:solidFill>
                <a:latin typeface="Arial"/>
                <a:ea typeface="Arial"/>
                <a:cs typeface="Arial"/>
              </a:defRPr>
            </a:lvl5pPr>
            <a:lvl6pPr>
              <a:defRPr sz="3225" b="1">
                <a:solidFill>
                  <a:srgbClr val="1C303B"/>
                </a:solidFill>
                <a:latin typeface="Arial"/>
                <a:ea typeface="Arial"/>
                <a:cs typeface="Arial"/>
              </a:defRPr>
            </a:lvl6pPr>
            <a:lvl7pPr>
              <a:defRPr sz="3225" b="1">
                <a:solidFill>
                  <a:srgbClr val="1C303B"/>
                </a:solidFill>
                <a:latin typeface="Arial"/>
                <a:ea typeface="Arial"/>
                <a:cs typeface="Arial"/>
              </a:defRPr>
            </a:lvl7pPr>
            <a:lvl8pPr>
              <a:defRPr sz="3225" b="1">
                <a:solidFill>
                  <a:srgbClr val="1C303B"/>
                </a:solidFill>
                <a:latin typeface="Arial"/>
                <a:ea typeface="Arial"/>
                <a:cs typeface="Arial"/>
              </a:defRPr>
            </a:lvl8pPr>
            <a:lvl9pPr>
              <a:defRPr sz="3225" b="1">
                <a:solidFill>
                  <a:srgbClr val="1C303B"/>
                </a:solidFill>
                <a:latin typeface="Arial"/>
                <a:ea typeface="Arial"/>
                <a:cs typeface="Arial"/>
              </a:defRPr>
            </a:lvl9pPr>
          </a:lstStyle>
          <a:p xmlns:a="http://schemas.openxmlformats.org/drawingml/2006/main">
            <a:pPr>
              <a:defRPr sz="3225" b="1">
                <a:solidFill>
                  <a:srgbClr val="1C303B"/>
                </a:solidFill>
                <a:latin typeface="Arial"/>
                <a:ea typeface="Arial"/>
                <a:cs typeface="Arial"/>
              </a:defRPr>
            </a:pPr>
            <a:r>
              <a:rPr sz="3225" b="1">
                <a:solidFill>
                  <a:srgbClr val="1C303B"/>
                </a:solidFill>
                <a:latin typeface="Arial"/>
                <a:ea typeface="Arial"/>
                <a:cs typeface="Arial"/>
              </a:rPr>
              <a:t>Validation, limitations and AI</a:t>
            </a:r>
          </a:p>
        </p:txBody>
      </p:sp>
      <p:sp>
        <p:nvSpPr>
          <p:cNvPr id="2" name="">
            <a:extLst xmlns:a="http://schemas.openxmlformats.org/drawingml/2006/main">
              <a:ext uri="{FF2B5EF4-FFF2-40B4-BE49-F238E27FC236}">
                <a16:creationId xmlns:a16="http://schemas.microsoft.com/office/drawing/2014/main" id="{67EC5CB3-56D7-47B6-9F52-A679B7EEDC20}"/>
              </a:ext>
            </a:extLst>
          </p:cNvPr>
          <p:cNvSpPr>
            <a:spLocks xmlns:a="http://schemas.openxmlformats.org/drawingml/2006/main" noGrp="1"/>
          </p:cNvSpPr>
          <p:nvPr/>
        </p:nvSpPr>
        <p:spPr>
          <a:xfrm xmlns:a="http://schemas.openxmlformats.org/drawingml/2006/main">
            <a:off x="609600" y="6324600"/>
            <a:ext cx="933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977"/>
                </a:solidFill>
                <a:latin typeface="Arial"/>
                <a:ea typeface="Arial"/>
                <a:cs typeface="Arial"/>
              </a:defRPr>
            </a:defPPr>
            <a:lvl1pPr>
              <a:defRPr sz="1125" b="0">
                <a:solidFill>
                  <a:srgbClr val="526977"/>
                </a:solidFill>
                <a:latin typeface="Arial"/>
                <a:ea typeface="Arial"/>
                <a:cs typeface="Arial"/>
              </a:defRPr>
            </a:lvl1pPr>
            <a:lvl2pPr>
              <a:defRPr sz="1125" b="0">
                <a:solidFill>
                  <a:srgbClr val="526977"/>
                </a:solidFill>
                <a:latin typeface="Arial"/>
                <a:ea typeface="Arial"/>
                <a:cs typeface="Arial"/>
              </a:defRPr>
            </a:lvl2pPr>
            <a:lvl3pPr>
              <a:defRPr sz="1125" b="0">
                <a:solidFill>
                  <a:srgbClr val="526977"/>
                </a:solidFill>
                <a:latin typeface="Arial"/>
                <a:ea typeface="Arial"/>
                <a:cs typeface="Arial"/>
              </a:defRPr>
            </a:lvl3pPr>
            <a:lvl4pPr>
              <a:defRPr sz="1125" b="0">
                <a:solidFill>
                  <a:srgbClr val="526977"/>
                </a:solidFill>
                <a:latin typeface="Arial"/>
                <a:ea typeface="Arial"/>
                <a:cs typeface="Arial"/>
              </a:defRPr>
            </a:lvl4pPr>
            <a:lvl5pPr>
              <a:defRPr sz="1125" b="0">
                <a:solidFill>
                  <a:srgbClr val="526977"/>
                </a:solidFill>
                <a:latin typeface="Arial"/>
                <a:ea typeface="Arial"/>
                <a:cs typeface="Arial"/>
              </a:defRPr>
            </a:lvl5pPr>
            <a:lvl6pPr>
              <a:defRPr sz="1125" b="0">
                <a:solidFill>
                  <a:srgbClr val="526977"/>
                </a:solidFill>
                <a:latin typeface="Arial"/>
                <a:ea typeface="Arial"/>
                <a:cs typeface="Arial"/>
              </a:defRPr>
            </a:lvl6pPr>
            <a:lvl7pPr>
              <a:defRPr sz="1125" b="0">
                <a:solidFill>
                  <a:srgbClr val="526977"/>
                </a:solidFill>
                <a:latin typeface="Arial"/>
                <a:ea typeface="Arial"/>
                <a:cs typeface="Arial"/>
              </a:defRPr>
            </a:lvl7pPr>
            <a:lvl8pPr>
              <a:defRPr sz="1125" b="0">
                <a:solidFill>
                  <a:srgbClr val="526977"/>
                </a:solidFill>
                <a:latin typeface="Arial"/>
                <a:ea typeface="Arial"/>
                <a:cs typeface="Arial"/>
              </a:defRPr>
            </a:lvl8pPr>
            <a:lvl9pPr>
              <a:defRPr sz="1125" b="0">
                <a:solidFill>
                  <a:srgbClr val="526977"/>
                </a:solidFill>
                <a:latin typeface="Arial"/>
                <a:ea typeface="Arial"/>
                <a:cs typeface="Arial"/>
              </a:defRPr>
            </a:lvl9pPr>
          </a:lstStyle>
          <a:p xmlns:a="http://schemas.openxmlformats.org/drawingml/2006/main">
            <a:pPr>
              <a:defRPr sz="1125" b="0">
                <a:solidFill>
                  <a:srgbClr val="526977"/>
                </a:solidFill>
                <a:latin typeface="Arial"/>
                <a:ea typeface="Arial"/>
                <a:cs typeface="Arial"/>
              </a:defRPr>
            </a:pPr>
            <a:r>
              <a:rPr sz="1125" b="0">
                <a:solidFill>
                  <a:srgbClr val="526977"/>
                </a:solidFill>
                <a:latin typeface="Arial"/>
                <a:ea typeface="Arial"/>
                <a:cs typeface="Arial"/>
              </a:rPr>
              <a:t>RALVEN 5.0 / BMRI / 25 Oct 2026</a:t>
            </a:r>
          </a:p>
        </p:txBody>
      </p:sp>
      <p:sp>
        <p:nvSpPr>
          <p:cNvPr id="3" name="">
            <a:extLst xmlns:a="http://schemas.openxmlformats.org/drawingml/2006/main">
              <a:ext uri="{FF2B5EF4-FFF2-40B4-BE49-F238E27FC236}">
                <a16:creationId xmlns:a16="http://schemas.microsoft.com/office/drawing/2014/main" id="{38B75003-D2C8-401B-8226-D1FFDACD528A}"/>
              </a:ext>
            </a:extLst>
          </p:cNvPr>
          <p:cNvSpPr>
            <a:spLocks xmlns:a="http://schemas.openxmlformats.org/drawingml/2006/main" noGrp="1"/>
          </p:cNvSpPr>
          <p:nvPr/>
        </p:nvSpPr>
        <p:spPr>
          <a:xfrm xmlns:a="http://schemas.openxmlformats.org/drawingml/2006/main">
            <a:off x="11001375" y="63246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977"/>
                </a:solidFill>
                <a:latin typeface="Arial"/>
                <a:ea typeface="Arial"/>
                <a:cs typeface="Arial"/>
              </a:defRPr>
            </a:defPPr>
            <a:lvl1pPr>
              <a:defRPr sz="1125" b="0">
                <a:solidFill>
                  <a:srgbClr val="526977"/>
                </a:solidFill>
                <a:latin typeface="Arial"/>
                <a:ea typeface="Arial"/>
                <a:cs typeface="Arial"/>
              </a:defRPr>
            </a:lvl1pPr>
            <a:lvl2pPr>
              <a:defRPr sz="1125" b="0">
                <a:solidFill>
                  <a:srgbClr val="526977"/>
                </a:solidFill>
                <a:latin typeface="Arial"/>
                <a:ea typeface="Arial"/>
                <a:cs typeface="Arial"/>
              </a:defRPr>
            </a:lvl2pPr>
            <a:lvl3pPr>
              <a:defRPr sz="1125" b="0">
                <a:solidFill>
                  <a:srgbClr val="526977"/>
                </a:solidFill>
                <a:latin typeface="Arial"/>
                <a:ea typeface="Arial"/>
                <a:cs typeface="Arial"/>
              </a:defRPr>
            </a:lvl3pPr>
            <a:lvl4pPr>
              <a:defRPr sz="1125" b="0">
                <a:solidFill>
                  <a:srgbClr val="526977"/>
                </a:solidFill>
                <a:latin typeface="Arial"/>
                <a:ea typeface="Arial"/>
                <a:cs typeface="Arial"/>
              </a:defRPr>
            </a:lvl4pPr>
            <a:lvl5pPr>
              <a:defRPr sz="1125" b="0">
                <a:solidFill>
                  <a:srgbClr val="526977"/>
                </a:solidFill>
                <a:latin typeface="Arial"/>
                <a:ea typeface="Arial"/>
                <a:cs typeface="Arial"/>
              </a:defRPr>
            </a:lvl5pPr>
            <a:lvl6pPr>
              <a:defRPr sz="1125" b="0">
                <a:solidFill>
                  <a:srgbClr val="526977"/>
                </a:solidFill>
                <a:latin typeface="Arial"/>
                <a:ea typeface="Arial"/>
                <a:cs typeface="Arial"/>
              </a:defRPr>
            </a:lvl6pPr>
            <a:lvl7pPr>
              <a:defRPr sz="1125" b="0">
                <a:solidFill>
                  <a:srgbClr val="526977"/>
                </a:solidFill>
                <a:latin typeface="Arial"/>
                <a:ea typeface="Arial"/>
                <a:cs typeface="Arial"/>
              </a:defRPr>
            </a:lvl7pPr>
            <a:lvl8pPr>
              <a:defRPr sz="1125" b="0">
                <a:solidFill>
                  <a:srgbClr val="526977"/>
                </a:solidFill>
                <a:latin typeface="Arial"/>
                <a:ea typeface="Arial"/>
                <a:cs typeface="Arial"/>
              </a:defRPr>
            </a:lvl8pPr>
            <a:lvl9pPr>
              <a:defRPr sz="1125" b="0">
                <a:solidFill>
                  <a:srgbClr val="526977"/>
                </a:solidFill>
                <a:latin typeface="Arial"/>
                <a:ea typeface="Arial"/>
                <a:cs typeface="Arial"/>
              </a:defRPr>
            </a:lvl9pPr>
          </a:lstStyle>
          <a:p xmlns:a="http://schemas.openxmlformats.org/drawingml/2006/main">
            <a:pPr>
              <a:defRPr sz="1125" b="0">
                <a:solidFill>
                  <a:srgbClr val="526977"/>
                </a:solidFill>
                <a:latin typeface="Arial"/>
                <a:ea typeface="Arial"/>
                <a:cs typeface="Arial"/>
              </a:defRPr>
            </a:pPr>
            <a:r>
              <a:rPr sz="1125" b="0">
                <a:solidFill>
                  <a:srgbClr val="526977"/>
                </a:solidFill>
                <a:latin typeface="Arial"/>
                <a:ea typeface="Arial"/>
                <a:cs typeface="Arial"/>
              </a:rPr>
              <a:t>15</a:t>
            </a:r>
          </a:p>
        </p:txBody>
      </p:sp>
      <p:sp>
        <p:nvSpPr>
          <p:cNvPr id="4" name="">
            <a:extLst xmlns:a="http://schemas.openxmlformats.org/drawingml/2006/main">
              <a:ext uri="{FF2B5EF4-FFF2-40B4-BE49-F238E27FC236}">
                <a16:creationId xmlns:a16="http://schemas.microsoft.com/office/drawing/2014/main" id="{4ADCA35A-3036-4166-BD78-575C7B485CC7}"/>
              </a:ext>
            </a:extLst>
          </p:cNvPr>
          <p:cNvSpPr>
            <a:spLocks xmlns:a="http://schemas.openxmlformats.org/drawingml/2006/main" noGrp="1"/>
          </p:cNvSpPr>
          <p:nvPr/>
        </p:nvSpPr>
        <p:spPr>
          <a:xfrm xmlns:a="http://schemas.openxmlformats.org/drawingml/2006/main">
            <a:off x="609600" y="19526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C303B"/>
                </a:solidFill>
                <a:latin typeface="Arial"/>
                <a:ea typeface="Arial"/>
                <a:cs typeface="Arial"/>
              </a:defRPr>
            </a:defPPr>
            <a:lvl1pPr>
              <a:defRPr sz="2175" b="1">
                <a:solidFill>
                  <a:srgbClr val="1C303B"/>
                </a:solidFill>
                <a:latin typeface="Arial"/>
                <a:ea typeface="Arial"/>
                <a:cs typeface="Arial"/>
              </a:defRPr>
            </a:lvl1pPr>
            <a:lvl2pPr>
              <a:defRPr sz="2175" b="1">
                <a:solidFill>
                  <a:srgbClr val="1C303B"/>
                </a:solidFill>
                <a:latin typeface="Arial"/>
                <a:ea typeface="Arial"/>
                <a:cs typeface="Arial"/>
              </a:defRPr>
            </a:lvl2pPr>
            <a:lvl3pPr>
              <a:defRPr sz="2175" b="1">
                <a:solidFill>
                  <a:srgbClr val="1C303B"/>
                </a:solidFill>
                <a:latin typeface="Arial"/>
                <a:ea typeface="Arial"/>
                <a:cs typeface="Arial"/>
              </a:defRPr>
            </a:lvl3pPr>
            <a:lvl4pPr>
              <a:defRPr sz="2175" b="1">
                <a:solidFill>
                  <a:srgbClr val="1C303B"/>
                </a:solidFill>
                <a:latin typeface="Arial"/>
                <a:ea typeface="Arial"/>
                <a:cs typeface="Arial"/>
              </a:defRPr>
            </a:lvl4pPr>
            <a:lvl5pPr>
              <a:defRPr sz="2175" b="1">
                <a:solidFill>
                  <a:srgbClr val="1C303B"/>
                </a:solidFill>
                <a:latin typeface="Arial"/>
                <a:ea typeface="Arial"/>
                <a:cs typeface="Arial"/>
              </a:defRPr>
            </a:lvl5pPr>
            <a:lvl6pPr>
              <a:defRPr sz="2175" b="1">
                <a:solidFill>
                  <a:srgbClr val="1C303B"/>
                </a:solidFill>
                <a:latin typeface="Arial"/>
                <a:ea typeface="Arial"/>
                <a:cs typeface="Arial"/>
              </a:defRPr>
            </a:lvl6pPr>
            <a:lvl7pPr>
              <a:defRPr sz="2175" b="1">
                <a:solidFill>
                  <a:srgbClr val="1C303B"/>
                </a:solidFill>
                <a:latin typeface="Arial"/>
                <a:ea typeface="Arial"/>
                <a:cs typeface="Arial"/>
              </a:defRPr>
            </a:lvl7pPr>
            <a:lvl8pPr>
              <a:defRPr sz="2175" b="1">
                <a:solidFill>
                  <a:srgbClr val="1C303B"/>
                </a:solidFill>
                <a:latin typeface="Arial"/>
                <a:ea typeface="Arial"/>
                <a:cs typeface="Arial"/>
              </a:defRPr>
            </a:lvl8pPr>
            <a:lvl9pPr>
              <a:defRPr sz="2175" b="1">
                <a:solidFill>
                  <a:srgbClr val="1C303B"/>
                </a:solidFill>
                <a:latin typeface="Arial"/>
                <a:ea typeface="Arial"/>
                <a:cs typeface="Arial"/>
              </a:defRPr>
            </a:lvl9pPr>
          </a:lstStyle>
          <a:p xmlns:a="http://schemas.openxmlformats.org/drawingml/2006/main">
            <a:pPr>
              <a:defRPr sz="2175" b="1">
                <a:solidFill>
                  <a:srgbClr val="1C303B"/>
                </a:solidFill>
                <a:latin typeface="Arial"/>
                <a:ea typeface="Arial"/>
                <a:cs typeface="Arial"/>
              </a:defRPr>
            </a:pPr>
            <a:r>
              <a:rPr sz="2175" b="1">
                <a:solidFill>
                  <a:srgbClr val="1C303B"/>
                </a:solidFill>
                <a:latin typeface="Arial"/>
                <a:ea typeface="Arial"/>
                <a:cs typeface="Arial"/>
              </a:rPr>
              <a:t>Validation and coverage</a:t>
            </a:r>
          </a:p>
        </p:txBody>
      </p:sp>
      <p:sp>
        <p:nvSpPr>
          <p:cNvPr id="5" name="">
            <a:extLst xmlns:a="http://schemas.openxmlformats.org/drawingml/2006/main">
              <a:ext uri="{FF2B5EF4-FFF2-40B4-BE49-F238E27FC236}">
                <a16:creationId xmlns:a16="http://schemas.microsoft.com/office/drawing/2014/main" id="{435DCB76-17F2-4929-B02B-6EA54E8A58C1}"/>
              </a:ext>
            </a:extLst>
          </p:cNvPr>
          <p:cNvSpPr>
            <a:spLocks xmlns:a="http://schemas.openxmlformats.org/drawingml/2006/main" noGrp="1"/>
          </p:cNvSpPr>
          <p:nvPr/>
        </p:nvSpPr>
        <p:spPr>
          <a:xfrm xmlns:a="http://schemas.openxmlformats.org/drawingml/2006/main">
            <a:off x="609600" y="2476500"/>
            <a:ext cx="10972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977"/>
                </a:solidFill>
                <a:latin typeface="Arial"/>
                <a:ea typeface="Arial"/>
                <a:cs typeface="Arial"/>
              </a:defRPr>
            </a:defPPr>
            <a:lvl1pPr>
              <a:defRPr sz="1875" b="0">
                <a:solidFill>
                  <a:srgbClr val="526977"/>
                </a:solidFill>
                <a:latin typeface="Arial"/>
                <a:ea typeface="Arial"/>
                <a:cs typeface="Arial"/>
              </a:defRPr>
            </a:lvl1pPr>
            <a:lvl2pPr>
              <a:defRPr sz="1875" b="0">
                <a:solidFill>
                  <a:srgbClr val="526977"/>
                </a:solidFill>
                <a:latin typeface="Arial"/>
                <a:ea typeface="Arial"/>
                <a:cs typeface="Arial"/>
              </a:defRPr>
            </a:lvl2pPr>
            <a:lvl3pPr>
              <a:defRPr sz="1875" b="0">
                <a:solidFill>
                  <a:srgbClr val="526977"/>
                </a:solidFill>
                <a:latin typeface="Arial"/>
                <a:ea typeface="Arial"/>
                <a:cs typeface="Arial"/>
              </a:defRPr>
            </a:lvl3pPr>
            <a:lvl4pPr>
              <a:defRPr sz="1875" b="0">
                <a:solidFill>
                  <a:srgbClr val="526977"/>
                </a:solidFill>
                <a:latin typeface="Arial"/>
                <a:ea typeface="Arial"/>
                <a:cs typeface="Arial"/>
              </a:defRPr>
            </a:lvl4pPr>
            <a:lvl5pPr>
              <a:defRPr sz="1875" b="0">
                <a:solidFill>
                  <a:srgbClr val="526977"/>
                </a:solidFill>
                <a:latin typeface="Arial"/>
                <a:ea typeface="Arial"/>
                <a:cs typeface="Arial"/>
              </a:defRPr>
            </a:lvl5pPr>
            <a:lvl6pPr>
              <a:defRPr sz="1875" b="0">
                <a:solidFill>
                  <a:srgbClr val="526977"/>
                </a:solidFill>
                <a:latin typeface="Arial"/>
                <a:ea typeface="Arial"/>
                <a:cs typeface="Arial"/>
              </a:defRPr>
            </a:lvl6pPr>
            <a:lvl7pPr>
              <a:defRPr sz="1875" b="0">
                <a:solidFill>
                  <a:srgbClr val="526977"/>
                </a:solidFill>
                <a:latin typeface="Arial"/>
                <a:ea typeface="Arial"/>
                <a:cs typeface="Arial"/>
              </a:defRPr>
            </a:lvl7pPr>
            <a:lvl8pPr>
              <a:defRPr sz="1875" b="0">
                <a:solidFill>
                  <a:srgbClr val="526977"/>
                </a:solidFill>
                <a:latin typeface="Arial"/>
                <a:ea typeface="Arial"/>
                <a:cs typeface="Arial"/>
              </a:defRPr>
            </a:lvl8pPr>
            <a:lvl9pPr>
              <a:defRPr sz="1875" b="0">
                <a:solidFill>
                  <a:srgbClr val="526977"/>
                </a:solidFill>
                <a:latin typeface="Arial"/>
                <a:ea typeface="Arial"/>
                <a:cs typeface="Arial"/>
              </a:defRPr>
            </a:lvl9pPr>
          </a:lstStyle>
          <a:p xmlns:a="http://schemas.openxmlformats.org/drawingml/2006/main">
            <a:pPr>
              <a:defRPr sz="1875" b="0">
                <a:solidFill>
                  <a:srgbClr val="526977"/>
                </a:solidFill>
                <a:latin typeface="Arial"/>
                <a:ea typeface="Arial"/>
                <a:cs typeface="Arial"/>
              </a:defRPr>
            </a:pPr>
            <a:r>
              <a:rPr sz="1875" b="0">
                <a:solidFill>
                  <a:srgbClr val="526977"/>
                </a:solidFill>
                <a:latin typeface="Arial"/>
                <a:ea typeface="Arial"/>
                <a:cs typeface="Arial"/>
              </a:rPr>
              <a:t>108 regression tests pass. Independent formula calculations match corporate DCF, bank DDM, relative and residual-income cases. All 683 eligible valuations have sensitivity, tornado and simulation output.</a:t>
            </a:r>
          </a:p>
        </p:txBody>
      </p:sp>
      <p:sp>
        <p:nvSpPr>
          <p:cNvPr id="6" name="">
            <a:extLst xmlns:a="http://schemas.openxmlformats.org/drawingml/2006/main">
              <a:ext uri="{FF2B5EF4-FFF2-40B4-BE49-F238E27FC236}">
                <a16:creationId xmlns:a16="http://schemas.microsoft.com/office/drawing/2014/main" id="{26EE061E-4C65-4E79-B124-E3C3D8237509}"/>
              </a:ext>
            </a:extLst>
          </p:cNvPr>
          <p:cNvSpPr>
            <a:spLocks xmlns:a="http://schemas.openxmlformats.org/drawingml/2006/main" noGrp="1"/>
          </p:cNvSpPr>
          <p:nvPr/>
        </p:nvSpPr>
        <p:spPr>
          <a:xfrm xmlns:a="http://schemas.openxmlformats.org/drawingml/2006/main">
            <a:off x="609600" y="38576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C303B"/>
                </a:solidFill>
                <a:latin typeface="Arial"/>
                <a:ea typeface="Arial"/>
                <a:cs typeface="Arial"/>
              </a:defRPr>
            </a:defPPr>
            <a:lvl1pPr>
              <a:defRPr sz="2175" b="1">
                <a:solidFill>
                  <a:srgbClr val="1C303B"/>
                </a:solidFill>
                <a:latin typeface="Arial"/>
                <a:ea typeface="Arial"/>
                <a:cs typeface="Arial"/>
              </a:defRPr>
            </a:lvl1pPr>
            <a:lvl2pPr>
              <a:defRPr sz="2175" b="1">
                <a:solidFill>
                  <a:srgbClr val="1C303B"/>
                </a:solidFill>
                <a:latin typeface="Arial"/>
                <a:ea typeface="Arial"/>
                <a:cs typeface="Arial"/>
              </a:defRPr>
            </a:lvl2pPr>
            <a:lvl3pPr>
              <a:defRPr sz="2175" b="1">
                <a:solidFill>
                  <a:srgbClr val="1C303B"/>
                </a:solidFill>
                <a:latin typeface="Arial"/>
                <a:ea typeface="Arial"/>
                <a:cs typeface="Arial"/>
              </a:defRPr>
            </a:lvl3pPr>
            <a:lvl4pPr>
              <a:defRPr sz="2175" b="1">
                <a:solidFill>
                  <a:srgbClr val="1C303B"/>
                </a:solidFill>
                <a:latin typeface="Arial"/>
                <a:ea typeface="Arial"/>
                <a:cs typeface="Arial"/>
              </a:defRPr>
            </a:lvl4pPr>
            <a:lvl5pPr>
              <a:defRPr sz="2175" b="1">
                <a:solidFill>
                  <a:srgbClr val="1C303B"/>
                </a:solidFill>
                <a:latin typeface="Arial"/>
                <a:ea typeface="Arial"/>
                <a:cs typeface="Arial"/>
              </a:defRPr>
            </a:lvl5pPr>
            <a:lvl6pPr>
              <a:defRPr sz="2175" b="1">
                <a:solidFill>
                  <a:srgbClr val="1C303B"/>
                </a:solidFill>
                <a:latin typeface="Arial"/>
                <a:ea typeface="Arial"/>
                <a:cs typeface="Arial"/>
              </a:defRPr>
            </a:lvl6pPr>
            <a:lvl7pPr>
              <a:defRPr sz="2175" b="1">
                <a:solidFill>
                  <a:srgbClr val="1C303B"/>
                </a:solidFill>
                <a:latin typeface="Arial"/>
                <a:ea typeface="Arial"/>
                <a:cs typeface="Arial"/>
              </a:defRPr>
            </a:lvl7pPr>
            <a:lvl8pPr>
              <a:defRPr sz="2175" b="1">
                <a:solidFill>
                  <a:srgbClr val="1C303B"/>
                </a:solidFill>
                <a:latin typeface="Arial"/>
                <a:ea typeface="Arial"/>
                <a:cs typeface="Arial"/>
              </a:defRPr>
            </a:lvl8pPr>
            <a:lvl9pPr>
              <a:defRPr sz="2175" b="1">
                <a:solidFill>
                  <a:srgbClr val="1C303B"/>
                </a:solidFill>
                <a:latin typeface="Arial"/>
                <a:ea typeface="Arial"/>
                <a:cs typeface="Arial"/>
              </a:defRPr>
            </a:lvl9pPr>
          </a:lstStyle>
          <a:p xmlns:a="http://schemas.openxmlformats.org/drawingml/2006/main">
            <a:pPr>
              <a:defRPr sz="2175" b="1">
                <a:solidFill>
                  <a:srgbClr val="1C303B"/>
                </a:solidFill>
                <a:latin typeface="Arial"/>
                <a:ea typeface="Arial"/>
                <a:cs typeface="Arial"/>
              </a:defRPr>
            </a:pPr>
            <a:r>
              <a:rPr sz="2175" b="1">
                <a:solidFill>
                  <a:srgbClr val="1C303B"/>
                </a:solidFill>
                <a:latin typeface="Arial"/>
                <a:ea typeface="Arial"/>
                <a:cs typeface="Arial"/>
              </a:rPr>
              <a:t>Limitations and AI disclosure</a:t>
            </a:r>
          </a:p>
        </p:txBody>
      </p:sp>
      <p:sp>
        <p:nvSpPr>
          <p:cNvPr id="7" name="">
            <a:extLst xmlns:a="http://schemas.openxmlformats.org/drawingml/2006/main">
              <a:ext uri="{FF2B5EF4-FFF2-40B4-BE49-F238E27FC236}">
                <a16:creationId xmlns:a16="http://schemas.microsoft.com/office/drawing/2014/main" id="{8D2BB25A-5544-4D93-A98E-35F710188E77}"/>
              </a:ext>
            </a:extLst>
          </p:cNvPr>
          <p:cNvSpPr>
            <a:spLocks xmlns:a="http://schemas.openxmlformats.org/drawingml/2006/main" noGrp="1"/>
          </p:cNvSpPr>
          <p:nvPr/>
        </p:nvSpPr>
        <p:spPr>
          <a:xfrm xmlns:a="http://schemas.openxmlformats.org/drawingml/2006/main">
            <a:off x="609600" y="4381500"/>
            <a:ext cx="10972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977"/>
                </a:solidFill>
                <a:latin typeface="Arial"/>
                <a:ea typeface="Arial"/>
                <a:cs typeface="Arial"/>
              </a:defRPr>
            </a:defPPr>
            <a:lvl1pPr>
              <a:defRPr sz="1875" b="0">
                <a:solidFill>
                  <a:srgbClr val="526977"/>
                </a:solidFill>
                <a:latin typeface="Arial"/>
                <a:ea typeface="Arial"/>
                <a:cs typeface="Arial"/>
              </a:defRPr>
            </a:lvl1pPr>
            <a:lvl2pPr>
              <a:defRPr sz="1875" b="0">
                <a:solidFill>
                  <a:srgbClr val="526977"/>
                </a:solidFill>
                <a:latin typeface="Arial"/>
                <a:ea typeface="Arial"/>
                <a:cs typeface="Arial"/>
              </a:defRPr>
            </a:lvl2pPr>
            <a:lvl3pPr>
              <a:defRPr sz="1875" b="0">
                <a:solidFill>
                  <a:srgbClr val="526977"/>
                </a:solidFill>
                <a:latin typeface="Arial"/>
                <a:ea typeface="Arial"/>
                <a:cs typeface="Arial"/>
              </a:defRPr>
            </a:lvl3pPr>
            <a:lvl4pPr>
              <a:defRPr sz="1875" b="0">
                <a:solidFill>
                  <a:srgbClr val="526977"/>
                </a:solidFill>
                <a:latin typeface="Arial"/>
                <a:ea typeface="Arial"/>
                <a:cs typeface="Arial"/>
              </a:defRPr>
            </a:lvl4pPr>
            <a:lvl5pPr>
              <a:defRPr sz="1875" b="0">
                <a:solidFill>
                  <a:srgbClr val="526977"/>
                </a:solidFill>
                <a:latin typeface="Arial"/>
                <a:ea typeface="Arial"/>
                <a:cs typeface="Arial"/>
              </a:defRPr>
            </a:lvl5pPr>
            <a:lvl6pPr>
              <a:defRPr sz="1875" b="0">
                <a:solidFill>
                  <a:srgbClr val="526977"/>
                </a:solidFill>
                <a:latin typeface="Arial"/>
                <a:ea typeface="Arial"/>
                <a:cs typeface="Arial"/>
              </a:defRPr>
            </a:lvl6pPr>
            <a:lvl7pPr>
              <a:defRPr sz="1875" b="0">
                <a:solidFill>
                  <a:srgbClr val="526977"/>
                </a:solidFill>
                <a:latin typeface="Arial"/>
                <a:ea typeface="Arial"/>
                <a:cs typeface="Arial"/>
              </a:defRPr>
            </a:lvl7pPr>
            <a:lvl8pPr>
              <a:defRPr sz="1875" b="0">
                <a:solidFill>
                  <a:srgbClr val="526977"/>
                </a:solidFill>
                <a:latin typeface="Arial"/>
                <a:ea typeface="Arial"/>
                <a:cs typeface="Arial"/>
              </a:defRPr>
            </a:lvl8pPr>
            <a:lvl9pPr>
              <a:defRPr sz="1875" b="0">
                <a:solidFill>
                  <a:srgbClr val="526977"/>
                </a:solidFill>
                <a:latin typeface="Arial"/>
                <a:ea typeface="Arial"/>
                <a:cs typeface="Arial"/>
              </a:defRPr>
            </a:lvl9pPr>
          </a:lstStyle>
          <a:p xmlns:a="http://schemas.openxmlformats.org/drawingml/2006/main">
            <a:pPr>
              <a:defRPr sz="1875" b="0">
                <a:solidFill>
                  <a:srgbClr val="526977"/>
                </a:solidFill>
                <a:latin typeface="Arial"/>
                <a:ea typeface="Arial"/>
                <a:cs typeface="Arial"/>
              </a:defRPr>
            </a:pPr>
            <a:r>
              <a:rPr sz="1875" b="0">
                <a:solidFill>
                  <a:srgbClr val="526977"/>
                </a:solidFill>
                <a:latin typeface="Arial"/>
                <a:ea typeface="Arial"/>
                <a:cs typeface="Arial"/>
              </a:rPr>
              <a:t>Primary archives cover 924 of 962 issuers. Missing notes/leases/D&amp;A remain flagged. AI assisted software and documentation; deterministic calculations produce values. Forecasts and peer economics still require human review.</a:t>
            </a:r>
          </a:p>
        </p:txBody>
      </p:sp>
    </p:spTree>
    <p:extLst>
      <p:ext uri="{BB962C8B-B14F-4D97-AF65-F5344CB8AC3E}">
        <p14:creationId xmlns:p14="http://schemas.microsoft.com/office/powerpoint/2010/main" val="27575550"/>
      </p:ext>
    </p:extLst>
  </p:cSld>
</p:sld>
</file>

<file path=ppt/slides/slide16.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A8F43D4-3211-4D51-A971-ED610F51DF12}"/>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C303B"/>
                </a:solidFill>
                <a:latin typeface="Arial"/>
                <a:ea typeface="Arial"/>
                <a:cs typeface="Arial"/>
              </a:defRPr>
            </a:defPPr>
            <a:lvl1pPr>
              <a:defRPr sz="3225" b="1">
                <a:solidFill>
                  <a:srgbClr val="1C303B"/>
                </a:solidFill>
                <a:latin typeface="Arial"/>
                <a:ea typeface="Arial"/>
                <a:cs typeface="Arial"/>
              </a:defRPr>
            </a:lvl1pPr>
            <a:lvl2pPr>
              <a:defRPr sz="3225" b="1">
                <a:solidFill>
                  <a:srgbClr val="1C303B"/>
                </a:solidFill>
                <a:latin typeface="Arial"/>
                <a:ea typeface="Arial"/>
                <a:cs typeface="Arial"/>
              </a:defRPr>
            </a:lvl2pPr>
            <a:lvl3pPr>
              <a:defRPr sz="3225" b="1">
                <a:solidFill>
                  <a:srgbClr val="1C303B"/>
                </a:solidFill>
                <a:latin typeface="Arial"/>
                <a:ea typeface="Arial"/>
                <a:cs typeface="Arial"/>
              </a:defRPr>
            </a:lvl3pPr>
            <a:lvl4pPr>
              <a:defRPr sz="3225" b="1">
                <a:solidFill>
                  <a:srgbClr val="1C303B"/>
                </a:solidFill>
                <a:latin typeface="Arial"/>
                <a:ea typeface="Arial"/>
                <a:cs typeface="Arial"/>
              </a:defRPr>
            </a:lvl4pPr>
            <a:lvl5pPr>
              <a:defRPr sz="3225" b="1">
                <a:solidFill>
                  <a:srgbClr val="1C303B"/>
                </a:solidFill>
                <a:latin typeface="Arial"/>
                <a:ea typeface="Arial"/>
                <a:cs typeface="Arial"/>
              </a:defRPr>
            </a:lvl5pPr>
            <a:lvl6pPr>
              <a:defRPr sz="3225" b="1">
                <a:solidFill>
                  <a:srgbClr val="1C303B"/>
                </a:solidFill>
                <a:latin typeface="Arial"/>
                <a:ea typeface="Arial"/>
                <a:cs typeface="Arial"/>
              </a:defRPr>
            </a:lvl6pPr>
            <a:lvl7pPr>
              <a:defRPr sz="3225" b="1">
                <a:solidFill>
                  <a:srgbClr val="1C303B"/>
                </a:solidFill>
                <a:latin typeface="Arial"/>
                <a:ea typeface="Arial"/>
                <a:cs typeface="Arial"/>
              </a:defRPr>
            </a:lvl7pPr>
            <a:lvl8pPr>
              <a:defRPr sz="3225" b="1">
                <a:solidFill>
                  <a:srgbClr val="1C303B"/>
                </a:solidFill>
                <a:latin typeface="Arial"/>
                <a:ea typeface="Arial"/>
                <a:cs typeface="Arial"/>
              </a:defRPr>
            </a:lvl8pPr>
            <a:lvl9pPr>
              <a:defRPr sz="3225" b="1">
                <a:solidFill>
                  <a:srgbClr val="1C303B"/>
                </a:solidFill>
                <a:latin typeface="Arial"/>
                <a:ea typeface="Arial"/>
                <a:cs typeface="Arial"/>
              </a:defRPr>
            </a:lvl9pPr>
          </a:lstStyle>
          <a:p xmlns:a="http://schemas.openxmlformats.org/drawingml/2006/main">
            <a:pPr>
              <a:defRPr sz="3225" b="1">
                <a:solidFill>
                  <a:srgbClr val="1C303B"/>
                </a:solidFill>
                <a:latin typeface="Arial"/>
                <a:ea typeface="Arial"/>
                <a:cs typeface="Arial"/>
              </a:defRPr>
            </a:pPr>
            <a:r>
              <a:rPr sz="3225" b="1">
                <a:solidFill>
                  <a:srgbClr val="1C303B"/>
                </a:solidFill>
                <a:latin typeface="Arial"/>
                <a:ea typeface="Arial"/>
                <a:cs typeface="Arial"/>
              </a:rPr>
              <a:t>References</a:t>
            </a:r>
          </a:p>
        </p:txBody>
      </p:sp>
      <p:sp>
        <p:nvSpPr>
          <p:cNvPr id="2" name="">
            <a:extLst xmlns:a="http://schemas.openxmlformats.org/drawingml/2006/main">
              <a:ext uri="{FF2B5EF4-FFF2-40B4-BE49-F238E27FC236}">
                <a16:creationId xmlns:a16="http://schemas.microsoft.com/office/drawing/2014/main" id="{C373B8E8-B192-4985-B3B6-F2EDC43CDF18}"/>
              </a:ext>
            </a:extLst>
          </p:cNvPr>
          <p:cNvSpPr>
            <a:spLocks xmlns:a="http://schemas.openxmlformats.org/drawingml/2006/main" noGrp="1"/>
          </p:cNvSpPr>
          <p:nvPr/>
        </p:nvSpPr>
        <p:spPr>
          <a:xfrm xmlns:a="http://schemas.openxmlformats.org/drawingml/2006/main">
            <a:off x="609600" y="6324600"/>
            <a:ext cx="933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977"/>
                </a:solidFill>
                <a:latin typeface="Arial"/>
                <a:ea typeface="Arial"/>
                <a:cs typeface="Arial"/>
              </a:defRPr>
            </a:defPPr>
            <a:lvl1pPr>
              <a:defRPr sz="1125" b="0">
                <a:solidFill>
                  <a:srgbClr val="526977"/>
                </a:solidFill>
                <a:latin typeface="Arial"/>
                <a:ea typeface="Arial"/>
                <a:cs typeface="Arial"/>
              </a:defRPr>
            </a:lvl1pPr>
            <a:lvl2pPr>
              <a:defRPr sz="1125" b="0">
                <a:solidFill>
                  <a:srgbClr val="526977"/>
                </a:solidFill>
                <a:latin typeface="Arial"/>
                <a:ea typeface="Arial"/>
                <a:cs typeface="Arial"/>
              </a:defRPr>
            </a:lvl2pPr>
            <a:lvl3pPr>
              <a:defRPr sz="1125" b="0">
                <a:solidFill>
                  <a:srgbClr val="526977"/>
                </a:solidFill>
                <a:latin typeface="Arial"/>
                <a:ea typeface="Arial"/>
                <a:cs typeface="Arial"/>
              </a:defRPr>
            </a:lvl3pPr>
            <a:lvl4pPr>
              <a:defRPr sz="1125" b="0">
                <a:solidFill>
                  <a:srgbClr val="526977"/>
                </a:solidFill>
                <a:latin typeface="Arial"/>
                <a:ea typeface="Arial"/>
                <a:cs typeface="Arial"/>
              </a:defRPr>
            </a:lvl4pPr>
            <a:lvl5pPr>
              <a:defRPr sz="1125" b="0">
                <a:solidFill>
                  <a:srgbClr val="526977"/>
                </a:solidFill>
                <a:latin typeface="Arial"/>
                <a:ea typeface="Arial"/>
                <a:cs typeface="Arial"/>
              </a:defRPr>
            </a:lvl5pPr>
            <a:lvl6pPr>
              <a:defRPr sz="1125" b="0">
                <a:solidFill>
                  <a:srgbClr val="526977"/>
                </a:solidFill>
                <a:latin typeface="Arial"/>
                <a:ea typeface="Arial"/>
                <a:cs typeface="Arial"/>
              </a:defRPr>
            </a:lvl6pPr>
            <a:lvl7pPr>
              <a:defRPr sz="1125" b="0">
                <a:solidFill>
                  <a:srgbClr val="526977"/>
                </a:solidFill>
                <a:latin typeface="Arial"/>
                <a:ea typeface="Arial"/>
                <a:cs typeface="Arial"/>
              </a:defRPr>
            </a:lvl7pPr>
            <a:lvl8pPr>
              <a:defRPr sz="1125" b="0">
                <a:solidFill>
                  <a:srgbClr val="526977"/>
                </a:solidFill>
                <a:latin typeface="Arial"/>
                <a:ea typeface="Arial"/>
                <a:cs typeface="Arial"/>
              </a:defRPr>
            </a:lvl8pPr>
            <a:lvl9pPr>
              <a:defRPr sz="1125" b="0">
                <a:solidFill>
                  <a:srgbClr val="526977"/>
                </a:solidFill>
                <a:latin typeface="Arial"/>
                <a:ea typeface="Arial"/>
                <a:cs typeface="Arial"/>
              </a:defRPr>
            </a:lvl9pPr>
          </a:lstStyle>
          <a:p xmlns:a="http://schemas.openxmlformats.org/drawingml/2006/main">
            <a:pPr>
              <a:defRPr sz="1125" b="0">
                <a:solidFill>
                  <a:srgbClr val="526977"/>
                </a:solidFill>
                <a:latin typeface="Arial"/>
                <a:ea typeface="Arial"/>
                <a:cs typeface="Arial"/>
              </a:defRPr>
            </a:pPr>
            <a:r>
              <a:rPr sz="1125" b="0">
                <a:solidFill>
                  <a:srgbClr val="526977"/>
                </a:solidFill>
                <a:latin typeface="Arial"/>
                <a:ea typeface="Arial"/>
                <a:cs typeface="Arial"/>
              </a:rPr>
              <a:t>RALVEN 5.0 / BMRI / 25 Oct 2026</a:t>
            </a:r>
          </a:p>
        </p:txBody>
      </p:sp>
      <p:sp>
        <p:nvSpPr>
          <p:cNvPr id="3" name="">
            <a:extLst xmlns:a="http://schemas.openxmlformats.org/drawingml/2006/main">
              <a:ext uri="{FF2B5EF4-FFF2-40B4-BE49-F238E27FC236}">
                <a16:creationId xmlns:a16="http://schemas.microsoft.com/office/drawing/2014/main" id="{CAD75197-9866-42CE-81AD-7152C0DDF902}"/>
              </a:ext>
            </a:extLst>
          </p:cNvPr>
          <p:cNvSpPr>
            <a:spLocks xmlns:a="http://schemas.openxmlformats.org/drawingml/2006/main" noGrp="1"/>
          </p:cNvSpPr>
          <p:nvPr/>
        </p:nvSpPr>
        <p:spPr>
          <a:xfrm xmlns:a="http://schemas.openxmlformats.org/drawingml/2006/main">
            <a:off x="11001375" y="63246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977"/>
                </a:solidFill>
                <a:latin typeface="Arial"/>
                <a:ea typeface="Arial"/>
                <a:cs typeface="Arial"/>
              </a:defRPr>
            </a:defPPr>
            <a:lvl1pPr>
              <a:defRPr sz="1125" b="0">
                <a:solidFill>
                  <a:srgbClr val="526977"/>
                </a:solidFill>
                <a:latin typeface="Arial"/>
                <a:ea typeface="Arial"/>
                <a:cs typeface="Arial"/>
              </a:defRPr>
            </a:lvl1pPr>
            <a:lvl2pPr>
              <a:defRPr sz="1125" b="0">
                <a:solidFill>
                  <a:srgbClr val="526977"/>
                </a:solidFill>
                <a:latin typeface="Arial"/>
                <a:ea typeface="Arial"/>
                <a:cs typeface="Arial"/>
              </a:defRPr>
            </a:lvl2pPr>
            <a:lvl3pPr>
              <a:defRPr sz="1125" b="0">
                <a:solidFill>
                  <a:srgbClr val="526977"/>
                </a:solidFill>
                <a:latin typeface="Arial"/>
                <a:ea typeface="Arial"/>
                <a:cs typeface="Arial"/>
              </a:defRPr>
            </a:lvl3pPr>
            <a:lvl4pPr>
              <a:defRPr sz="1125" b="0">
                <a:solidFill>
                  <a:srgbClr val="526977"/>
                </a:solidFill>
                <a:latin typeface="Arial"/>
                <a:ea typeface="Arial"/>
                <a:cs typeface="Arial"/>
              </a:defRPr>
            </a:lvl4pPr>
            <a:lvl5pPr>
              <a:defRPr sz="1125" b="0">
                <a:solidFill>
                  <a:srgbClr val="526977"/>
                </a:solidFill>
                <a:latin typeface="Arial"/>
                <a:ea typeface="Arial"/>
                <a:cs typeface="Arial"/>
              </a:defRPr>
            </a:lvl5pPr>
            <a:lvl6pPr>
              <a:defRPr sz="1125" b="0">
                <a:solidFill>
                  <a:srgbClr val="526977"/>
                </a:solidFill>
                <a:latin typeface="Arial"/>
                <a:ea typeface="Arial"/>
                <a:cs typeface="Arial"/>
              </a:defRPr>
            </a:lvl6pPr>
            <a:lvl7pPr>
              <a:defRPr sz="1125" b="0">
                <a:solidFill>
                  <a:srgbClr val="526977"/>
                </a:solidFill>
                <a:latin typeface="Arial"/>
                <a:ea typeface="Arial"/>
                <a:cs typeface="Arial"/>
              </a:defRPr>
            </a:lvl7pPr>
            <a:lvl8pPr>
              <a:defRPr sz="1125" b="0">
                <a:solidFill>
                  <a:srgbClr val="526977"/>
                </a:solidFill>
                <a:latin typeface="Arial"/>
                <a:ea typeface="Arial"/>
                <a:cs typeface="Arial"/>
              </a:defRPr>
            </a:lvl8pPr>
            <a:lvl9pPr>
              <a:defRPr sz="1125" b="0">
                <a:solidFill>
                  <a:srgbClr val="526977"/>
                </a:solidFill>
                <a:latin typeface="Arial"/>
                <a:ea typeface="Arial"/>
                <a:cs typeface="Arial"/>
              </a:defRPr>
            </a:lvl9pPr>
          </a:lstStyle>
          <a:p xmlns:a="http://schemas.openxmlformats.org/drawingml/2006/main">
            <a:pPr>
              <a:defRPr sz="1125" b="0">
                <a:solidFill>
                  <a:srgbClr val="526977"/>
                </a:solidFill>
                <a:latin typeface="Arial"/>
                <a:ea typeface="Arial"/>
                <a:cs typeface="Arial"/>
              </a:defRPr>
            </a:pPr>
            <a:r>
              <a:rPr sz="1125" b="0">
                <a:solidFill>
                  <a:srgbClr val="526977"/>
                </a:solidFill>
                <a:latin typeface="Arial"/>
                <a:ea typeface="Arial"/>
                <a:cs typeface="Arial"/>
              </a:rPr>
              <a:t>16</a:t>
            </a:r>
          </a:p>
        </p:txBody>
      </p:sp>
      <p:sp>
        <p:nvSpPr>
          <p:cNvPr id="4" name="">
            <a:extLst xmlns:a="http://schemas.openxmlformats.org/drawingml/2006/main">
              <a:ext uri="{FF2B5EF4-FFF2-40B4-BE49-F238E27FC236}">
                <a16:creationId xmlns:a16="http://schemas.microsoft.com/office/drawing/2014/main" id="{7E12ED9C-9B95-462A-B241-373F81DDBDBE}"/>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977"/>
                </a:solidFill>
                <a:latin typeface="Arial"/>
                <a:ea typeface="Arial"/>
                <a:cs typeface="Arial"/>
              </a:defRPr>
            </a:defPPr>
            <a:lvl1pPr>
              <a:defRPr sz="1875" b="0">
                <a:solidFill>
                  <a:srgbClr val="526977"/>
                </a:solidFill>
                <a:latin typeface="Arial"/>
                <a:ea typeface="Arial"/>
                <a:cs typeface="Arial"/>
              </a:defRPr>
            </a:lvl1pPr>
            <a:lvl2pPr>
              <a:defRPr sz="1875" b="0">
                <a:solidFill>
                  <a:srgbClr val="526977"/>
                </a:solidFill>
                <a:latin typeface="Arial"/>
                <a:ea typeface="Arial"/>
                <a:cs typeface="Arial"/>
              </a:defRPr>
            </a:lvl2pPr>
            <a:lvl3pPr>
              <a:defRPr sz="1875" b="0">
                <a:solidFill>
                  <a:srgbClr val="526977"/>
                </a:solidFill>
                <a:latin typeface="Arial"/>
                <a:ea typeface="Arial"/>
                <a:cs typeface="Arial"/>
              </a:defRPr>
            </a:lvl3pPr>
            <a:lvl4pPr>
              <a:defRPr sz="1875" b="0">
                <a:solidFill>
                  <a:srgbClr val="526977"/>
                </a:solidFill>
                <a:latin typeface="Arial"/>
                <a:ea typeface="Arial"/>
                <a:cs typeface="Arial"/>
              </a:defRPr>
            </a:lvl4pPr>
            <a:lvl5pPr>
              <a:defRPr sz="1875" b="0">
                <a:solidFill>
                  <a:srgbClr val="526977"/>
                </a:solidFill>
                <a:latin typeface="Arial"/>
                <a:ea typeface="Arial"/>
                <a:cs typeface="Arial"/>
              </a:defRPr>
            </a:lvl5pPr>
            <a:lvl6pPr>
              <a:defRPr sz="1875" b="0">
                <a:solidFill>
                  <a:srgbClr val="526977"/>
                </a:solidFill>
                <a:latin typeface="Arial"/>
                <a:ea typeface="Arial"/>
                <a:cs typeface="Arial"/>
              </a:defRPr>
            </a:lvl6pPr>
            <a:lvl7pPr>
              <a:defRPr sz="1875" b="0">
                <a:solidFill>
                  <a:srgbClr val="526977"/>
                </a:solidFill>
                <a:latin typeface="Arial"/>
                <a:ea typeface="Arial"/>
                <a:cs typeface="Arial"/>
              </a:defRPr>
            </a:lvl7pPr>
            <a:lvl8pPr>
              <a:defRPr sz="1875" b="0">
                <a:solidFill>
                  <a:srgbClr val="526977"/>
                </a:solidFill>
                <a:latin typeface="Arial"/>
                <a:ea typeface="Arial"/>
                <a:cs typeface="Arial"/>
              </a:defRPr>
            </a:lvl8pPr>
            <a:lvl9pPr>
              <a:defRPr sz="1875" b="0">
                <a:solidFill>
                  <a:srgbClr val="526977"/>
                </a:solidFill>
                <a:latin typeface="Arial"/>
                <a:ea typeface="Arial"/>
                <a:cs typeface="Arial"/>
              </a:defRPr>
            </a:lvl9pPr>
          </a:lstStyle>
          <a:p xmlns:a="http://schemas.openxmlformats.org/drawingml/2006/main">
            <a:pPr>
              <a:defRPr sz="1875" b="0">
                <a:solidFill>
                  <a:srgbClr val="526977"/>
                </a:solidFill>
                <a:latin typeface="Arial"/>
                <a:ea typeface="Arial"/>
                <a:cs typeface="Arial"/>
              </a:defRPr>
            </a:pPr>
            <a:r>
              <a:rPr sz="1875" b="0">
                <a:solidFill>
                  <a:srgbClr val="526977"/>
                </a:solidFill>
                <a:latin typeface="Arial"/>
                <a:ea typeface="Arial"/>
                <a:cs typeface="Arial"/>
              </a:rPr>
              <a:t>IDX consolidated financial statements and annual reports</a:t>
            </a:r>
          </a:p>
          <a:p xmlns:a="http://schemas.openxmlformats.org/drawingml/2006/main">
            <a:pPr>
              <a:defRPr sz="1875" b="0">
                <a:solidFill>
                  <a:srgbClr val="526977"/>
                </a:solidFill>
                <a:latin typeface="Arial"/>
                <a:ea typeface="Arial"/>
                <a:cs typeface="Arial"/>
              </a:defRPr>
            </a:pPr>
            <a:r>
              <a:rPr sz="1875" b="0">
                <a:solidFill>
                  <a:srgbClr val="526977"/>
                </a:solidFill>
                <a:latin typeface="Arial"/>
                <a:ea typeface="Arial"/>
                <a:cs typeface="Arial"/>
              </a:rPr>
              <a:t>https://www.idx.id/</a:t>
            </a:r>
          </a:p>
          <a:p xmlns:a="http://schemas.openxmlformats.org/drawingml/2006/main">
            <a:r>
              <a:t/>
            </a:r>
          </a:p>
          <a:p xmlns:a="http://schemas.openxmlformats.org/drawingml/2006/main">
            <a:pPr>
              <a:defRPr sz="1875" b="0">
                <a:solidFill>
                  <a:srgbClr val="526977"/>
                </a:solidFill>
                <a:latin typeface="Arial"/>
                <a:ea typeface="Arial"/>
                <a:cs typeface="Arial"/>
              </a:defRPr>
            </a:pPr>
            <a:r>
              <a:rPr sz="1875" b="0">
                <a:solidFill>
                  <a:srgbClr val="526977"/>
                </a:solidFill>
                <a:latin typeface="Arial"/>
                <a:ea typeface="Arial"/>
                <a:cs typeface="Arial"/>
              </a:rPr>
              <a:t>Yahoo Finance market and fundamental observations</a:t>
            </a:r>
          </a:p>
          <a:p xmlns:a="http://schemas.openxmlformats.org/drawingml/2006/main">
            <a:pPr>
              <a:defRPr sz="1875" b="0">
                <a:solidFill>
                  <a:srgbClr val="526977"/>
                </a:solidFill>
                <a:latin typeface="Arial"/>
                <a:ea typeface="Arial"/>
                <a:cs typeface="Arial"/>
              </a:defRPr>
            </a:pPr>
            <a:r>
              <a:rPr sz="1875" b="0">
                <a:solidFill>
                  <a:srgbClr val="526977"/>
                </a:solidFill>
                <a:latin typeface="Arial"/>
                <a:ea typeface="Arial"/>
                <a:cs typeface="Arial"/>
              </a:rPr>
              <a:t>https://finance.yahoo.com/</a:t>
            </a:r>
          </a:p>
          <a:p xmlns:a="http://schemas.openxmlformats.org/drawingml/2006/main">
            <a:r>
              <a:t/>
            </a:r>
          </a:p>
          <a:p xmlns:a="http://schemas.openxmlformats.org/drawingml/2006/main">
            <a:pPr>
              <a:defRPr sz="1875" b="0">
                <a:solidFill>
                  <a:srgbClr val="526977"/>
                </a:solidFill>
                <a:latin typeface="Arial"/>
                <a:ea typeface="Arial"/>
                <a:cs typeface="Arial"/>
              </a:defRPr>
            </a:pPr>
            <a:r>
              <a:rPr sz="1875" b="0">
                <a:solidFill>
                  <a:srgbClr val="526977"/>
                </a:solidFill>
                <a:latin typeface="Arial"/>
                <a:ea typeface="Arial"/>
                <a:cs typeface="Arial"/>
              </a:rPr>
              <a:t>Damodaran / Financial-service valuation</a:t>
            </a:r>
          </a:p>
          <a:p xmlns:a="http://schemas.openxmlformats.org/drawingml/2006/main">
            <a:pPr>
              <a:defRPr sz="1875" b="0">
                <a:solidFill>
                  <a:srgbClr val="526977"/>
                </a:solidFill>
                <a:latin typeface="Arial"/>
                <a:ea typeface="Arial"/>
                <a:cs typeface="Arial"/>
              </a:defRPr>
            </a:pPr>
            <a:r>
              <a:rPr sz="1875" b="0">
                <a:solidFill>
                  <a:srgbClr val="526977"/>
                </a:solidFill>
                <a:latin typeface="Arial"/>
                <a:ea typeface="Arial"/>
                <a:cs typeface="Arial"/>
              </a:rPr>
              <a:t>https://pages.stern.nyu.edu/~adamodar/pdfiles/country/finsvce.pdf</a:t>
            </a:r>
          </a:p>
        </p:txBody>
      </p:sp>
    </p:spTree>
    <p:extLst>
      <p:ext uri="{BB962C8B-B14F-4D97-AF65-F5344CB8AC3E}">
        <p14:creationId xmlns:p14="http://schemas.microsoft.com/office/powerpoint/2010/main" val="1636383301"/>
      </p:ext>
    </p:extLst>
  </p:cSld>
</p:sld>
</file>

<file path=ppt/slides/slide17.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A0CC585-ACF6-4B5F-ABA8-A664F6062DCE}"/>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C303B"/>
                </a:solidFill>
                <a:latin typeface="Arial"/>
                <a:ea typeface="Arial"/>
                <a:cs typeface="Arial"/>
              </a:defRPr>
            </a:defPPr>
            <a:lvl1pPr>
              <a:defRPr sz="3225" b="1">
                <a:solidFill>
                  <a:srgbClr val="1C303B"/>
                </a:solidFill>
                <a:latin typeface="Arial"/>
                <a:ea typeface="Arial"/>
                <a:cs typeface="Arial"/>
              </a:defRPr>
            </a:lvl1pPr>
            <a:lvl2pPr>
              <a:defRPr sz="3225" b="1">
                <a:solidFill>
                  <a:srgbClr val="1C303B"/>
                </a:solidFill>
                <a:latin typeface="Arial"/>
                <a:ea typeface="Arial"/>
                <a:cs typeface="Arial"/>
              </a:defRPr>
            </a:lvl2pPr>
            <a:lvl3pPr>
              <a:defRPr sz="3225" b="1">
                <a:solidFill>
                  <a:srgbClr val="1C303B"/>
                </a:solidFill>
                <a:latin typeface="Arial"/>
                <a:ea typeface="Arial"/>
                <a:cs typeface="Arial"/>
              </a:defRPr>
            </a:lvl3pPr>
            <a:lvl4pPr>
              <a:defRPr sz="3225" b="1">
                <a:solidFill>
                  <a:srgbClr val="1C303B"/>
                </a:solidFill>
                <a:latin typeface="Arial"/>
                <a:ea typeface="Arial"/>
                <a:cs typeface="Arial"/>
              </a:defRPr>
            </a:lvl4pPr>
            <a:lvl5pPr>
              <a:defRPr sz="3225" b="1">
                <a:solidFill>
                  <a:srgbClr val="1C303B"/>
                </a:solidFill>
                <a:latin typeface="Arial"/>
                <a:ea typeface="Arial"/>
                <a:cs typeface="Arial"/>
              </a:defRPr>
            </a:lvl5pPr>
            <a:lvl6pPr>
              <a:defRPr sz="3225" b="1">
                <a:solidFill>
                  <a:srgbClr val="1C303B"/>
                </a:solidFill>
                <a:latin typeface="Arial"/>
                <a:ea typeface="Arial"/>
                <a:cs typeface="Arial"/>
              </a:defRPr>
            </a:lvl6pPr>
            <a:lvl7pPr>
              <a:defRPr sz="3225" b="1">
                <a:solidFill>
                  <a:srgbClr val="1C303B"/>
                </a:solidFill>
                <a:latin typeface="Arial"/>
                <a:ea typeface="Arial"/>
                <a:cs typeface="Arial"/>
              </a:defRPr>
            </a:lvl7pPr>
            <a:lvl8pPr>
              <a:defRPr sz="3225" b="1">
                <a:solidFill>
                  <a:srgbClr val="1C303B"/>
                </a:solidFill>
                <a:latin typeface="Arial"/>
                <a:ea typeface="Arial"/>
                <a:cs typeface="Arial"/>
              </a:defRPr>
            </a:lvl8pPr>
            <a:lvl9pPr>
              <a:defRPr sz="3225" b="1">
                <a:solidFill>
                  <a:srgbClr val="1C303B"/>
                </a:solidFill>
                <a:latin typeface="Arial"/>
                <a:ea typeface="Arial"/>
                <a:cs typeface="Arial"/>
              </a:defRPr>
            </a:lvl9pPr>
          </a:lstStyle>
          <a:p xmlns:a="http://schemas.openxmlformats.org/drawingml/2006/main">
            <a:pPr>
              <a:defRPr sz="3225" b="1">
                <a:solidFill>
                  <a:srgbClr val="1C303B"/>
                </a:solidFill>
                <a:latin typeface="Arial"/>
                <a:ea typeface="Arial"/>
                <a:cs typeface="Arial"/>
              </a:defRPr>
            </a:pPr>
            <a:r>
              <a:rPr sz="3225" b="1">
                <a:solidFill>
                  <a:srgbClr val="1C303B"/>
                </a:solidFill>
                <a:latin typeface="Arial"/>
                <a:ea typeface="Arial"/>
                <a:cs typeface="Arial"/>
              </a:rPr>
              <a:t>Appendix / reproduction and data scope</a:t>
            </a:r>
          </a:p>
        </p:txBody>
      </p:sp>
      <p:sp>
        <p:nvSpPr>
          <p:cNvPr id="2" name="">
            <a:extLst xmlns:a="http://schemas.openxmlformats.org/drawingml/2006/main">
              <a:ext uri="{FF2B5EF4-FFF2-40B4-BE49-F238E27FC236}">
                <a16:creationId xmlns:a16="http://schemas.microsoft.com/office/drawing/2014/main" id="{4601A6F2-5207-4B39-BBD3-A671BB488290}"/>
              </a:ext>
            </a:extLst>
          </p:cNvPr>
          <p:cNvSpPr>
            <a:spLocks xmlns:a="http://schemas.openxmlformats.org/drawingml/2006/main" noGrp="1"/>
          </p:cNvSpPr>
          <p:nvPr/>
        </p:nvSpPr>
        <p:spPr>
          <a:xfrm xmlns:a="http://schemas.openxmlformats.org/drawingml/2006/main">
            <a:off x="609600" y="6324600"/>
            <a:ext cx="933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977"/>
                </a:solidFill>
                <a:latin typeface="Arial"/>
                <a:ea typeface="Arial"/>
                <a:cs typeface="Arial"/>
              </a:defRPr>
            </a:defPPr>
            <a:lvl1pPr>
              <a:defRPr sz="1125" b="0">
                <a:solidFill>
                  <a:srgbClr val="526977"/>
                </a:solidFill>
                <a:latin typeface="Arial"/>
                <a:ea typeface="Arial"/>
                <a:cs typeface="Arial"/>
              </a:defRPr>
            </a:lvl1pPr>
            <a:lvl2pPr>
              <a:defRPr sz="1125" b="0">
                <a:solidFill>
                  <a:srgbClr val="526977"/>
                </a:solidFill>
                <a:latin typeface="Arial"/>
                <a:ea typeface="Arial"/>
                <a:cs typeface="Arial"/>
              </a:defRPr>
            </a:lvl2pPr>
            <a:lvl3pPr>
              <a:defRPr sz="1125" b="0">
                <a:solidFill>
                  <a:srgbClr val="526977"/>
                </a:solidFill>
                <a:latin typeface="Arial"/>
                <a:ea typeface="Arial"/>
                <a:cs typeface="Arial"/>
              </a:defRPr>
            </a:lvl3pPr>
            <a:lvl4pPr>
              <a:defRPr sz="1125" b="0">
                <a:solidFill>
                  <a:srgbClr val="526977"/>
                </a:solidFill>
                <a:latin typeface="Arial"/>
                <a:ea typeface="Arial"/>
                <a:cs typeface="Arial"/>
              </a:defRPr>
            </a:lvl4pPr>
            <a:lvl5pPr>
              <a:defRPr sz="1125" b="0">
                <a:solidFill>
                  <a:srgbClr val="526977"/>
                </a:solidFill>
                <a:latin typeface="Arial"/>
                <a:ea typeface="Arial"/>
                <a:cs typeface="Arial"/>
              </a:defRPr>
            </a:lvl5pPr>
            <a:lvl6pPr>
              <a:defRPr sz="1125" b="0">
                <a:solidFill>
                  <a:srgbClr val="526977"/>
                </a:solidFill>
                <a:latin typeface="Arial"/>
                <a:ea typeface="Arial"/>
                <a:cs typeface="Arial"/>
              </a:defRPr>
            </a:lvl6pPr>
            <a:lvl7pPr>
              <a:defRPr sz="1125" b="0">
                <a:solidFill>
                  <a:srgbClr val="526977"/>
                </a:solidFill>
                <a:latin typeface="Arial"/>
                <a:ea typeface="Arial"/>
                <a:cs typeface="Arial"/>
              </a:defRPr>
            </a:lvl7pPr>
            <a:lvl8pPr>
              <a:defRPr sz="1125" b="0">
                <a:solidFill>
                  <a:srgbClr val="526977"/>
                </a:solidFill>
                <a:latin typeface="Arial"/>
                <a:ea typeface="Arial"/>
                <a:cs typeface="Arial"/>
              </a:defRPr>
            </a:lvl8pPr>
            <a:lvl9pPr>
              <a:defRPr sz="1125" b="0">
                <a:solidFill>
                  <a:srgbClr val="526977"/>
                </a:solidFill>
                <a:latin typeface="Arial"/>
                <a:ea typeface="Arial"/>
                <a:cs typeface="Arial"/>
              </a:defRPr>
            </a:lvl9pPr>
          </a:lstStyle>
          <a:p xmlns:a="http://schemas.openxmlformats.org/drawingml/2006/main">
            <a:pPr>
              <a:defRPr sz="1125" b="0">
                <a:solidFill>
                  <a:srgbClr val="526977"/>
                </a:solidFill>
                <a:latin typeface="Arial"/>
                <a:ea typeface="Arial"/>
                <a:cs typeface="Arial"/>
              </a:defRPr>
            </a:pPr>
            <a:r>
              <a:rPr sz="1125" b="0">
                <a:solidFill>
                  <a:srgbClr val="526977"/>
                </a:solidFill>
                <a:latin typeface="Arial"/>
                <a:ea typeface="Arial"/>
                <a:cs typeface="Arial"/>
              </a:rPr>
              <a:t>RALVEN 5.0 / BMRI / 25 Oct 2026</a:t>
            </a:r>
          </a:p>
        </p:txBody>
      </p:sp>
      <p:sp>
        <p:nvSpPr>
          <p:cNvPr id="3" name="">
            <a:extLst xmlns:a="http://schemas.openxmlformats.org/drawingml/2006/main">
              <a:ext uri="{FF2B5EF4-FFF2-40B4-BE49-F238E27FC236}">
                <a16:creationId xmlns:a16="http://schemas.microsoft.com/office/drawing/2014/main" id="{9BF1BFE4-E65A-417F-B1BD-A1405F1C1258}"/>
              </a:ext>
            </a:extLst>
          </p:cNvPr>
          <p:cNvSpPr>
            <a:spLocks xmlns:a="http://schemas.openxmlformats.org/drawingml/2006/main" noGrp="1"/>
          </p:cNvSpPr>
          <p:nvPr/>
        </p:nvSpPr>
        <p:spPr>
          <a:xfrm xmlns:a="http://schemas.openxmlformats.org/drawingml/2006/main">
            <a:off x="11001375" y="63246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977"/>
                </a:solidFill>
                <a:latin typeface="Arial"/>
                <a:ea typeface="Arial"/>
                <a:cs typeface="Arial"/>
              </a:defRPr>
            </a:defPPr>
            <a:lvl1pPr>
              <a:defRPr sz="1125" b="0">
                <a:solidFill>
                  <a:srgbClr val="526977"/>
                </a:solidFill>
                <a:latin typeface="Arial"/>
                <a:ea typeface="Arial"/>
                <a:cs typeface="Arial"/>
              </a:defRPr>
            </a:lvl1pPr>
            <a:lvl2pPr>
              <a:defRPr sz="1125" b="0">
                <a:solidFill>
                  <a:srgbClr val="526977"/>
                </a:solidFill>
                <a:latin typeface="Arial"/>
                <a:ea typeface="Arial"/>
                <a:cs typeface="Arial"/>
              </a:defRPr>
            </a:lvl2pPr>
            <a:lvl3pPr>
              <a:defRPr sz="1125" b="0">
                <a:solidFill>
                  <a:srgbClr val="526977"/>
                </a:solidFill>
                <a:latin typeface="Arial"/>
                <a:ea typeface="Arial"/>
                <a:cs typeface="Arial"/>
              </a:defRPr>
            </a:lvl3pPr>
            <a:lvl4pPr>
              <a:defRPr sz="1125" b="0">
                <a:solidFill>
                  <a:srgbClr val="526977"/>
                </a:solidFill>
                <a:latin typeface="Arial"/>
                <a:ea typeface="Arial"/>
                <a:cs typeface="Arial"/>
              </a:defRPr>
            </a:lvl4pPr>
            <a:lvl5pPr>
              <a:defRPr sz="1125" b="0">
                <a:solidFill>
                  <a:srgbClr val="526977"/>
                </a:solidFill>
                <a:latin typeface="Arial"/>
                <a:ea typeface="Arial"/>
                <a:cs typeface="Arial"/>
              </a:defRPr>
            </a:lvl5pPr>
            <a:lvl6pPr>
              <a:defRPr sz="1125" b="0">
                <a:solidFill>
                  <a:srgbClr val="526977"/>
                </a:solidFill>
                <a:latin typeface="Arial"/>
                <a:ea typeface="Arial"/>
                <a:cs typeface="Arial"/>
              </a:defRPr>
            </a:lvl6pPr>
            <a:lvl7pPr>
              <a:defRPr sz="1125" b="0">
                <a:solidFill>
                  <a:srgbClr val="526977"/>
                </a:solidFill>
                <a:latin typeface="Arial"/>
                <a:ea typeface="Arial"/>
                <a:cs typeface="Arial"/>
              </a:defRPr>
            </a:lvl7pPr>
            <a:lvl8pPr>
              <a:defRPr sz="1125" b="0">
                <a:solidFill>
                  <a:srgbClr val="526977"/>
                </a:solidFill>
                <a:latin typeface="Arial"/>
                <a:ea typeface="Arial"/>
                <a:cs typeface="Arial"/>
              </a:defRPr>
            </a:lvl8pPr>
            <a:lvl9pPr>
              <a:defRPr sz="1125" b="0">
                <a:solidFill>
                  <a:srgbClr val="526977"/>
                </a:solidFill>
                <a:latin typeface="Arial"/>
                <a:ea typeface="Arial"/>
                <a:cs typeface="Arial"/>
              </a:defRPr>
            </a:lvl9pPr>
          </a:lstStyle>
          <a:p xmlns:a="http://schemas.openxmlformats.org/drawingml/2006/main">
            <a:pPr>
              <a:defRPr sz="1125" b="0">
                <a:solidFill>
                  <a:srgbClr val="526977"/>
                </a:solidFill>
                <a:latin typeface="Arial"/>
                <a:ea typeface="Arial"/>
                <a:cs typeface="Arial"/>
              </a:defRPr>
            </a:pPr>
            <a:r>
              <a:rPr sz="1125" b="0">
                <a:solidFill>
                  <a:srgbClr val="526977"/>
                </a:solidFill>
                <a:latin typeface="Arial"/>
                <a:ea typeface="Arial"/>
                <a:cs typeface="Arial"/>
              </a:rPr>
              <a:t>17</a:t>
            </a:r>
          </a:p>
        </p:txBody>
      </p:sp>
      <p:graphicFrame>
        <p:nvGraphicFramePr>
          <p:cNvPr id="4" name="">
            <a:extLst xmlns:a="http://schemas.openxmlformats.org/drawingml/2006/main">
              <a:ext uri="{FF2B5EF4-FFF2-40B4-BE49-F238E27FC236}">
                <a16:creationId xmlns:a16="http://schemas.microsoft.com/office/drawing/2014/main" id="{F5842B2A-BAF2-4F96-97A6-BDACC8E1AFD9}"/>
              </a:ext>
            </a:extLst>
          </p:cNvPr>
          <p:cNvGraphicFramePr/>
          <p:nvPr/>
        </p:nvGraphicFramePr>
        <p:xfrm>
          <a:off xmlns:a="http://schemas.openxmlformats.org/drawingml/2006/main" x="609600" y="1952625"/>
          <a:ext xmlns:a="http://schemas.openxmlformats.org/drawingml/2006/main" cx="10972800" cy="3714750"/>
        </p:xfrm>
        <a:graphic xmlns:a="http://schemas.openxmlformats.org/drawingml/2006/main">
          <a:graphicData uri="http://schemas.openxmlformats.org/drawingml/2006/table">
            <a:tbl>
              <a:tblPr/>
              <a:tblGrid>
                <a:gridCol w="5486400"/>
                <a:gridCol w="5486400"/>
              </a:tblGrid>
              <a:tr h="530679">
                <a:tc>
                  <a:txBody>
                    <a:bodyPr/>
                    <a:lstStyle/>
                    <a:p>
                      <a:r>
                        <a:rPr sz="1575" b="1">
                          <a:solidFill>
                            <a:srgbClr val="FFFFFF"/>
                          </a:solidFill>
                          <a:latin typeface="Arial"/>
                          <a:ea typeface="Arial"/>
                          <a:cs typeface="Arial"/>
                        </a:rPr>
                        <a:t>Artifact / step</a:t>
                      </a:r>
                    </a:p>
                  </a:txBody>
                  <a:tcPr marL="91440" marR="91440" marT="45720" marB="45720">
                    <a:lnL w="9525">
                      <a:solidFill>
                        <a:srgbClr val="DEE7E9"/>
                      </a:solidFill>
                      <a:prstDash val="solid"/>
                    </a:lnL>
                    <a:lnR w="9525">
                      <a:solidFill>
                        <a:srgbClr val="DEE7E9"/>
                      </a:solidFill>
                      <a:prstDash val="solid"/>
                    </a:lnR>
                    <a:lnT w="9525">
                      <a:solidFill>
                        <a:srgbClr val="DEE7E9"/>
                      </a:solidFill>
                      <a:prstDash val="solid"/>
                    </a:lnT>
                    <a:lnB w="9525">
                      <a:solidFill>
                        <a:srgbClr val="DEE7E9"/>
                      </a:solidFill>
                      <a:prstDash val="solid"/>
                    </a:lnB>
                    <a:solidFill>
                      <a:srgbClr val="1C303B"/>
                    </a:solidFill>
                  </a:tcPr>
                </a:tc>
                <a:tc>
                  <a:txBody>
                    <a:bodyPr/>
                    <a:lstStyle/>
                    <a:p>
                      <a:r>
                        <a:rPr sz="1575" b="1">
                          <a:solidFill>
                            <a:srgbClr val="FFFFFF"/>
                          </a:solidFill>
                          <a:latin typeface="Arial"/>
                          <a:ea typeface="Arial"/>
                          <a:cs typeface="Arial"/>
                        </a:rPr>
                        <a:t>Purpose</a:t>
                      </a:r>
                    </a:p>
                  </a:txBody>
                  <a:tcPr marL="91440" marR="91440" marT="45720" marB="45720">
                    <a:lnR w="9525">
                      <a:solidFill>
                        <a:srgbClr val="DEE7E9"/>
                      </a:solidFill>
                      <a:prstDash val="solid"/>
                    </a:lnR>
                    <a:lnT w="9525">
                      <a:solidFill>
                        <a:srgbClr val="DEE7E9"/>
                      </a:solidFill>
                      <a:prstDash val="solid"/>
                    </a:lnT>
                    <a:lnB w="9525">
                      <a:solidFill>
                        <a:srgbClr val="DEE7E9"/>
                      </a:solidFill>
                      <a:prstDash val="solid"/>
                    </a:lnB>
                    <a:solidFill>
                      <a:srgbClr val="1C303B"/>
                    </a:solidFill>
                  </a:tcPr>
                </a:tc>
              </a:tr>
              <a:tr h="530679">
                <a:tc>
                  <a:txBody>
                    <a:bodyPr/>
                    <a:lstStyle/>
                    <a:p>
                      <a:r>
                        <a:rPr sz="1575" b="0">
                          <a:solidFill>
                            <a:srgbClr val="1C303B"/>
                          </a:solidFill>
                          <a:latin typeface="Arial"/>
                          <a:ea typeface="Arial"/>
                          <a:cs typeface="Arial"/>
                        </a:rPr>
                        <a:t>RALVEN_BMRI_Workspace.json</a:t>
                      </a:r>
                    </a:p>
                  </a:txBody>
                  <a:tcPr marL="91440" marR="91440" marT="45720" marB="45720">
                    <a:lnL w="9525">
                      <a:solidFill>
                        <a:srgbClr val="DEE7E9"/>
                      </a:solidFill>
                      <a:prstDash val="solid"/>
                    </a:lnL>
                    <a:lnR w="9525">
                      <a:solidFill>
                        <a:srgbClr val="DEE7E9"/>
                      </a:solidFill>
                      <a:prstDash val="solid"/>
                    </a:lnR>
                    <a:lnB w="9525">
                      <a:solidFill>
                        <a:srgbClr val="DEE7E9"/>
                      </a:solidFill>
                      <a:prstDash val="solid"/>
                    </a:lnB>
                    <a:solidFill>
                      <a:srgbClr val="EFF5F4"/>
                    </a:solidFill>
                  </a:tcPr>
                </a:tc>
                <a:tc>
                  <a:txBody>
                    <a:bodyPr/>
                    <a:lstStyle/>
                    <a:p>
                      <a:r>
                        <a:rPr sz="1575" b="0">
                          <a:solidFill>
                            <a:srgbClr val="1C303B"/>
                          </a:solidFill>
                          <a:latin typeface="Arial"/>
                          <a:ea typeface="Arial"/>
                          <a:cs typeface="Arial"/>
                        </a:rPr>
                        <a:t>Exact input and simulation settings; refresh restores source authority</a:t>
                      </a:r>
                    </a:p>
                  </a:txBody>
                  <a:tcPr marL="91440" marR="91440" marT="45720" marB="45720">
                    <a:lnR w="9525">
                      <a:solidFill>
                        <a:srgbClr val="DEE7E9"/>
                      </a:solidFill>
                      <a:prstDash val="solid"/>
                    </a:lnR>
                    <a:lnB w="9525">
                      <a:solidFill>
                        <a:srgbClr val="DEE7E9"/>
                      </a:solidFill>
                      <a:prstDash val="solid"/>
                    </a:lnB>
                    <a:solidFill>
                      <a:srgbClr val="EFF5F4"/>
                    </a:solidFill>
                  </a:tcPr>
                </a:tc>
              </a:tr>
              <a:tr h="530679">
                <a:tc>
                  <a:txBody>
                    <a:bodyPr/>
                    <a:lstStyle/>
                    <a:p>
                      <a:r>
                        <a:rPr sz="1575" b="0">
                          <a:solidFill>
                            <a:srgbClr val="1C303B"/>
                          </a:solidFill>
                          <a:latin typeface="Arial"/>
                          <a:ea typeface="Arial"/>
                          <a:cs typeface="Arial"/>
                        </a:rPr>
                        <a:t>RALVEN_BMRI_Model.xlsx</a:t>
                      </a:r>
                    </a:p>
                  </a:txBody>
                  <a:tcPr marL="91440" marR="91440" marT="45720" marB="45720">
                    <a:lnL w="9525">
                      <a:solidFill>
                        <a:srgbClr val="DEE7E9"/>
                      </a:solidFill>
                      <a:prstDash val="solid"/>
                    </a:lnL>
                    <a:lnR w="9525">
                      <a:solidFill>
                        <a:srgbClr val="DEE7E9"/>
                      </a:solidFill>
                      <a:prstDash val="solid"/>
                    </a:lnR>
                    <a:lnB w="9525">
                      <a:solidFill>
                        <a:srgbClr val="DEE7E9"/>
                      </a:solidFill>
                      <a:prstDash val="solid"/>
                    </a:lnB>
                    <a:solidFill>
                      <a:srgbClr val="FCFDFC"/>
                    </a:solidFill>
                  </a:tcPr>
                </a:tc>
                <a:tc>
                  <a:txBody>
                    <a:bodyPr/>
                    <a:lstStyle/>
                    <a:p>
                      <a:r>
                        <a:rPr sz="1575" b="0">
                          <a:solidFill>
                            <a:srgbClr val="1C303B"/>
                          </a:solidFill>
                          <a:latin typeface="Arial"/>
                          <a:ea typeface="Arial"/>
                          <a:cs typeface="Arial"/>
                        </a:rPr>
                        <a:t>Linked formula chain, annual paths and validation guards</a:t>
                      </a:r>
                    </a:p>
                  </a:txBody>
                  <a:tcPr marL="91440" marR="91440" marT="45720" marB="45720">
                    <a:lnR w="9525">
                      <a:solidFill>
                        <a:srgbClr val="DEE7E9"/>
                      </a:solidFill>
                      <a:prstDash val="solid"/>
                    </a:lnR>
                    <a:lnB w="9525">
                      <a:solidFill>
                        <a:srgbClr val="DEE7E9"/>
                      </a:solidFill>
                      <a:prstDash val="solid"/>
                    </a:lnB>
                    <a:solidFill>
                      <a:srgbClr val="FCFDFC"/>
                    </a:solidFill>
                  </a:tcPr>
                </a:tc>
              </a:tr>
              <a:tr h="530679">
                <a:tc>
                  <a:txBody>
                    <a:bodyPr/>
                    <a:lstStyle/>
                    <a:p>
                      <a:r>
                        <a:rPr sz="1575" b="0">
                          <a:solidFill>
                            <a:srgbClr val="1C303B"/>
                          </a:solidFill>
                          <a:latin typeface="Arial"/>
                          <a:ea typeface="Arial"/>
                          <a:cs typeface="Arial"/>
                        </a:rPr>
                        <a:t>BMRI EN/ID PDF reports</a:t>
                      </a:r>
                    </a:p>
                  </a:txBody>
                  <a:tcPr marL="91440" marR="91440" marT="45720" marB="45720">
                    <a:lnL w="9525">
                      <a:solidFill>
                        <a:srgbClr val="DEE7E9"/>
                      </a:solidFill>
                      <a:prstDash val="solid"/>
                    </a:lnL>
                    <a:lnR w="9525">
                      <a:solidFill>
                        <a:srgbClr val="DEE7E9"/>
                      </a:solidFill>
                      <a:prstDash val="solid"/>
                    </a:lnR>
                    <a:lnB w="9525">
                      <a:solidFill>
                        <a:srgbClr val="DEE7E9"/>
                      </a:solidFill>
                      <a:prstDash val="solid"/>
                    </a:lnB>
                    <a:solidFill>
                      <a:srgbClr val="EFF5F4"/>
                    </a:solidFill>
                  </a:tcPr>
                </a:tc>
                <a:tc>
                  <a:txBody>
                    <a:bodyPr/>
                    <a:lstStyle/>
                    <a:p>
                      <a:r>
                        <a:rPr sz="1575" b="0">
                          <a:solidFill>
                            <a:srgbClr val="1C303B"/>
                          </a:solidFill>
                          <a:latin typeface="Arial"/>
                          <a:ea typeface="Arial"/>
                          <a:cs typeface="Arial"/>
                        </a:rPr>
                        <a:t>Methods, assumptions, sensitivities and source lineage</a:t>
                      </a:r>
                    </a:p>
                  </a:txBody>
                  <a:tcPr marL="91440" marR="91440" marT="45720" marB="45720">
                    <a:lnR w="9525">
                      <a:solidFill>
                        <a:srgbClr val="DEE7E9"/>
                      </a:solidFill>
                      <a:prstDash val="solid"/>
                    </a:lnR>
                    <a:lnB w="9525">
                      <a:solidFill>
                        <a:srgbClr val="DEE7E9"/>
                      </a:solidFill>
                      <a:prstDash val="solid"/>
                    </a:lnB>
                    <a:solidFill>
                      <a:srgbClr val="EFF5F4"/>
                    </a:solidFill>
                  </a:tcPr>
                </a:tc>
              </a:tr>
              <a:tr h="530679">
                <a:tc>
                  <a:txBody>
                    <a:bodyPr/>
                    <a:lstStyle/>
                    <a:p>
                      <a:r>
                        <a:rPr sz="1575" b="0">
                          <a:solidFill>
                            <a:srgbClr val="1C303B"/>
                          </a:solidFill>
                          <a:latin typeface="Arial"/>
                          <a:ea typeface="Arial"/>
                          <a:cs typeface="Arial"/>
                        </a:rPr>
                        <a:t>Node.js 24+ / node server.mjs</a:t>
                      </a:r>
                    </a:p>
                  </a:txBody>
                  <a:tcPr marL="91440" marR="91440" marT="45720" marB="45720">
                    <a:lnL w="9525">
                      <a:solidFill>
                        <a:srgbClr val="DEE7E9"/>
                      </a:solidFill>
                      <a:prstDash val="solid"/>
                    </a:lnL>
                    <a:lnR w="9525">
                      <a:solidFill>
                        <a:srgbClr val="DEE7E9"/>
                      </a:solidFill>
                      <a:prstDash val="solid"/>
                    </a:lnR>
                    <a:lnB w="9525">
                      <a:solidFill>
                        <a:srgbClr val="DEE7E9"/>
                      </a:solidFill>
                      <a:prstDash val="solid"/>
                    </a:lnB>
                    <a:solidFill>
                      <a:srgbClr val="FCFDFC"/>
                    </a:solidFill>
                  </a:tcPr>
                </a:tc>
                <a:tc>
                  <a:txBody>
                    <a:bodyPr/>
                    <a:lstStyle/>
                    <a:p>
                      <a:r>
                        <a:rPr sz="1575" b="0">
                          <a:solidFill>
                            <a:srgbClr val="1C303B"/>
                          </a:solidFill>
                          <a:latin typeface="Arial"/>
                          <a:ea typeface="Arial"/>
                          <a:cs typeface="Arial"/>
                        </a:rPr>
                        <a:t>Local app setup; network required for new sources</a:t>
                      </a:r>
                    </a:p>
                  </a:txBody>
                  <a:tcPr marL="91440" marR="91440" marT="45720" marB="45720">
                    <a:lnR w="9525">
                      <a:solidFill>
                        <a:srgbClr val="DEE7E9"/>
                      </a:solidFill>
                      <a:prstDash val="solid"/>
                    </a:lnR>
                    <a:lnB w="9525">
                      <a:solidFill>
                        <a:srgbClr val="DEE7E9"/>
                      </a:solidFill>
                      <a:prstDash val="solid"/>
                    </a:lnB>
                    <a:solidFill>
                      <a:srgbClr val="FCFDFC"/>
                    </a:solidFill>
                  </a:tcPr>
                </a:tc>
              </a:tr>
              <a:tr h="530679">
                <a:tc>
                  <a:txBody>
                    <a:bodyPr/>
                    <a:lstStyle/>
                    <a:p>
                      <a:r>
                        <a:rPr sz="1575" b="0">
                          <a:solidFill>
                            <a:srgbClr val="1C303B"/>
                          </a:solidFill>
                          <a:latin typeface="Arial"/>
                          <a:ea typeface="Arial"/>
                          <a:cs typeface="Arial"/>
                        </a:rPr>
                        <a:t>Implementation_Status.md</a:t>
                      </a:r>
                    </a:p>
                  </a:txBody>
                  <a:tcPr marL="91440" marR="91440" marT="45720" marB="45720">
                    <a:lnL w="9525">
                      <a:solidFill>
                        <a:srgbClr val="DEE7E9"/>
                      </a:solidFill>
                      <a:prstDash val="solid"/>
                    </a:lnL>
                    <a:lnR w="9525">
                      <a:solidFill>
                        <a:srgbClr val="DEE7E9"/>
                      </a:solidFill>
                      <a:prstDash val="solid"/>
                    </a:lnR>
                    <a:lnB w="9525">
                      <a:solidFill>
                        <a:srgbClr val="DEE7E9"/>
                      </a:solidFill>
                      <a:prstDash val="solid"/>
                    </a:lnB>
                    <a:solidFill>
                      <a:srgbClr val="EFF5F4"/>
                    </a:solidFill>
                  </a:tcPr>
                </a:tc>
                <a:tc>
                  <a:txBody>
                    <a:bodyPr/>
                    <a:lstStyle/>
                    <a:p>
                      <a:r>
                        <a:rPr sz="1575" b="0">
                          <a:solidFill>
                            <a:srgbClr val="1C303B"/>
                          </a:solidFill>
                          <a:latin typeface="Arial"/>
                          <a:ea typeface="Arial"/>
                          <a:cs typeface="Arial"/>
                        </a:rPr>
                        <a:t>Outstanding audit work and known limitations</a:t>
                      </a:r>
                    </a:p>
                  </a:txBody>
                  <a:tcPr marL="91440" marR="91440" marT="45720" marB="45720">
                    <a:lnR w="9525">
                      <a:solidFill>
                        <a:srgbClr val="DEE7E9"/>
                      </a:solidFill>
                      <a:prstDash val="solid"/>
                    </a:lnR>
                    <a:lnB w="9525">
                      <a:solidFill>
                        <a:srgbClr val="DEE7E9"/>
                      </a:solidFill>
                      <a:prstDash val="solid"/>
                    </a:lnB>
                    <a:solidFill>
                      <a:srgbClr val="EFF5F4"/>
                    </a:solidFill>
                  </a:tcPr>
                </a:tc>
              </a:tr>
              <a:tr h="530679">
                <a:tc>
                  <a:txBody>
                    <a:bodyPr/>
                    <a:lstStyle/>
                    <a:p>
                      <a:r>
                        <a:rPr sz="1575" b="0">
                          <a:solidFill>
                            <a:srgbClr val="1C303B"/>
                          </a:solidFill>
                          <a:latin typeface="Arial"/>
                          <a:ea typeface="Arial"/>
                          <a:cs typeface="Arial"/>
                        </a:rPr>
                        <a:t>Contact</a:t>
                      </a:r>
                    </a:p>
                  </a:txBody>
                  <a:tcPr marL="91440" marR="91440" marT="45720" marB="45720">
                    <a:lnL w="9525">
                      <a:solidFill>
                        <a:srgbClr val="DEE7E9"/>
                      </a:solidFill>
                      <a:prstDash val="solid"/>
                    </a:lnL>
                    <a:lnR w="9525">
                      <a:solidFill>
                        <a:srgbClr val="DEE7E9"/>
                      </a:solidFill>
                      <a:prstDash val="solid"/>
                    </a:lnR>
                    <a:lnB w="9525">
                      <a:solidFill>
                        <a:srgbClr val="DEE7E9"/>
                      </a:solidFill>
                      <a:prstDash val="solid"/>
                    </a:lnB>
                    <a:solidFill>
                      <a:srgbClr val="FCFDFC"/>
                    </a:solidFill>
                  </a:tcPr>
                </a:tc>
                <a:tc>
                  <a:txBody>
                    <a:bodyPr/>
                    <a:lstStyle/>
                    <a:p>
                      <a:r>
                        <a:rPr sz="1575" b="0">
                          <a:solidFill>
                            <a:srgbClr val="1C303B"/>
                          </a:solidFill>
                          <a:latin typeface="Arial"/>
                          <a:ea typeface="Arial"/>
                          <a:cs typeface="Arial"/>
                        </a:rPr>
                        <a:t>yusufzaakaria@gmail.com / linkedin.com/in/yusuf-zakaria</a:t>
                      </a:r>
                    </a:p>
                  </a:txBody>
                  <a:tcPr marL="91440" marR="91440" marT="45720" marB="45720">
                    <a:lnR w="9525">
                      <a:solidFill>
                        <a:srgbClr val="DEE7E9"/>
                      </a:solidFill>
                      <a:prstDash val="solid"/>
                    </a:lnR>
                    <a:lnB w="9525">
                      <a:solidFill>
                        <a:srgbClr val="DEE7E9"/>
                      </a:solidFill>
                      <a:prstDash val="solid"/>
                    </a:lnB>
                    <a:solidFill>
                      <a:srgbClr val="FCFDFC"/>
                    </a:solidFill>
                  </a:tcPr>
                </a:tc>
              </a:tr>
            </a:tbl>
          </a:graphicData>
        </a:graphic>
      </p:graphicFrame>
    </p:spTree>
    <p:extLst>
      <p:ext uri="{BB962C8B-B14F-4D97-AF65-F5344CB8AC3E}">
        <p14:creationId xmlns:p14="http://schemas.microsoft.com/office/powerpoint/2010/main" val="106813151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2026-10-25T17:05:36.2060000Z</dcterms:created>
  <dcterms:modified xsi:type="dcterms:W3CDTF">2026-10-25T17:05:36.2060000Z</dcterms:modified>
</coreProperties>
</file>